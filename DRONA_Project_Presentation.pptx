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HYSEA PROJECT DRONA 3.0 · CAPSTONE PRESENTATION</a:t>
            </a:r>
          </a:p>
          <a:p>
            <a:pPr>
              <a:spcAft>
                <a:spcPts val="1200"/>
              </a:spcAft>
              <a:defRPr sz="3600" b="1">
                <a:solidFill>
                  <a:srgbClr val="F1F5F9"/>
                </a:solidFill>
              </a:defRPr>
            </a:pPr>
            <a:r>
              <a:t>DRONA: Smart Ticket Understanding Engine</a:t>
            </a:r>
          </a:p>
          <a:p>
            <a:pPr>
              <a:spcAft>
                <a:spcPts val="2800"/>
              </a:spcAft>
              <a:defRPr sz="1800">
                <a:solidFill>
                  <a:srgbClr val="CBD5E1"/>
                </a:solidFill>
              </a:defRPr>
            </a:pPr>
            <a:r>
              <a:t>Offline Dual-View Cascaded Triage, SLA-Priority Routing &amp; Grounded Verifiable Escalation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Marri Laxman Reddy Institute of Technology and Management (MLRITM), JNTUH</a:t>
            </a:r>
            <a:br/>
            <a: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F6FEB"/>
                </a:solidFill>
              </a:defRPr>
            </a:pPr>
            <a:r>
              <a:t>BATCH DETAILS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 Batch &amp; Institutional Mentorship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6FEB"/>
                </a:solidFill>
              </a:defRPr>
            </a:pPr>
            <a:r>
              <a:t>NAYAKAM SATYAJEET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</a:defRPr>
            </a:pPr>
            <a:r>
              <a:t>237Y1A0540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Role: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CSE - AI/ML System Lead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Key Focus: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Cascade architecture, calibration &amp; API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6FEB"/>
                </a:solidFill>
              </a:defRPr>
            </a:pPr>
            <a:r>
              <a:t>JAKKU HARIKA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</a:defRPr>
            </a:pPr>
            <a:r>
              <a:t>237Y1A0570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Role: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CSE - NLP &amp; Data Engineer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Key Focus: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Intent taxonomy, Banking77 dataset &amp; preprocessing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6FEB"/>
                </a:solidFill>
              </a:defRPr>
            </a:pPr>
            <a:r>
              <a:t>SHERLA LOHITH KUMAR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</a:defRPr>
            </a:pPr>
            <a:r>
              <a:t>237Y1A0574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Role: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CSE - Agent &amp; Verification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Key Focus: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Escalation ReAct agent &amp; hallucination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55448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6FEB"/>
                </a:solidFill>
              </a:defRPr>
            </a:pPr>
            <a:r>
              <a:t>MAMIDALA VARUN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</a:defRPr>
            </a:pPr>
            <a:r>
              <a:t>237Y1A05A5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Role: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CSE - UI &amp; Evaluation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Key Focus: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Streamlit operations console &amp; drift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52160"/>
            <a:ext cx="1069848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978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Project Guide: Dr. PARVEZ, Associate Professor, Department of CSE — MLRITM (JNTUH)  |  Batch: MP-A05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F6FEB"/>
                </a:solidFill>
              </a:defRPr>
            </a:pPr>
            <a:r>
              <a:t>PROBLEM STATEMENT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Enterprise Customer Support Bottleneck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F6FEB"/>
                </a:solidFill>
              </a:defRPr>
            </a:pPr>
            <a:r>
              <a:t>Current Support Realities &amp; Pain Points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High Manual Latency: </a:t>
            </a:r>
            <a:r>
              <a:rPr b="0" sz="1100">
                <a:solidFill>
                  <a:srgbClr val="64748B"/>
                </a:solidFill>
              </a:rPr>
              <a:t>Human triaging takes 5–20 minutes per ticket, creating severe backlogs during peak traffic and delayed emergency response.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Opaque Commercial Vendor Costs: </a:t>
            </a:r>
            <a:r>
              <a:rPr b="0" sz="1100">
                <a:solidFill>
                  <a:srgbClr val="64748B"/>
                </a:solidFill>
              </a:rPr>
              <a:t>Industry platforms (Zendesk AI, Salesforce) charge $1.50–$2.00 per resolution and hide actual model accuracy.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Cloud Dependency &amp; Privacy Risk: </a:t>
            </a:r>
            <a:r>
              <a:rPr b="0" sz="1100">
                <a:solidFill>
                  <a:srgbClr val="64748B"/>
                </a:solidFill>
              </a:rPr>
              <a:t>Banking regulations (RBI, GDPR) penalize shipping sensitive financial identifiers and transaction records to external commercial LLMs.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LLM Hallucination Hazards: </a:t>
            </a:r>
            <a:r>
              <a:rPr b="0" sz="1100">
                <a:solidFill>
                  <a:srgbClr val="64748B"/>
                </a:solidFill>
              </a:rPr>
              <a:t>Generative LLM chatbots often invent fake tracking IDs or misquote policy, exposing institutions to severe compliance liability.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D97706"/>
                </a:solidFill>
              </a:defRPr>
            </a:pPr>
            <a:r>
              <a:t>The Capstone Hardware Challenge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Zero GPU Infrastructure: </a:t>
            </a:r>
            <a:r>
              <a:rPr b="0" sz="1100">
                <a:solidFill>
                  <a:srgbClr val="64748B"/>
                </a:solidFill>
              </a:rPr>
              <a:t>Must deploy and serve on a commodity dual-core CPU with under 4 GB RAM footprint.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Strict Latency Ceiling: </a:t>
            </a:r>
            <a:r>
              <a:rPr b="0" sz="1100">
                <a:solidFill>
                  <a:srgbClr val="64748B"/>
                </a:solidFill>
              </a:rPr>
              <a:t>Inference budget constrained to &lt; 100 ms per ticket to process hundreds of requests per second.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The Fine-Tuning Trap: </a:t>
            </a:r>
            <a:r>
              <a:rPr b="0" sz="1100">
                <a:solidFill>
                  <a:srgbClr val="64748B"/>
                </a:solidFill>
              </a:rPr>
              <a:t>Fine-tuning DistilBERT on CPU measured 47.2 min for 3 epochs on this box, and bought no statistically significant accuracy over a sparse baseline (McNemar p = 0.61).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The Core Mandate: </a:t>
            </a:r>
            <a:r>
              <a:rPr b="0" sz="1100">
                <a:solidFill>
                  <a:srgbClr val="64748B"/>
                </a:solidFill>
              </a:rPr>
              <a:t>Build a high-precision, offline banking triage engine with mathematical guarantees, explainable routing, and grounded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F6FEB"/>
                </a:solidFill>
              </a:defRPr>
            </a:pPr>
            <a:r>
              <a:t>OBJECTIVES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 Goals &amp; Measurable Engineering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6FEB"/>
                </a:solidFill>
              </a:defRPr>
            </a:pPr>
            <a:r>
              <a:t>01. Ultra-Fast Offline Triage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Achieve sub-75 ms end-to-end triage latency on a standard dual-core CPU without GPU acceleration or cloud connectivity.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6FEB"/>
                </a:solidFill>
              </a:defRPr>
            </a:pPr>
            <a:r>
              <a:t>02. Calibrated Selective Prediction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Auto-answer &gt;= 90% of inbound banking tickets with an audited accuracy &gt;= 98% on the auto-accepted slice using conformal guarantees.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6FEB"/>
                </a:solidFill>
              </a:defRPr>
            </a:pPr>
            <a:r>
              <a:t>03. Auditable SLA Priority Engine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Implement multi-signal ITIL priority routing (P0 to P3) fusing text semantics with Indian financial amounts (₹/Lakh/Crore) and customer tiers.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6FEB"/>
                </a:solidFill>
              </a:defRPr>
            </a:pPr>
            <a:r>
              <a:t>04. Grounded Agentic Escalation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Deploy a tool-using ReAct loop only on the ~7% ambiguous/disagreement tickets, drafting replies grounded strictly in verified policies.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9776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6FEB"/>
                </a:solidFill>
              </a:defRPr>
            </a:pPr>
            <a:r>
              <a:t>05. Hallucination Defense &amp; HITL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Enforce atomic-fact verification that detects unsupported claims and automatically blocks replies with invented case/tracking identifiers.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8404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9776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6FEB"/>
                </a:solidFill>
              </a:defRPr>
            </a:pPr>
            <a:r>
              <a:t>06. Real-Time Drift &amp; Ops Console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Deliver an interactive Streamlit operations console and stateless FastAPI endpoints with real-time distribution drift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F6FEB"/>
                </a:solidFill>
              </a:defRPr>
            </a:pPr>
            <a:r>
              <a:t>LITERATURE SURVEY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Comparative Analysis &amp; Theoretical Foundations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F6FEB"/>
                </a:solidFill>
              </a:defRPr>
            </a:pPr>
            <a:r>
              <a:t>Ovadia et al. (EMNLP 2024)  —  </a:t>
            </a:r>
            <a:r>
              <a:rPr b="1" sz="1200">
                <a:solidFill>
                  <a:srgbClr val="0D9488"/>
                </a:solidFill>
              </a:rPr>
              <a:t>RAG vs Fine-Tuning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Proved RAG consistently outperforms fine-tuning for domain knowledge and avoids parameter degradation; guided DRONA's sparse retrieval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F6FEB"/>
                </a:solidFill>
              </a:defRPr>
            </a:pPr>
            <a:r>
              <a:t>Ying &amp; Thomas (ACL 2022)  —  </a:t>
            </a:r>
            <a:r>
              <a:rPr b="1" sz="1200">
                <a:solidFill>
                  <a:srgbClr val="0D9488"/>
                </a:solidFill>
              </a:rPr>
              <a:t>Banking77 Hardness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Demonstrated that fine-grained banking intents suffer from extreme boundary overlap; coarse grouping resolves fine-intent ambiguity.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F6FEB"/>
                </a:solidFill>
              </a:defRPr>
            </a:pPr>
            <a:r>
              <a:t>FActScore (Min et al., 2023)  —  </a:t>
            </a:r>
            <a:r>
              <a:rPr b="1" sz="1200">
                <a:solidFill>
                  <a:srgbClr val="0D9488"/>
                </a:solidFill>
              </a:rPr>
              <a:t>Atomic Fact Verification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Introduced automated claim decomposition for precision checking with &lt;2% human annotation error; adopted for DRONA's hallucination verifier.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F6FEB"/>
                </a:solidFill>
              </a:defRPr>
            </a:pPr>
            <a:r>
              <a:t>Angelopoulos &amp; Bates (2023)  —  </a:t>
            </a:r>
            <a:r>
              <a:rPr b="1" sz="1200">
                <a:solidFill>
                  <a:srgbClr val="0D9488"/>
                </a:solidFill>
              </a:rPr>
              <a:t>Split-Conformal Prediction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Provides distribution-free, finite-sample statistical coverage guarantees; replaced arbitrary heuristics with rigorous thresholding (q = 0.7635).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F6FEB"/>
                </a:solidFill>
              </a:defRPr>
            </a:pPr>
            <a:r>
              <a:t>Guo et al. (ICML 2017)  —  </a:t>
            </a:r>
            <a:r>
              <a:rPr b="1" sz="1200">
                <a:solidFill>
                  <a:srgbClr val="0D9488"/>
                </a:solidFill>
              </a:rPr>
              <a:t>Temperature Scaling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Showed single-parameter temperature scaling calibrates neural confidence without degrading accuracy (DRONA calibrated from T=3.0 to T=0.75).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F6FEB"/>
                </a:solidFill>
              </a:defRPr>
            </a:pPr>
            <a:r>
              <a:t>METHODOLOGY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Dual-View Sparse Cascade &amp; Multi-Signal Fusion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F6FEB"/>
                </a:solidFill>
              </a:defRPr>
            </a:pPr>
            <a:r>
              <a:t>Stage 1: Dual-View Retrieval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Character n-grams (3-5): </a:t>
            </a:r>
            <a:r>
              <a:rPr b="0" sz="1000">
                <a:solidFill>
                  <a:srgbClr val="64748B"/>
                </a:solidFill>
              </a:rPr>
              <a:t>Captures typos, morphological variations, and Hindi/Hinglish slang terms.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Word n-grams (1-2): </a:t>
            </a:r>
            <a:r>
              <a:rPr b="0" sz="1000">
                <a:solidFill>
                  <a:srgbClr val="64748B"/>
                </a:solidFill>
              </a:rPr>
              <a:t>Extracts precise semantic domain terminology and banking keywords.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L2-Normalized Union: </a:t>
            </a:r>
            <a:r>
              <a:rPr b="0" sz="1000">
                <a:solidFill>
                  <a:srgbClr val="64748B"/>
                </a:solidFill>
              </a:rPr>
              <a:t>Generates high-dimensional sparse representations; the full kNN path (vectorise, score, vote) measures 27.4 ms per ticket on the test split.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Oracle Recall @ 15: </a:t>
            </a:r>
            <a:r>
              <a:rPr b="0" sz="1000">
                <a:solidFill>
                  <a:srgbClr val="64748B"/>
                </a:solidFill>
              </a:rPr>
              <a:t>Reaches 99.75% ceiling—guaranteeing the gold category exists in candidate 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F6FEB"/>
                </a:solidFill>
              </a:defRPr>
            </a:pPr>
            <a:r>
              <a:t>Stage 2: Calibrated Cascade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LinearSVC Class Head: </a:t>
            </a:r>
            <a:r>
              <a:rPr b="0" sz="1000">
                <a:solidFill>
                  <a:srgbClr val="64748B"/>
                </a:solidFill>
              </a:rPr>
              <a:t>Fits fast decision hyperplanes directly over the dual-view n-gram features.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Temperature Scaling: </a:t>
            </a:r>
            <a:r>
              <a:rPr b="0" sz="1000">
                <a:solidFill>
                  <a:srgbClr val="64748B"/>
                </a:solidFill>
              </a:rPr>
              <a:t>Applies post-hoc optimization (T = 0.75) to calibrate raw margins into true probabilities.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Disagreement Gating: </a:t>
            </a:r>
            <a:r>
              <a:rPr b="0" sz="1000">
                <a:solidFill>
                  <a:srgbClr val="64748B"/>
                </a:solidFill>
              </a:rPr>
              <a:t>Compares sparse kNN top vote with linear classifier vote—disagreement gives free error signal.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Conformal Abstention: </a:t>
            </a:r>
            <a:r>
              <a:rPr b="0" sz="1000">
                <a:solidFill>
                  <a:srgbClr val="64748B"/>
                </a:solidFill>
              </a:rPr>
              <a:t>Auto-accepts if views agree and confidence &gt;= 0.7635; routes remainder to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F6FEB"/>
                </a:solidFill>
              </a:defRPr>
            </a:pPr>
            <a:r>
              <a:t>Stage 3: Priority &amp; Escalation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Category Floor Impact: </a:t>
            </a:r>
            <a:r>
              <a:rPr b="0" sz="1000">
                <a:solidFill>
                  <a:srgbClr val="64748B"/>
                </a:solidFill>
              </a:rPr>
              <a:t>Sets base priority: Fraud/Failure = P0/P1, General = P3 (impact overrides words).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Indian Financial Parsing: </a:t>
            </a:r>
            <a:r>
              <a:rPr b="0" sz="1000">
                <a:solidFill>
                  <a:srgbClr val="64748B"/>
                </a:solidFill>
              </a:rPr>
              <a:t>Regex engine extracts ₹, INR, Lakhs, Crores, and grouped digits (e.g., 1,50,000).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Non-Text Signals: </a:t>
            </a:r>
            <a:r>
              <a:rPr b="0" sz="1000">
                <a:solidFill>
                  <a:srgbClr val="64748B"/>
                </a:solidFill>
              </a:rPr>
              <a:t>Fuses customer tier (Enterprise), channel (Phone/IVR), and SLA clock proximity.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Grounded Agent Trace: </a:t>
            </a:r>
            <a:r>
              <a:rPr b="0" sz="1000">
                <a:solidFill>
                  <a:srgbClr val="64748B"/>
                </a:solidFill>
              </a:rPr>
              <a:t>Agent reranks candidates using tools, drafts reply from KB, and verifies claims.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F6FEB"/>
                </a:solidFill>
              </a:defRPr>
            </a:pPr>
            <a:r>
              <a:t>SYSTEM ARCHITECTURE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End-to-End CPU Pipeline &amp; Execution Dataflow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03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Inbound Ingestion</a:t>
            </a:r>
          </a:p>
          <a:p>
            <a:pPr>
              <a:spcAft>
                <a:spcPts val="1400"/>
              </a:spcAft>
              <a:defRPr sz="1000" b="1">
                <a:solidFill>
                  <a:srgbClr val="1F6FEB"/>
                </a:solidFill>
              </a:defRPr>
            </a:pPr>
            <a:r>
              <a:t>Web, Email, Chat, Mobile App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Raw ticket string + CRM metadata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Signals: Tier, Channel, Amount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SQLite audit sequence ID allocated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4754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2103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Dual-View Cascade</a:t>
            </a:r>
          </a:p>
          <a:p>
            <a:pPr>
              <a:spcAft>
                <a:spcPts val="1400"/>
              </a:spcAft>
              <a:defRPr sz="1000" b="1">
                <a:solidFill>
                  <a:srgbClr val="1F6FEB"/>
                </a:solidFill>
              </a:defRPr>
            </a:pPr>
            <a:r>
              <a:t>In-Memory C++ Fast Sparse Scorer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TF-IDF Char &amp; Word Union (~4 ms)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LinearSVC + kNN vote comparison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Calibrated confidence thresholding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Accept (90%) vs Escalate (10%)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2103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SLA &amp; Agent Engine</a:t>
            </a:r>
          </a:p>
          <a:p>
            <a:pPr>
              <a:spcAft>
                <a:spcPts val="1400"/>
              </a:spcAft>
              <a:defRPr sz="1000" b="1">
                <a:solidFill>
                  <a:srgbClr val="1F6FEB"/>
                </a:solidFill>
              </a:defRPr>
            </a:pPr>
            <a:r>
              <a:t>Rules + ReAct Verification Loop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Lakhs/Crore risk &amp; urgency scoring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ITIL queue routing (P0 to P3)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Tool execution: KB lookup &amp; history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Atomic claim fact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468880" cy="4754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554480"/>
            <a:ext cx="2103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Operations &amp; HITL</a:t>
            </a:r>
          </a:p>
          <a:p>
            <a:pPr>
              <a:spcAft>
                <a:spcPts val="1400"/>
              </a:spcAft>
              <a:defRPr sz="1000" b="1">
                <a:solidFill>
                  <a:srgbClr val="1F6FEB"/>
                </a:solidFill>
              </a:defRPr>
            </a:pPr>
            <a:r>
              <a:t>Serving &amp; Governance Endpoints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Streamlit Live Operations Console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FastAPI REST Endpoints (/triage)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Human-in-the-loop review override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→ Live category drift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F6FEB"/>
                </a:solidFill>
              </a:defRPr>
            </a:pPr>
            <a:r>
              <a:t>PROJECT DESIGN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Database, Taxonomy &amp; Anti-Hallucination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F6FEB"/>
                </a:solidFill>
              </a:defRPr>
            </a:pPr>
            <a:r>
              <a:t>11-Class Taxonomy &amp; Routing Hierarchy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77 Fine Intents → 11 Coarse Classes: </a:t>
            </a:r>
            <a:r>
              <a:rPr b="0" sz="1100">
                <a:solidFill>
                  <a:srgbClr val="64748B"/>
                </a:solidFill>
              </a:rPr>
              <a:t>Maps all Banking77 intents into operational domains (Payment Failure, Fraud, Account Access, Card Services, Billing, KYC, etc.).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Honest Taxonomy Handling: </a:t>
            </a:r>
            <a:r>
              <a:rPr b="0" sz="1100">
                <a:solidFill>
                  <a:srgbClr val="64748B"/>
                </a:solidFill>
              </a:rPr>
              <a:t>Identified that 'Loan/EMI' has 0 samples in Banking77; kept as an auditable category rather than falsifying coverage.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Closed-Set 'Other' Escape Hatch: </a:t>
            </a:r>
            <a:r>
              <a:rPr b="0" sz="1100">
                <a:solidFill>
                  <a:srgbClr val="64748B"/>
                </a:solidFill>
              </a:rPr>
              <a:t>Includes an unrouted escape class to prevent forced overconfident classification on out-of-domain queries.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Deterministic SLA Routing: </a:t>
            </a:r>
            <a:r>
              <a:rPr b="0" sz="1100">
                <a:solidFill>
                  <a:srgbClr val="64748B"/>
                </a:solidFill>
              </a:rPr>
              <a:t>Maps (Category, Priority) to 9 specialized queues (fraud-ops, payments-ops, billing-ops, etc.).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D9488"/>
                </a:solidFill>
              </a:defRPr>
            </a:pPr>
            <a:r>
              <a:t>Grounded Verifier &amp; Persistence Schema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Atomic Claim Decomposition: </a:t>
            </a:r>
            <a:r>
              <a:rPr b="0" sz="1100">
                <a:solidFill>
                  <a:srgbClr val="64748B"/>
                </a:solidFill>
              </a:rPr>
              <a:t>Draft replies are split into individual sentences and checked against retrieved neighbor tickets and knowledge base policies.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Invented Identifier Blocker: </a:t>
            </a:r>
            <a:r>
              <a:rPr b="0" sz="1100">
                <a:solidFill>
                  <a:srgbClr val="64748B"/>
                </a:solidFill>
              </a:rPr>
              <a:t>Regex sweeps draft for case/ticket references (e.g. REF-12345); any code not present in evidence sets releasable = False.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Thread-Safe SQLite Store: </a:t>
            </a:r>
            <a:r>
              <a:rPr b="0" sz="1100">
                <a:solidFill>
                  <a:srgbClr val="64748B"/>
                </a:solidFill>
              </a:rPr>
              <a:t>Persists tickets, calibrated confidence scores, full agent traces, and human overrides with ACID guarantees.</a:t>
            </a:r>
          </a:p>
          <a:p>
            <a:pPr>
              <a:spcAft>
                <a:spcPts val="1000"/>
              </a:spcAft>
              <a:defRPr b="1" sz="1200">
                <a:solidFill>
                  <a:srgbClr val="0F172A"/>
                </a:solidFill>
              </a:defRPr>
            </a:pPr>
            <a:r>
              <a:t>• Distribution Drift Detector: </a:t>
            </a:r>
            <a:r>
              <a:rPr b="0" sz="1100">
                <a:solidFill>
                  <a:srgbClr val="64748B"/>
                </a:solidFill>
              </a:rPr>
              <a:t>Calculates live category percentage share vs training baseline and triggers alerts after &gt;= 30 sample window.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F6FEB"/>
                </a:solidFill>
              </a:defRPr>
            </a:pPr>
            <a:r>
              <a:t>EXPECTED OUTCOMES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Empirical Validation &amp; Benchmark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6FEB"/>
                </a:solidFill>
              </a:defRPr>
            </a:pPr>
            <a:r>
              <a:t>98.24%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Accepted Accuracy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at 90% auto-answer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4630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6FEB"/>
                </a:solidFill>
              </a:defRPr>
            </a:pPr>
            <a:r>
              <a:t>33 ms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Single-Ticket Latency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dual-core CPU in-process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6FEB"/>
                </a:solidFill>
              </a:defRPr>
            </a:pPr>
            <a:r>
              <a:t>99.75%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Oracle Recall @ 15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gold label in candidate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4630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6FEB"/>
                </a:solidFill>
              </a:defRPr>
            </a:pPr>
            <a:r>
              <a:t>p = 0.61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McNemar vs DistilBERT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no statistical loss vs transformer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698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4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Comparative Benchmark on Held-Out Test Split (n = 1,963)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TF-IDF Baseline (LinearSVC): </a:t>
            </a:r>
            <a:r>
              <a:rPr b="0" sz="1100">
                <a:solidFill>
                  <a:srgbClr val="64748B"/>
                </a:solidFill>
              </a:rPr>
              <a:t>Acc: 94.50%  |  Macro-F1: 94.31%  |  Latency: &lt;0.01 ms  |  TCO: $0.00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kNN Sparse Retrieval (Union): </a:t>
            </a:r>
            <a:r>
              <a:rPr b="0" sz="1100">
                <a:solidFill>
                  <a:srgbClr val="64748B"/>
                </a:solidFill>
              </a:rPr>
              <a:t>Acc: 92.56%  |  Macro-F1: 91.75%  |  Latency: 27.4 ms  |  TCO: $0.00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Fine-Tuned DistilBERT (Mandate): </a:t>
            </a:r>
            <a:r>
              <a:rPr b="0" sz="1100">
                <a:solidFill>
                  <a:srgbClr val="64748B"/>
                </a:solidFill>
              </a:rPr>
              <a:t>Acc: 94.91%  |  Macro-F1: 94.07%  |  Latency: 105.5 ms  |  TCO: 47.2 min train</a:t>
            </a:r>
          </a:p>
          <a:p>
            <a:pPr>
              <a:spcAft>
                <a:spcPts val="400"/>
              </a:spcAft>
              <a:defRPr b="1" sz="1100">
                <a:solidFill>
                  <a:srgbClr val="1F6FEB"/>
                </a:solidFill>
              </a:defRPr>
            </a:pPr>
            <a:r>
              <a:t>• DRONA Calibrated Cascade (Ours): </a:t>
            </a:r>
            <a:r>
              <a:rPr b="0" sz="1100">
                <a:solidFill>
                  <a:srgbClr val="64748B"/>
                </a:solidFill>
              </a:rPr>
              <a:t>Acc: 98.24% (Accepted)  |  Macro-F1: 94.43%  |  Latency: 33.3 ms  |  TCO: $0.00 (CPU native)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• Commercial Vendors (Zendesk / Intercom): </a:t>
            </a:r>
            <a:r>
              <a:rPr b="0" sz="1100">
                <a:solidFill>
                  <a:srgbClr val="64748B"/>
                </a:solidFill>
              </a:rPr>
              <a:t>Acc: Unpublished  |  Macro-F1: Unpublished  |  Latency: 3,000–8,000 ms  |  TCO: $1.50–$2.00 / ticket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F6FEB"/>
                </a:solidFill>
              </a:defRPr>
            </a:pPr>
            <a:r>
              <a:t>FUTURE PLAN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Production Deployment &amp; Next-Phase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F6FEB"/>
                </a:solidFill>
              </a:defRPr>
            </a:pPr>
            <a:r>
              <a:t>Phase 1: Multi-Channel Connectors (Q4 2026)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Build production webhook adapters for WhatsApp Business Cloud API and Twilio SMS.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Integrate bidirectional email SMTP/IMAP parsers with attachment stripping.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Package as a drop-in middleware microservice for Zendesk and Freshdesk.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F6FEB"/>
                </a:solidFill>
              </a:defRPr>
            </a:pPr>
            <a:r>
              <a:t>Phase 2: Vernacular Indian NLP (Q1 2027)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Expand character-level n-gram tokenization to Hindi, Telugu, and Tamil script.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Incorporate IndicBERT / AI4Bharat embeddings for regional banking slang.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Support voice-note transcription triage directly from WhatsApp voice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F6FEB"/>
                </a:solidFill>
              </a:defRPr>
            </a:pPr>
            <a:r>
              <a:t>Phase 3: Active Feedback &amp; Auto-Retraining (Q2 2027)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Stream human overrides from SQLite store into continuous weak supervision pipelines.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Implement automated canary deployment with statistical KS-test drift triggers.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Deploy on-device edge SDK for banking mobile applications to pre-triage on client.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