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6858000"/>
          </a:xfrm>
          <a:prstGeom prst="roundRect">
            <a:avLst>
              <a:gd name="adj" fmla="val 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4" name="Rounded Rectangle 3"/>
          <p:cNvSpPr/>
          <p:nvPr/>
        </p:nvSpPr>
        <p:spPr>
          <a:xfrm>
            <a:off x="0" y="0"/>
            <a:ext cx="146304" cy="6858000"/>
          </a:xfrm>
          <a:prstGeom prst="roundRect">
            <a:avLst>
              <a:gd name="adj" fmla="val 0"/>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5" name="TextBox 4"/>
          <p:cNvSpPr txBox="1"/>
          <p:nvPr/>
        </p:nvSpPr>
        <p:spPr>
          <a:xfrm>
            <a:off x="1005840" y="658368"/>
            <a:ext cx="6583680" cy="237744"/>
          </a:xfrm>
          <a:prstGeom prst="rect">
            <a:avLst/>
          </a:prstGeom>
          <a:noFill/>
        </p:spPr>
        <p:txBody>
          <a:bodyPr wrap="square" lIns="0" rIns="0" tIns="0" bIns="0" anchor="t">
            <a:spAutoFit/>
          </a:bodyPr>
          <a:lstStyle/>
          <a:p>
            <a:pPr algn="l">
              <a:spcBef>
                <a:spcPts val="0"/>
              </a:spcBef>
              <a:spcAft>
                <a:spcPts val="0"/>
              </a:spcAft>
            </a:pPr>
            <a:r>
              <a:rPr sz="1000" b="1" i="0">
                <a:solidFill>
                  <a:srgbClr val="DDECE9"/>
                </a:solidFill>
                <a:latin typeface="Calibri"/>
              </a:rPr>
              <a:t>B.TECH CAPSTONE  ·  COMPUTER SCIENCE AND ENGINEERING  ·  BATCH MP-A05</a:t>
            </a:r>
          </a:p>
        </p:txBody>
      </p:sp>
      <p:sp>
        <p:nvSpPr>
          <p:cNvPr id="6" name="TextBox 5"/>
          <p:cNvSpPr txBox="1"/>
          <p:nvPr/>
        </p:nvSpPr>
        <p:spPr>
          <a:xfrm>
            <a:off x="1005840" y="1024128"/>
            <a:ext cx="6583680" cy="1143000"/>
          </a:xfrm>
          <a:prstGeom prst="rect">
            <a:avLst/>
          </a:prstGeom>
          <a:noFill/>
        </p:spPr>
        <p:txBody>
          <a:bodyPr wrap="square" lIns="0" rIns="0" tIns="0" bIns="0" anchor="t">
            <a:spAutoFit/>
          </a:bodyPr>
          <a:lstStyle/>
          <a:p>
            <a:pPr algn="l">
              <a:lnSpc>
                <a:spcPct val="104000"/>
              </a:lnSpc>
              <a:spcBef>
                <a:spcPts val="0"/>
              </a:spcBef>
              <a:spcAft>
                <a:spcPts val="0"/>
              </a:spcAft>
            </a:pPr>
            <a:r>
              <a:rPr sz="3600" b="0" i="0">
                <a:solidFill>
                  <a:srgbClr val="FFFFFF"/>
                </a:solidFill>
                <a:latin typeface="Georgia"/>
              </a:rPr>
              <a:t>Smart Ticket Understanding Engine</a:t>
            </a:r>
          </a:p>
        </p:txBody>
      </p:sp>
      <p:sp>
        <p:nvSpPr>
          <p:cNvPr id="7" name="TextBox 6"/>
          <p:cNvSpPr txBox="1"/>
          <p:nvPr/>
        </p:nvSpPr>
        <p:spPr>
          <a:xfrm>
            <a:off x="1005840" y="2176272"/>
            <a:ext cx="6583680" cy="566928"/>
          </a:xfrm>
          <a:prstGeom prst="rect">
            <a:avLst/>
          </a:prstGeom>
          <a:noFill/>
        </p:spPr>
        <p:txBody>
          <a:bodyPr wrap="square" lIns="0" rIns="0" tIns="0" bIns="0" anchor="t">
            <a:spAutoFit/>
          </a:bodyPr>
          <a:lstStyle/>
          <a:p>
            <a:pPr algn="l">
              <a:lnSpc>
                <a:spcPct val="125000"/>
              </a:lnSpc>
              <a:spcBef>
                <a:spcPts val="0"/>
              </a:spcBef>
              <a:spcAft>
                <a:spcPts val="0"/>
              </a:spcAft>
            </a:pPr>
            <a:r>
              <a:rPr sz="1350" b="0" i="0">
                <a:solidFill>
                  <a:srgbClr val="DDECE9"/>
                </a:solidFill>
                <a:latin typeface="Calibri"/>
              </a:rPr>
              <a:t>DRONA — intent classification, sentiment, SLA priority and routing for banking support tickets, offline on CPU</a:t>
            </a:r>
          </a:p>
        </p:txBody>
      </p:sp>
      <p:sp>
        <p:nvSpPr>
          <p:cNvPr id="8" name="Rectangle 7"/>
          <p:cNvSpPr/>
          <p:nvPr/>
        </p:nvSpPr>
        <p:spPr>
          <a:xfrm>
            <a:off x="1005840" y="2871216"/>
            <a:ext cx="6583680" cy="12700"/>
          </a:xfrm>
          <a:prstGeom prst="rect">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035808"/>
            <a:ext cx="6583680" cy="1371600"/>
          </a:xfrm>
          <a:prstGeom prst="rect">
            <a:avLst/>
          </a:prstGeom>
          <a:noFill/>
        </p:spPr>
        <p:txBody>
          <a:bodyPr wrap="square" lIns="0" rIns="0" tIns="0" bIns="0" anchor="t">
            <a:spAutoFit/>
          </a:bodyPr>
          <a:lstStyle/>
          <a:p>
            <a:pPr algn="l">
              <a:lnSpc>
                <a:spcPct val="134000"/>
              </a:lnSpc>
              <a:spcBef>
                <a:spcPts val="0"/>
              </a:spcBef>
              <a:spcAft>
                <a:spcPts val="0"/>
              </a:spcAft>
            </a:pPr>
            <a:r>
              <a:rPr sz="1250" b="1" i="0">
                <a:solidFill>
                  <a:srgbClr val="FFFFFF"/>
                </a:solidFill>
                <a:latin typeface="Calibri"/>
              </a:rPr>
              <a:t>A transformer was not needed. </a:t>
            </a:r>
            <a:r>
              <a:rPr sz="1250" b="0" i="0">
                <a:solidFill>
                  <a:srgbClr val="9C978E"/>
                </a:solidFill>
                <a:latin typeface="Calibri"/>
              </a:rPr>
              <a:t>Fine-tuned DistilBERT does edge out the cascade on accuracy — by 0.31 points. McNemar's test on the tickets where the two disagree returns p = 0.6061. That is not a result, it is noise. So we shipped the cascade: same accuracy, 3.2× faster, 168× smaller, and it carries a finite-sample guarantee on the tickets it auto-answers.</a:t>
            </a:r>
          </a:p>
        </p:txBody>
      </p:sp>
      <p:sp>
        <p:nvSpPr>
          <p:cNvPr id="10" name="TextBox 9"/>
          <p:cNvSpPr txBox="1"/>
          <p:nvPr/>
        </p:nvSpPr>
        <p:spPr>
          <a:xfrm>
            <a:off x="1005840" y="4681728"/>
            <a:ext cx="6583680" cy="822960"/>
          </a:xfrm>
          <a:prstGeom prst="rect">
            <a:avLst/>
          </a:prstGeom>
          <a:noFill/>
        </p:spPr>
        <p:txBody>
          <a:bodyPr wrap="square" lIns="0" rIns="0" tIns="0" bIns="0" anchor="t">
            <a:spAutoFit/>
          </a:bodyPr>
          <a:lstStyle/>
          <a:p>
            <a:pPr algn="l">
              <a:lnSpc>
                <a:spcPct val="130000"/>
              </a:lnSpc>
              <a:spcBef>
                <a:spcPts val="0"/>
              </a:spcBef>
              <a:spcAft>
                <a:spcPts val="0"/>
              </a:spcAft>
            </a:pPr>
            <a:r>
              <a:rPr sz="1100" b="1" i="0">
                <a:solidFill>
                  <a:srgbClr val="DDECE9"/>
                </a:solidFill>
                <a:latin typeface="Calibri"/>
              </a:rPr>
              <a:t>What we want to show: </a:t>
            </a:r>
            <a:r>
              <a:rPr sz="1100" b="0" i="0">
                <a:solidFill>
                  <a:srgbClr val="6B6F76"/>
                </a:solidFill>
                <a:latin typeface="Calibri"/>
              </a:rPr>
              <a:t>what we measured, what it cost, what we got wrong, and what we would do next. Every number in this deck is read from a JSON artifact at build time — none is typed in.</a:t>
            </a:r>
          </a:p>
        </p:txBody>
      </p:sp>
      <p:sp>
        <p:nvSpPr>
          <p:cNvPr id="11" name="Rounded Rectangle 10"/>
          <p:cNvSpPr/>
          <p:nvPr/>
        </p:nvSpPr>
        <p:spPr>
          <a:xfrm>
            <a:off x="8001000" y="1042415"/>
            <a:ext cx="3623767" cy="4791456"/>
          </a:xfrm>
          <a:prstGeom prst="roundRect">
            <a:avLst>
              <a:gd name="adj" fmla="val 5000"/>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2" name="TextBox 11"/>
          <p:cNvSpPr txBox="1"/>
          <p:nvPr/>
        </p:nvSpPr>
        <p:spPr>
          <a:xfrm>
            <a:off x="8311896" y="1298448"/>
            <a:ext cx="3001975" cy="237744"/>
          </a:xfrm>
          <a:prstGeom prst="rect">
            <a:avLst/>
          </a:prstGeom>
          <a:noFill/>
        </p:spPr>
        <p:txBody>
          <a:bodyPr wrap="square" lIns="0" rIns="0" tIns="0" bIns="0" anchor="t">
            <a:spAutoFit/>
          </a:bodyPr>
          <a:lstStyle/>
          <a:p>
            <a:pPr algn="l">
              <a:spcBef>
                <a:spcPts val="0"/>
              </a:spcBef>
              <a:spcAft>
                <a:spcPts val="0"/>
              </a:spcAft>
            </a:pPr>
            <a:r>
              <a:rPr sz="950" b="1" i="0">
                <a:solidFill>
                  <a:srgbClr val="DDECE9"/>
                </a:solidFill>
                <a:latin typeface="Calibri"/>
              </a:rPr>
              <a:t>WHAT WE SHIPPED</a:t>
            </a:r>
          </a:p>
        </p:txBody>
      </p:sp>
      <p:sp>
        <p:nvSpPr>
          <p:cNvPr id="13" name="TextBox 12"/>
          <p:cNvSpPr txBox="1"/>
          <p:nvPr/>
        </p:nvSpPr>
        <p:spPr>
          <a:xfrm>
            <a:off x="8311896" y="1645920"/>
            <a:ext cx="3001975" cy="420624"/>
          </a:xfrm>
          <a:prstGeom prst="rect">
            <a:avLst/>
          </a:prstGeom>
          <a:noFill/>
        </p:spPr>
        <p:txBody>
          <a:bodyPr wrap="square" lIns="0" rIns="0" tIns="0" bIns="0" anchor="t">
            <a:spAutoFit/>
          </a:bodyPr>
          <a:lstStyle/>
          <a:p>
            <a:pPr algn="l">
              <a:spcBef>
                <a:spcPts val="0"/>
              </a:spcBef>
              <a:spcAft>
                <a:spcPts val="0"/>
              </a:spcAft>
            </a:pPr>
            <a:r>
              <a:rPr sz="2900" b="1" i="0">
                <a:solidFill>
                  <a:srgbClr val="FFFFFF"/>
                </a:solidFill>
                <a:latin typeface="Georgia"/>
              </a:rPr>
              <a:t>94.60%</a:t>
            </a:r>
          </a:p>
        </p:txBody>
      </p:sp>
      <p:sp>
        <p:nvSpPr>
          <p:cNvPr id="14" name="TextBox 13"/>
          <p:cNvSpPr txBox="1"/>
          <p:nvPr/>
        </p:nvSpPr>
        <p:spPr>
          <a:xfrm>
            <a:off x="8311896" y="2066544"/>
            <a:ext cx="3001975" cy="219456"/>
          </a:xfrm>
          <a:prstGeom prst="rect">
            <a:avLst/>
          </a:prstGeom>
          <a:noFill/>
        </p:spPr>
        <p:txBody>
          <a:bodyPr wrap="square" lIns="0" rIns="0" tIns="0" bIns="0" anchor="t">
            <a:spAutoFit/>
          </a:bodyPr>
          <a:lstStyle/>
          <a:p>
            <a:pPr algn="l">
              <a:spcBef>
                <a:spcPts val="0"/>
              </a:spcBef>
              <a:spcAft>
                <a:spcPts val="0"/>
              </a:spcAft>
            </a:pPr>
            <a:r>
              <a:rPr sz="1100" b="1" i="0">
                <a:solidFill>
                  <a:srgbClr val="FFFFFF"/>
                </a:solidFill>
                <a:latin typeface="Calibri"/>
              </a:rPr>
              <a:t>accuracy</a:t>
            </a:r>
          </a:p>
        </p:txBody>
      </p:sp>
      <p:sp>
        <p:nvSpPr>
          <p:cNvPr id="15" name="TextBox 14"/>
          <p:cNvSpPr txBox="1"/>
          <p:nvPr/>
        </p:nvSpPr>
        <p:spPr>
          <a:xfrm>
            <a:off x="8311896" y="2267712"/>
            <a:ext cx="3001975" cy="219456"/>
          </a:xfrm>
          <a:prstGeom prst="rect">
            <a:avLst/>
          </a:prstGeom>
          <a:noFill/>
        </p:spPr>
        <p:txBody>
          <a:bodyPr wrap="square" lIns="0" rIns="0" tIns="0" bIns="0" anchor="t">
            <a:spAutoFit/>
          </a:bodyPr>
          <a:lstStyle/>
          <a:p>
            <a:pPr algn="l">
              <a:spcBef>
                <a:spcPts val="0"/>
              </a:spcBef>
              <a:spcAft>
                <a:spcPts val="0"/>
              </a:spcAft>
            </a:pPr>
            <a:r>
              <a:rPr sz="950" b="0" i="0">
                <a:solidFill>
                  <a:srgbClr val="9C978E"/>
                </a:solidFill>
                <a:latin typeface="Calibri"/>
              </a:rPr>
              <a:t>macro-F1 94.43%</a:t>
            </a:r>
          </a:p>
        </p:txBody>
      </p:sp>
      <p:sp>
        <p:nvSpPr>
          <p:cNvPr id="16" name="TextBox 15"/>
          <p:cNvSpPr txBox="1"/>
          <p:nvPr/>
        </p:nvSpPr>
        <p:spPr>
          <a:xfrm>
            <a:off x="8311896" y="2706624"/>
            <a:ext cx="3001975" cy="420624"/>
          </a:xfrm>
          <a:prstGeom prst="rect">
            <a:avLst/>
          </a:prstGeom>
          <a:noFill/>
        </p:spPr>
        <p:txBody>
          <a:bodyPr wrap="square" lIns="0" rIns="0" tIns="0" bIns="0" anchor="t">
            <a:spAutoFit/>
          </a:bodyPr>
          <a:lstStyle/>
          <a:p>
            <a:pPr algn="l">
              <a:spcBef>
                <a:spcPts val="0"/>
              </a:spcBef>
              <a:spcAft>
                <a:spcPts val="0"/>
              </a:spcAft>
            </a:pPr>
            <a:r>
              <a:rPr sz="2900" b="1" i="0">
                <a:solidFill>
                  <a:srgbClr val="DDECE9"/>
                </a:solidFill>
                <a:latin typeface="Georgia"/>
              </a:rPr>
              <a:t>98.24%</a:t>
            </a:r>
          </a:p>
        </p:txBody>
      </p:sp>
      <p:sp>
        <p:nvSpPr>
          <p:cNvPr id="17" name="TextBox 16"/>
          <p:cNvSpPr txBox="1"/>
          <p:nvPr/>
        </p:nvSpPr>
        <p:spPr>
          <a:xfrm>
            <a:off x="8311896" y="3127248"/>
            <a:ext cx="3001975" cy="219456"/>
          </a:xfrm>
          <a:prstGeom prst="rect">
            <a:avLst/>
          </a:prstGeom>
          <a:noFill/>
        </p:spPr>
        <p:txBody>
          <a:bodyPr wrap="square" lIns="0" rIns="0" tIns="0" bIns="0" anchor="t">
            <a:spAutoFit/>
          </a:bodyPr>
          <a:lstStyle/>
          <a:p>
            <a:pPr algn="l">
              <a:spcBef>
                <a:spcPts val="0"/>
              </a:spcBef>
              <a:spcAft>
                <a:spcPts val="0"/>
              </a:spcAft>
            </a:pPr>
            <a:r>
              <a:rPr sz="1100" b="1" i="0">
                <a:solidFill>
                  <a:srgbClr val="FFFFFF"/>
                </a:solidFill>
                <a:latin typeface="Calibri"/>
              </a:rPr>
              <a:t>on auto-answered</a:t>
            </a:r>
          </a:p>
        </p:txBody>
      </p:sp>
      <p:sp>
        <p:nvSpPr>
          <p:cNvPr id="18" name="TextBox 17"/>
          <p:cNvSpPr txBox="1"/>
          <p:nvPr/>
        </p:nvSpPr>
        <p:spPr>
          <a:xfrm>
            <a:off x="8311896" y="3328416"/>
            <a:ext cx="3001975" cy="219456"/>
          </a:xfrm>
          <a:prstGeom prst="rect">
            <a:avLst/>
          </a:prstGeom>
          <a:noFill/>
        </p:spPr>
        <p:txBody>
          <a:bodyPr wrap="square" lIns="0" rIns="0" tIns="0" bIns="0" anchor="t">
            <a:spAutoFit/>
          </a:bodyPr>
          <a:lstStyle/>
          <a:p>
            <a:pPr algn="l">
              <a:spcBef>
                <a:spcPts val="0"/>
              </a:spcBef>
              <a:spcAft>
                <a:spcPts val="0"/>
              </a:spcAft>
            </a:pPr>
            <a:r>
              <a:rPr sz="950" b="0" i="0">
                <a:solidFill>
                  <a:srgbClr val="9C978E"/>
                </a:solidFill>
                <a:latin typeface="Calibri"/>
              </a:rPr>
              <a:t>at 0.7635 confidence</a:t>
            </a:r>
          </a:p>
        </p:txBody>
      </p:sp>
      <p:sp>
        <p:nvSpPr>
          <p:cNvPr id="19" name="TextBox 18"/>
          <p:cNvSpPr txBox="1"/>
          <p:nvPr/>
        </p:nvSpPr>
        <p:spPr>
          <a:xfrm>
            <a:off x="8311896" y="3767328"/>
            <a:ext cx="3001975" cy="420624"/>
          </a:xfrm>
          <a:prstGeom prst="rect">
            <a:avLst/>
          </a:prstGeom>
          <a:noFill/>
        </p:spPr>
        <p:txBody>
          <a:bodyPr wrap="square" lIns="0" rIns="0" tIns="0" bIns="0" anchor="t">
            <a:spAutoFit/>
          </a:bodyPr>
          <a:lstStyle/>
          <a:p>
            <a:pPr algn="l">
              <a:spcBef>
                <a:spcPts val="0"/>
              </a:spcBef>
              <a:spcAft>
                <a:spcPts val="0"/>
              </a:spcAft>
            </a:pPr>
            <a:r>
              <a:rPr sz="2900" b="1" i="0">
                <a:solidFill>
                  <a:srgbClr val="FFFFFF"/>
                </a:solidFill>
                <a:latin typeface="Georgia"/>
              </a:rPr>
              <a:t>33.3 ms</a:t>
            </a:r>
          </a:p>
        </p:txBody>
      </p:sp>
      <p:sp>
        <p:nvSpPr>
          <p:cNvPr id="20" name="TextBox 19"/>
          <p:cNvSpPr txBox="1"/>
          <p:nvPr/>
        </p:nvSpPr>
        <p:spPr>
          <a:xfrm>
            <a:off x="8311896" y="4187952"/>
            <a:ext cx="3001975" cy="219456"/>
          </a:xfrm>
          <a:prstGeom prst="rect">
            <a:avLst/>
          </a:prstGeom>
          <a:noFill/>
        </p:spPr>
        <p:txBody>
          <a:bodyPr wrap="square" lIns="0" rIns="0" tIns="0" bIns="0" anchor="t">
            <a:spAutoFit/>
          </a:bodyPr>
          <a:lstStyle/>
          <a:p>
            <a:pPr algn="l">
              <a:spcBef>
                <a:spcPts val="0"/>
              </a:spcBef>
              <a:spcAft>
                <a:spcPts val="0"/>
              </a:spcAft>
            </a:pPr>
            <a:r>
              <a:rPr sz="1100" b="1" i="0">
                <a:solidFill>
                  <a:srgbClr val="FFFFFF"/>
                </a:solidFill>
                <a:latin typeface="Calibri"/>
              </a:rPr>
              <a:t>per ticket</a:t>
            </a:r>
          </a:p>
        </p:txBody>
      </p:sp>
      <p:sp>
        <p:nvSpPr>
          <p:cNvPr id="21" name="TextBox 20"/>
          <p:cNvSpPr txBox="1"/>
          <p:nvPr/>
        </p:nvSpPr>
        <p:spPr>
          <a:xfrm>
            <a:off x="8311896" y="4389120"/>
            <a:ext cx="3001975" cy="219456"/>
          </a:xfrm>
          <a:prstGeom prst="rect">
            <a:avLst/>
          </a:prstGeom>
          <a:noFill/>
        </p:spPr>
        <p:txBody>
          <a:bodyPr wrap="square" lIns="0" rIns="0" tIns="0" bIns="0" anchor="t">
            <a:spAutoFit/>
          </a:bodyPr>
          <a:lstStyle/>
          <a:p>
            <a:pPr algn="l">
              <a:spcBef>
                <a:spcPts val="0"/>
              </a:spcBef>
              <a:spcAft>
                <a:spcPts val="0"/>
              </a:spcAft>
            </a:pPr>
            <a:r>
              <a:rPr sz="950" b="0" i="0">
                <a:solidFill>
                  <a:srgbClr val="9C978E"/>
                </a:solidFill>
                <a:latin typeface="Calibri"/>
              </a:rPr>
              <a:t>in-process, CPU, no network</a:t>
            </a:r>
          </a:p>
        </p:txBody>
      </p:sp>
      <p:sp>
        <p:nvSpPr>
          <p:cNvPr id="22" name="TextBox 21"/>
          <p:cNvSpPr txBox="1"/>
          <p:nvPr/>
        </p:nvSpPr>
        <p:spPr>
          <a:xfrm>
            <a:off x="8311896" y="4828032"/>
            <a:ext cx="3001975" cy="420624"/>
          </a:xfrm>
          <a:prstGeom prst="rect">
            <a:avLst/>
          </a:prstGeom>
          <a:noFill/>
        </p:spPr>
        <p:txBody>
          <a:bodyPr wrap="square" lIns="0" rIns="0" tIns="0" bIns="0" anchor="t">
            <a:spAutoFit/>
          </a:bodyPr>
          <a:lstStyle/>
          <a:p>
            <a:pPr algn="l">
              <a:spcBef>
                <a:spcPts val="0"/>
              </a:spcBef>
              <a:spcAft>
                <a:spcPts val="0"/>
              </a:spcAft>
            </a:pPr>
            <a:r>
              <a:rPr sz="2900" b="1" i="0">
                <a:solidFill>
                  <a:srgbClr val="DDECE9"/>
                </a:solidFill>
                <a:latin typeface="Georgia"/>
              </a:rPr>
              <a:t>1.6 MB</a:t>
            </a:r>
          </a:p>
        </p:txBody>
      </p:sp>
      <p:sp>
        <p:nvSpPr>
          <p:cNvPr id="23" name="TextBox 22"/>
          <p:cNvSpPr txBox="1"/>
          <p:nvPr/>
        </p:nvSpPr>
        <p:spPr>
          <a:xfrm>
            <a:off x="8311896" y="5248656"/>
            <a:ext cx="3001975" cy="219456"/>
          </a:xfrm>
          <a:prstGeom prst="rect">
            <a:avLst/>
          </a:prstGeom>
          <a:noFill/>
        </p:spPr>
        <p:txBody>
          <a:bodyPr wrap="square" lIns="0" rIns="0" tIns="0" bIns="0" anchor="t">
            <a:spAutoFit/>
          </a:bodyPr>
          <a:lstStyle/>
          <a:p>
            <a:pPr algn="l">
              <a:spcBef>
                <a:spcPts val="0"/>
              </a:spcBef>
              <a:spcAft>
                <a:spcPts val="0"/>
              </a:spcAft>
            </a:pPr>
            <a:r>
              <a:rPr sz="1100" b="1" i="0">
                <a:solidFill>
                  <a:srgbClr val="FFFFFF"/>
                </a:solidFill>
                <a:latin typeface="Calibri"/>
              </a:rPr>
              <a:t>total model size</a:t>
            </a:r>
          </a:p>
        </p:txBody>
      </p:sp>
      <p:sp>
        <p:nvSpPr>
          <p:cNvPr id="24" name="TextBox 23"/>
          <p:cNvSpPr txBox="1"/>
          <p:nvPr/>
        </p:nvSpPr>
        <p:spPr>
          <a:xfrm>
            <a:off x="8311896" y="5449824"/>
            <a:ext cx="3001975" cy="219456"/>
          </a:xfrm>
          <a:prstGeom prst="rect">
            <a:avLst/>
          </a:prstGeom>
          <a:noFill/>
        </p:spPr>
        <p:txBody>
          <a:bodyPr wrap="square" lIns="0" rIns="0" tIns="0" bIns="0" anchor="t">
            <a:spAutoFit/>
          </a:bodyPr>
          <a:lstStyle/>
          <a:p>
            <a:pPr algn="l">
              <a:spcBef>
                <a:spcPts val="0"/>
              </a:spcBef>
              <a:spcAft>
                <a:spcPts val="0"/>
              </a:spcAft>
            </a:pPr>
            <a:r>
              <a:rPr sz="950" b="0" i="0">
                <a:solidFill>
                  <a:srgbClr val="9C978E"/>
                </a:solidFill>
                <a:latin typeface="Calibri"/>
              </a:rPr>
              <a:t>vs 268 MB fine-tuned</a:t>
            </a:r>
          </a:p>
        </p:txBody>
      </p:sp>
      <p:sp>
        <p:nvSpPr>
          <p:cNvPr id="25" name="TextBox 24"/>
          <p:cNvSpPr txBox="1"/>
          <p:nvPr/>
        </p:nvSpPr>
        <p:spPr>
          <a:xfrm>
            <a:off x="685800" y="6455664"/>
            <a:ext cx="5486400" cy="201168"/>
          </a:xfrm>
          <a:prstGeom prst="rect">
            <a:avLst/>
          </a:prstGeom>
          <a:noFill/>
        </p:spPr>
        <p:txBody>
          <a:bodyPr wrap="square" lIns="0" rIns="0" tIns="0" bIns="0" anchor="t">
            <a:spAutoFit/>
          </a:bodyPr>
          <a:lstStyle/>
          <a:p>
            <a:pPr algn="l">
              <a:spcBef>
                <a:spcPts val="0"/>
              </a:spcBef>
              <a:spcAft>
                <a:spcPts val="0"/>
              </a:spcAft>
            </a:pPr>
            <a:r>
              <a:rPr sz="850" b="0" i="0">
                <a:solidFill>
                  <a:srgbClr val="9C978E"/>
                </a:solidFill>
                <a:latin typeface="Calibri"/>
              </a:rPr>
              <a:t>DRONA · Banking77 ticket triage · all figures from artifacts/reports/</a:t>
            </a:r>
          </a:p>
        </p:txBody>
      </p:sp>
      <p:sp>
        <p:nvSpPr>
          <p:cNvPr id="26" name="TextBox 25"/>
          <p:cNvSpPr txBox="1"/>
          <p:nvPr/>
        </p:nvSpPr>
        <p:spPr>
          <a:xfrm>
            <a:off x="9144000" y="6455664"/>
            <a:ext cx="2361895" cy="201168"/>
          </a:xfrm>
          <a:prstGeom prst="rect">
            <a:avLst/>
          </a:prstGeom>
          <a:noFill/>
        </p:spPr>
        <p:txBody>
          <a:bodyPr wrap="square" lIns="0" rIns="0" tIns="0" bIns="0" anchor="t">
            <a:spAutoFit/>
          </a:bodyPr>
          <a:lstStyle/>
          <a:p>
            <a:pPr algn="r">
              <a:spcBef>
                <a:spcPts val="0"/>
              </a:spcBef>
              <a:spcAft>
                <a:spcPts val="0"/>
              </a:spcAft>
            </a:pPr>
            <a:r>
              <a:rPr sz="850" b="0" i="0">
                <a:solidFill>
                  <a:srgbClr val="9C978E"/>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515600" cy="201168"/>
          </a:xfrm>
          <a:prstGeom prst="rect">
            <a:avLst/>
          </a:prstGeom>
          <a:noFill/>
        </p:spPr>
        <p:txBody>
          <a:bodyPr wrap="square" lIns="0" rIns="0" tIns="0" bIns="0" anchor="t">
            <a:spAutoFit/>
          </a:bodyPr>
          <a:lstStyle/>
          <a:p>
            <a:pPr algn="l">
              <a:spcBef>
                <a:spcPts val="0"/>
              </a:spcBef>
              <a:spcAft>
                <a:spcPts val="0"/>
              </a:spcAft>
            </a:pPr>
            <a:r>
              <a:rPr sz="950" b="1" i="0">
                <a:solidFill>
                  <a:srgbClr val="0B6E63"/>
                </a:solidFill>
                <a:latin typeface="Calibri"/>
              </a:rPr>
              <a:t>TEAM MEMBERS</a:t>
            </a:r>
          </a:p>
        </p:txBody>
      </p:sp>
      <p:sp>
        <p:nvSpPr>
          <p:cNvPr id="4" name="TextBox 3"/>
          <p:cNvSpPr txBox="1"/>
          <p:nvPr/>
        </p:nvSpPr>
        <p:spPr>
          <a:xfrm>
            <a:off x="685800" y="548640"/>
            <a:ext cx="10820095" cy="347472"/>
          </a:xfrm>
          <a:prstGeom prst="rect">
            <a:avLst/>
          </a:prstGeom>
          <a:noFill/>
        </p:spPr>
        <p:txBody>
          <a:bodyPr wrap="square" lIns="0" rIns="0" tIns="0" bIns="0" anchor="t">
            <a:spAutoFit/>
          </a:bodyPr>
          <a:lstStyle/>
          <a:p>
            <a:pPr algn="l">
              <a:lnSpc>
                <a:spcPct val="104000"/>
              </a:lnSpc>
              <a:spcBef>
                <a:spcPts val="0"/>
              </a:spcBef>
              <a:spcAft>
                <a:spcPts val="0"/>
              </a:spcAft>
            </a:pPr>
            <a:r>
              <a:rPr sz="2350" b="0" i="0">
                <a:solidFill>
                  <a:srgbClr val="14181D"/>
                </a:solidFill>
                <a:latin typeface="Georgia"/>
              </a:rPr>
              <a:t>Four of us, one guide, and an industry mentor who read the draft.</a:t>
            </a:r>
          </a:p>
        </p:txBody>
      </p:sp>
      <p:sp>
        <p:nvSpPr>
          <p:cNvPr id="5" name="TextBox 4"/>
          <p:cNvSpPr txBox="1"/>
          <p:nvPr/>
        </p:nvSpPr>
        <p:spPr>
          <a:xfrm>
            <a:off x="685800" y="932688"/>
            <a:ext cx="10820095" cy="256032"/>
          </a:xfrm>
          <a:prstGeom prst="rect">
            <a:avLst/>
          </a:prstGeom>
          <a:noFill/>
        </p:spPr>
        <p:txBody>
          <a:bodyPr wrap="square" lIns="0" rIns="0" tIns="0" bIns="0" anchor="t">
            <a:spAutoFit/>
          </a:bodyPr>
          <a:lstStyle/>
          <a:p>
            <a:pPr algn="l">
              <a:lnSpc>
                <a:spcPct val="112000"/>
              </a:lnSpc>
              <a:spcBef>
                <a:spcPts val="0"/>
              </a:spcBef>
              <a:spcAft>
                <a:spcPts val="0"/>
              </a:spcAft>
            </a:pPr>
            <a:r>
              <a:rPr sz="1150" b="0" i="0">
                <a:solidFill>
                  <a:srgbClr val="6B6F76"/>
                </a:solidFill>
                <a:latin typeface="Calibri"/>
              </a:rPr>
              <a:t>B.Tech CSE, batch MP-A05 — Marri Laxman Reddy Institute of Technology and Management, under JNTUH.</a:t>
            </a:r>
          </a:p>
        </p:txBody>
      </p:sp>
      <p:sp>
        <p:nvSpPr>
          <p:cNvPr id="6" name="Rectangle 5"/>
          <p:cNvSpPr/>
          <p:nvPr/>
        </p:nvSpPr>
        <p:spPr>
          <a:xfrm>
            <a:off x="685800" y="1225296"/>
            <a:ext cx="10820095" cy="1143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55664"/>
            <a:ext cx="5486400" cy="201168"/>
          </a:xfrm>
          <a:prstGeom prst="rect">
            <a:avLst/>
          </a:prstGeom>
          <a:noFill/>
        </p:spPr>
        <p:txBody>
          <a:bodyPr wrap="square" lIns="0" rIns="0" tIns="0" bIns="0" anchor="t">
            <a:spAutoFit/>
          </a:bodyPr>
          <a:lstStyle/>
          <a:p>
            <a:pPr algn="l">
              <a:spcBef>
                <a:spcPts val="0"/>
              </a:spcBef>
              <a:spcAft>
                <a:spcPts val="0"/>
              </a:spcAft>
            </a:pPr>
            <a:r>
              <a:rPr sz="850" b="0" i="0">
                <a:solidFill>
                  <a:srgbClr val="9C978E"/>
                </a:solidFill>
                <a:latin typeface="Calibri"/>
              </a:rPr>
              <a:t>DRONA · Banking77 ticket triage · all figures from artifacts/reports/</a:t>
            </a:r>
          </a:p>
        </p:txBody>
      </p:sp>
      <p:sp>
        <p:nvSpPr>
          <p:cNvPr id="8" name="TextBox 7"/>
          <p:cNvSpPr txBox="1"/>
          <p:nvPr/>
        </p:nvSpPr>
        <p:spPr>
          <a:xfrm>
            <a:off x="9144000" y="6455664"/>
            <a:ext cx="2361895" cy="201168"/>
          </a:xfrm>
          <a:prstGeom prst="rect">
            <a:avLst/>
          </a:prstGeom>
          <a:noFill/>
        </p:spPr>
        <p:txBody>
          <a:bodyPr wrap="square" lIns="0" rIns="0" tIns="0" bIns="0" anchor="t">
            <a:spAutoFit/>
          </a:bodyPr>
          <a:lstStyle/>
          <a:p>
            <a:pPr algn="r">
              <a:spcBef>
                <a:spcPts val="0"/>
              </a:spcBef>
              <a:spcAft>
                <a:spcPts val="0"/>
              </a:spcAft>
            </a:pPr>
            <a:r>
              <a:rPr sz="850" b="0" i="0">
                <a:solidFill>
                  <a:srgbClr val="9C978E"/>
                </a:solidFill>
                <a:latin typeface="Calibri"/>
              </a:rPr>
              <a:t>2</a:t>
            </a:r>
          </a:p>
        </p:txBody>
      </p:sp>
      <p:graphicFrame>
        <p:nvGraphicFramePr>
          <p:cNvPr id="9" name="Table 8"/>
          <p:cNvGraphicFramePr>
            <a:graphicFrameLocks noGrp="1"/>
          </p:cNvGraphicFramePr>
          <p:nvPr/>
        </p:nvGraphicFramePr>
        <p:xfrm>
          <a:off x="685800" y="1389888"/>
          <a:ext cx="10820095" cy="1664208"/>
        </p:xfrm>
        <a:graphic>
          <a:graphicData uri="http://schemas.openxmlformats.org/drawingml/2006/table">
            <a:tbl>
              <a:tblPr>
                <a:tableStyleId>{5C22544A-7EE6-4342-B048-85BDC9FD1C3A}</a:tableStyleId>
              </a:tblPr>
              <a:tblGrid>
                <a:gridCol w="411480"/>
                <a:gridCol w="1417320"/>
                <a:gridCol w="2423160"/>
                <a:gridCol w="6568135"/>
              </a:tblGrid>
              <a:tr h="274320">
                <a:tc>
                  <a:txBody>
                    <a:bodyPr wrap="square"/>
                    <a:lstStyle/>
                    <a:p>
                      <a:pPr algn="l">
                        <a:spcBef>
                          <a:spcPts val="0"/>
                        </a:spcBef>
                        <a:spcAft>
                          <a:spcPts val="0"/>
                        </a:spcAft>
                      </a:pPr>
                      <a:r>
                        <a:rPr sz="900" b="1" i="0">
                          <a:solidFill>
                            <a:srgbClr val="0B6E63"/>
                          </a:solidFill>
                          <a:latin typeface="Calibri"/>
                        </a:rPr>
                        <a:t>#</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REG. NO.</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NAME</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WHERE THE WORK SITS</a:t>
                      </a:r>
                    </a:p>
                  </a:txBody>
                  <a:tcPr marL="82296" marR="82296" marT="18288" marB="18288" anchor="ctr">
                    <a:lnB w="15240" cap="flat" cmpd="sng" algn="ctr">
                      <a:solidFill>
                        <a:srgbClr val="0B6E63"/>
                      </a:solidFill>
                    </a:lnB>
                    <a:noFill/>
                  </a:tcPr>
                </a:tc>
              </a:tr>
              <a:tr h="347472">
                <a:tc>
                  <a:txBody>
                    <a:bodyPr wrap="square"/>
                    <a:lstStyle/>
                    <a:p>
                      <a:pPr algn="ctr">
                        <a:spcBef>
                          <a:spcPts val="0"/>
                        </a:spcBef>
                        <a:spcAft>
                          <a:spcPts val="0"/>
                        </a:spcAft>
                      </a:pPr>
                      <a:r>
                        <a:rPr sz="1050" b="0" i="0">
                          <a:solidFill>
                            <a:srgbClr val="9C978E"/>
                          </a:solidFill>
                          <a:latin typeface="Calibri"/>
                        </a:rPr>
                        <a:t>1</a:t>
                      </a:r>
                    </a:p>
                  </a:txBody>
                  <a:tcPr marL="82296" marR="82296" marT="18288" marB="18288" anchor="ctr">
                    <a:noFill/>
                  </a:tcPr>
                </a:tc>
                <a:tc>
                  <a:txBody>
                    <a:bodyPr wrap="square"/>
                    <a:lstStyle/>
                    <a:p>
                      <a:pPr algn="l">
                        <a:spcBef>
                          <a:spcPts val="0"/>
                        </a:spcBef>
                        <a:spcAft>
                          <a:spcPts val="0"/>
                        </a:spcAft>
                      </a:pPr>
                      <a:r>
                        <a:rPr sz="1100" b="0" i="0">
                          <a:solidFill>
                            <a:srgbClr val="6B6F76"/>
                          </a:solidFill>
                          <a:latin typeface="Consolas"/>
                        </a:rPr>
                        <a:t>237Y1A0540</a:t>
                      </a:r>
                    </a:p>
                  </a:txBody>
                  <a:tcPr marL="82296" marR="82296" marT="18288" marB="18288" anchor="ctr">
                    <a:noFill/>
                  </a:tcPr>
                </a:tc>
                <a:tc>
                  <a:txBody>
                    <a:bodyPr wrap="square"/>
                    <a:lstStyle/>
                    <a:p>
                      <a:pPr algn="l">
                        <a:spcBef>
                          <a:spcPts val="0"/>
                        </a:spcBef>
                        <a:spcAft>
                          <a:spcPts val="0"/>
                        </a:spcAft>
                      </a:pPr>
                      <a:r>
                        <a:rPr sz="1200" b="1" i="0">
                          <a:solidFill>
                            <a:srgbClr val="14181D"/>
                          </a:solidFill>
                          <a:latin typeface="Calibri"/>
                        </a:rPr>
                        <a:t>NAYAKAM SATYAJEET</a:t>
                      </a:r>
                    </a:p>
                  </a:txBody>
                  <a:tcPr marL="82296" marR="82296" marT="18288" marB="18288" anchor="ctr">
                    <a:noFill/>
                  </a:tcPr>
                </a:tc>
                <a:tc>
                  <a:txBody>
                    <a:bodyPr wrap="square"/>
                    <a:lstStyle/>
                    <a:p>
                      <a:pPr algn="l">
                        <a:spcBef>
                          <a:spcPts val="0"/>
                        </a:spcBef>
                        <a:spcAft>
                          <a:spcPts val="0"/>
                        </a:spcAft>
                      </a:pPr>
                      <a:r>
                        <a:rPr sz="1050" b="0" i="0">
                          <a:solidFill>
                            <a:srgbClr val="6B6F76"/>
                          </a:solidFill>
                          <a:latin typeface="Calibri"/>
                        </a:rPr>
                        <a:t>Pipeline, retrieval + fusion, calibration and the conformal gate</a:t>
                      </a:r>
                    </a:p>
                  </a:txBody>
                  <a:tcPr marL="82296" marR="82296" marT="18288" marB="18288" anchor="ctr">
                    <a:noFill/>
                  </a:tcPr>
                </a:tc>
              </a:tr>
              <a:tr h="347472">
                <a:tc>
                  <a:txBody>
                    <a:bodyPr wrap="square"/>
                    <a:lstStyle/>
                    <a:p>
                      <a:pPr algn="ctr">
                        <a:spcBef>
                          <a:spcPts val="0"/>
                        </a:spcBef>
                        <a:spcAft>
                          <a:spcPts val="0"/>
                        </a:spcAft>
                      </a:pPr>
                      <a:r>
                        <a:rPr sz="1050" b="0" i="0">
                          <a:solidFill>
                            <a:srgbClr val="9C978E"/>
                          </a:solidFill>
                          <a:latin typeface="Calibri"/>
                        </a:rPr>
                        <a:t>2</a:t>
                      </a:r>
                    </a:p>
                  </a:txBody>
                  <a:tcPr marL="82296" marR="82296" marT="18288" marB="18288" anchor="ctr">
                    <a:noFill/>
                  </a:tcPr>
                </a:tc>
                <a:tc>
                  <a:txBody>
                    <a:bodyPr wrap="square"/>
                    <a:lstStyle/>
                    <a:p>
                      <a:pPr algn="l">
                        <a:spcBef>
                          <a:spcPts val="0"/>
                        </a:spcBef>
                        <a:spcAft>
                          <a:spcPts val="0"/>
                        </a:spcAft>
                      </a:pPr>
                      <a:r>
                        <a:rPr sz="1100" b="0" i="0">
                          <a:solidFill>
                            <a:srgbClr val="6B6F76"/>
                          </a:solidFill>
                          <a:latin typeface="Consolas"/>
                        </a:rPr>
                        <a:t>237Y1A0570</a:t>
                      </a:r>
                    </a:p>
                  </a:txBody>
                  <a:tcPr marL="82296" marR="82296" marT="18288" marB="18288" anchor="ctr">
                    <a:noFill/>
                  </a:tcPr>
                </a:tc>
                <a:tc>
                  <a:txBody>
                    <a:bodyPr wrap="square"/>
                    <a:lstStyle/>
                    <a:p>
                      <a:pPr algn="l">
                        <a:spcBef>
                          <a:spcPts val="0"/>
                        </a:spcBef>
                        <a:spcAft>
                          <a:spcPts val="0"/>
                        </a:spcAft>
                      </a:pPr>
                      <a:r>
                        <a:rPr sz="1200" b="1" i="0">
                          <a:solidFill>
                            <a:srgbClr val="14181D"/>
                          </a:solidFill>
                          <a:latin typeface="Calibri"/>
                        </a:rPr>
                        <a:t>JAKKU HARIKA</a:t>
                      </a:r>
                    </a:p>
                  </a:txBody>
                  <a:tcPr marL="82296" marR="82296" marT="18288" marB="18288" anchor="ctr">
                    <a:noFill/>
                  </a:tcPr>
                </a:tc>
                <a:tc>
                  <a:txBody>
                    <a:bodyPr wrap="square"/>
                    <a:lstStyle/>
                    <a:p>
                      <a:pPr algn="l">
                        <a:spcBef>
                          <a:spcPts val="0"/>
                        </a:spcBef>
                        <a:spcAft>
                          <a:spcPts val="0"/>
                        </a:spcAft>
                      </a:pPr>
                      <a:r>
                        <a:rPr sz="1050" b="0" i="0">
                          <a:solidFill>
                            <a:srgbClr val="6B6F76"/>
                          </a:solidFill>
                          <a:latin typeface="Calibri"/>
                        </a:rPr>
                        <a:t>DistilBERT fine-tune, the comparison, and the McNemar analysis</a:t>
                      </a:r>
                    </a:p>
                  </a:txBody>
                  <a:tcPr marL="82296" marR="82296" marT="18288" marB="18288" anchor="ctr">
                    <a:noFill/>
                  </a:tcPr>
                </a:tc>
              </a:tr>
              <a:tr h="347472">
                <a:tc>
                  <a:txBody>
                    <a:bodyPr wrap="square"/>
                    <a:lstStyle/>
                    <a:p>
                      <a:pPr algn="ctr">
                        <a:spcBef>
                          <a:spcPts val="0"/>
                        </a:spcBef>
                        <a:spcAft>
                          <a:spcPts val="0"/>
                        </a:spcAft>
                      </a:pPr>
                      <a:r>
                        <a:rPr sz="1050" b="0" i="0">
                          <a:solidFill>
                            <a:srgbClr val="9C978E"/>
                          </a:solidFill>
                          <a:latin typeface="Calibri"/>
                        </a:rPr>
                        <a:t>3</a:t>
                      </a:r>
                    </a:p>
                  </a:txBody>
                  <a:tcPr marL="82296" marR="82296" marT="18288" marB="18288" anchor="ctr">
                    <a:noFill/>
                  </a:tcPr>
                </a:tc>
                <a:tc>
                  <a:txBody>
                    <a:bodyPr wrap="square"/>
                    <a:lstStyle/>
                    <a:p>
                      <a:pPr algn="l">
                        <a:spcBef>
                          <a:spcPts val="0"/>
                        </a:spcBef>
                        <a:spcAft>
                          <a:spcPts val="0"/>
                        </a:spcAft>
                      </a:pPr>
                      <a:r>
                        <a:rPr sz="1100" b="0" i="0">
                          <a:solidFill>
                            <a:srgbClr val="6B6F76"/>
                          </a:solidFill>
                          <a:latin typeface="Consolas"/>
                        </a:rPr>
                        <a:t>237Y1A0574</a:t>
                      </a:r>
                    </a:p>
                  </a:txBody>
                  <a:tcPr marL="82296" marR="82296" marT="18288" marB="18288" anchor="ctr">
                    <a:noFill/>
                  </a:tcPr>
                </a:tc>
                <a:tc>
                  <a:txBody>
                    <a:bodyPr wrap="square"/>
                    <a:lstStyle/>
                    <a:p>
                      <a:pPr algn="l">
                        <a:spcBef>
                          <a:spcPts val="0"/>
                        </a:spcBef>
                        <a:spcAft>
                          <a:spcPts val="0"/>
                        </a:spcAft>
                      </a:pPr>
                      <a:r>
                        <a:rPr sz="1200" b="1" i="0">
                          <a:solidFill>
                            <a:srgbClr val="14181D"/>
                          </a:solidFill>
                          <a:latin typeface="Calibri"/>
                        </a:rPr>
                        <a:t>SHERLA LOHITH KUMAR</a:t>
                      </a:r>
                    </a:p>
                  </a:txBody>
                  <a:tcPr marL="82296" marR="82296" marT="18288" marB="18288" anchor="ctr">
                    <a:noFill/>
                  </a:tcPr>
                </a:tc>
                <a:tc>
                  <a:txBody>
                    <a:bodyPr wrap="square"/>
                    <a:lstStyle/>
                    <a:p>
                      <a:pPr algn="l">
                        <a:spcBef>
                          <a:spcPts val="0"/>
                        </a:spcBef>
                        <a:spcAft>
                          <a:spcPts val="0"/>
                        </a:spcAft>
                      </a:pPr>
                      <a:r>
                        <a:rPr sz="1050" b="0" i="0">
                          <a:solidFill>
                            <a:srgbClr val="6B6F76"/>
                          </a:solidFill>
                          <a:latin typeface="Calibri"/>
                        </a:rPr>
                        <a:t>SLA priority, routing, sentiment and amount extraction</a:t>
                      </a:r>
                    </a:p>
                  </a:txBody>
                  <a:tcPr marL="82296" marR="82296" marT="18288" marB="18288" anchor="ctr">
                    <a:noFill/>
                  </a:tcPr>
                </a:tc>
              </a:tr>
              <a:tr h="347472">
                <a:tc>
                  <a:txBody>
                    <a:bodyPr wrap="square"/>
                    <a:lstStyle/>
                    <a:p>
                      <a:pPr algn="ctr">
                        <a:spcBef>
                          <a:spcPts val="0"/>
                        </a:spcBef>
                        <a:spcAft>
                          <a:spcPts val="0"/>
                        </a:spcAft>
                      </a:pPr>
                      <a:r>
                        <a:rPr sz="1050" b="0" i="0">
                          <a:solidFill>
                            <a:srgbClr val="9C978E"/>
                          </a:solidFill>
                          <a:latin typeface="Calibri"/>
                        </a:rPr>
                        <a:t>4</a:t>
                      </a:r>
                    </a:p>
                  </a:txBody>
                  <a:tcPr marL="82296" marR="82296" marT="18288" marB="18288" anchor="ctr">
                    <a:noFill/>
                  </a:tcPr>
                </a:tc>
                <a:tc>
                  <a:txBody>
                    <a:bodyPr wrap="square"/>
                    <a:lstStyle/>
                    <a:p>
                      <a:pPr algn="l">
                        <a:spcBef>
                          <a:spcPts val="0"/>
                        </a:spcBef>
                        <a:spcAft>
                          <a:spcPts val="0"/>
                        </a:spcAft>
                      </a:pPr>
                      <a:r>
                        <a:rPr sz="1100" b="0" i="0">
                          <a:solidFill>
                            <a:srgbClr val="6B6F76"/>
                          </a:solidFill>
                          <a:latin typeface="Consolas"/>
                        </a:rPr>
                        <a:t>237Y1A05A5</a:t>
                      </a:r>
                    </a:p>
                  </a:txBody>
                  <a:tcPr marL="82296" marR="82296" marT="18288" marB="18288" anchor="ctr">
                    <a:noFill/>
                  </a:tcPr>
                </a:tc>
                <a:tc>
                  <a:txBody>
                    <a:bodyPr wrap="square"/>
                    <a:lstStyle/>
                    <a:p>
                      <a:pPr algn="l">
                        <a:spcBef>
                          <a:spcPts val="0"/>
                        </a:spcBef>
                        <a:spcAft>
                          <a:spcPts val="0"/>
                        </a:spcAft>
                      </a:pPr>
                      <a:r>
                        <a:rPr sz="1200" b="1" i="0">
                          <a:solidFill>
                            <a:srgbClr val="14181D"/>
                          </a:solidFill>
                          <a:latin typeface="Calibri"/>
                        </a:rPr>
                        <a:t>MAMIDALA VARUN</a:t>
                      </a:r>
                    </a:p>
                  </a:txBody>
                  <a:tcPr marL="82296" marR="82296" marT="18288" marB="18288" anchor="ctr">
                    <a:noFill/>
                  </a:tcPr>
                </a:tc>
                <a:tc>
                  <a:txBody>
                    <a:bodyPr wrap="square"/>
                    <a:lstStyle/>
                    <a:p>
                      <a:pPr algn="l">
                        <a:spcBef>
                          <a:spcPts val="0"/>
                        </a:spcBef>
                        <a:spcAft>
                          <a:spcPts val="0"/>
                        </a:spcAft>
                      </a:pPr>
                      <a:r>
                        <a:rPr sz="1050" b="0" i="0">
                          <a:solidFill>
                            <a:srgbClr val="6B6F76"/>
                          </a:solidFill>
                          <a:latin typeface="Calibri"/>
                        </a:rPr>
                        <a:t>FastAPI service, Streamlit console, drift monitor, evaluation</a:t>
                      </a:r>
                    </a:p>
                  </a:txBody>
                  <a:tcPr marL="82296" marR="82296" marT="18288" marB="18288" anchor="ctr">
                    <a:noFill/>
                  </a:tcPr>
                </a:tc>
              </a:tr>
            </a:tbl>
          </a:graphicData>
        </a:graphic>
      </p:graphicFrame>
      <p:sp>
        <p:nvSpPr>
          <p:cNvPr id="10" name="Rounded Rectangle 9"/>
          <p:cNvSpPr/>
          <p:nvPr/>
        </p:nvSpPr>
        <p:spPr>
          <a:xfrm>
            <a:off x="685800" y="3310128"/>
            <a:ext cx="5257800" cy="1188720"/>
          </a:xfrm>
          <a:prstGeom prst="roundRect">
            <a:avLst>
              <a:gd name="adj" fmla="val 5000"/>
            </a:avLst>
          </a:prstGeom>
          <a:solidFill>
            <a:srgbClr val="F5F3EF"/>
          </a:solidFill>
          <a:ln w="12700">
            <a:solidFill>
              <a:srgbClr val="DEDAD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1" name="TextBox 10"/>
          <p:cNvSpPr txBox="1"/>
          <p:nvPr/>
        </p:nvSpPr>
        <p:spPr>
          <a:xfrm>
            <a:off x="941832" y="3456432"/>
            <a:ext cx="4754880" cy="201168"/>
          </a:xfrm>
          <a:prstGeom prst="rect">
            <a:avLst/>
          </a:prstGeom>
          <a:noFill/>
        </p:spPr>
        <p:txBody>
          <a:bodyPr wrap="square" lIns="0" rIns="0" tIns="0" bIns="0" anchor="t">
            <a:spAutoFit/>
          </a:bodyPr>
          <a:lstStyle/>
          <a:p>
            <a:pPr algn="l">
              <a:spcBef>
                <a:spcPts val="0"/>
              </a:spcBef>
              <a:spcAft>
                <a:spcPts val="0"/>
              </a:spcAft>
            </a:pPr>
            <a:r>
              <a:rPr sz="900" b="1" i="0">
                <a:solidFill>
                  <a:srgbClr val="0B6E63"/>
                </a:solidFill>
                <a:latin typeface="Calibri"/>
              </a:rPr>
              <a:t>PROJECT GUIDE</a:t>
            </a:r>
          </a:p>
        </p:txBody>
      </p:sp>
      <p:sp>
        <p:nvSpPr>
          <p:cNvPr id="12" name="TextBox 11"/>
          <p:cNvSpPr txBox="1"/>
          <p:nvPr/>
        </p:nvSpPr>
        <p:spPr>
          <a:xfrm>
            <a:off x="941832" y="3675888"/>
            <a:ext cx="4754880" cy="274320"/>
          </a:xfrm>
          <a:prstGeom prst="rect">
            <a:avLst/>
          </a:prstGeom>
          <a:noFill/>
        </p:spPr>
        <p:txBody>
          <a:bodyPr wrap="square" lIns="0" rIns="0" tIns="0" bIns="0" anchor="t">
            <a:spAutoFit/>
          </a:bodyPr>
          <a:lstStyle/>
          <a:p>
            <a:pPr algn="l">
              <a:spcBef>
                <a:spcPts val="0"/>
              </a:spcBef>
              <a:spcAft>
                <a:spcPts val="0"/>
              </a:spcAft>
            </a:pPr>
            <a:r>
              <a:rPr sz="1500" b="1" i="0">
                <a:solidFill>
                  <a:srgbClr val="14181D"/>
                </a:solidFill>
                <a:latin typeface="Georgia"/>
              </a:rPr>
              <a:t>Dr. PARVEZ</a:t>
            </a:r>
          </a:p>
        </p:txBody>
      </p:sp>
      <p:sp>
        <p:nvSpPr>
          <p:cNvPr id="13" name="TextBox 12"/>
          <p:cNvSpPr txBox="1"/>
          <p:nvPr/>
        </p:nvSpPr>
        <p:spPr>
          <a:xfrm>
            <a:off x="941832" y="3968496"/>
            <a:ext cx="4754880" cy="384048"/>
          </a:xfrm>
          <a:prstGeom prst="rect">
            <a:avLst/>
          </a:prstGeom>
          <a:noFill/>
        </p:spPr>
        <p:txBody>
          <a:bodyPr wrap="square" lIns="0" rIns="0" tIns="0" bIns="0" anchor="t">
            <a:spAutoFit/>
          </a:bodyPr>
          <a:lstStyle/>
          <a:p>
            <a:pPr algn="l">
              <a:spcBef>
                <a:spcPts val="0"/>
              </a:spcBef>
              <a:spcAft>
                <a:spcPts val="0"/>
              </a:spcAft>
            </a:pPr>
            <a:r>
              <a:rPr sz="1050" b="0" i="0">
                <a:solidFill>
                  <a:srgbClr val="6B6F76"/>
                </a:solidFill>
                <a:latin typeface="Calibri"/>
              </a:rPr>
              <a:t>Associate Professor, Department of CSE</a:t>
            </a:r>
          </a:p>
        </p:txBody>
      </p:sp>
      <p:sp>
        <p:nvSpPr>
          <p:cNvPr id="14" name="Rounded Rectangle 13"/>
          <p:cNvSpPr/>
          <p:nvPr/>
        </p:nvSpPr>
        <p:spPr>
          <a:xfrm>
            <a:off x="6153912" y="3310128"/>
            <a:ext cx="5351983" cy="1188720"/>
          </a:xfrm>
          <a:prstGeom prst="roundRect">
            <a:avLst>
              <a:gd name="adj" fmla="val 5000"/>
            </a:avLst>
          </a:prstGeom>
          <a:solidFill>
            <a:srgbClr val="F5F3EF"/>
          </a:solidFill>
          <a:ln w="12700">
            <a:solidFill>
              <a:srgbClr val="DEDAD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5" name="TextBox 14"/>
          <p:cNvSpPr txBox="1"/>
          <p:nvPr/>
        </p:nvSpPr>
        <p:spPr>
          <a:xfrm>
            <a:off x="6409944" y="3456432"/>
            <a:ext cx="4785055" cy="201168"/>
          </a:xfrm>
          <a:prstGeom prst="rect">
            <a:avLst/>
          </a:prstGeom>
          <a:noFill/>
        </p:spPr>
        <p:txBody>
          <a:bodyPr wrap="square" lIns="0" rIns="0" tIns="0" bIns="0" anchor="t">
            <a:spAutoFit/>
          </a:bodyPr>
          <a:lstStyle/>
          <a:p>
            <a:pPr algn="l">
              <a:spcBef>
                <a:spcPts val="0"/>
              </a:spcBef>
              <a:spcAft>
                <a:spcPts val="0"/>
              </a:spcAft>
            </a:pPr>
            <a:r>
              <a:rPr sz="900" b="1" i="0">
                <a:solidFill>
                  <a:srgbClr val="0B6E63"/>
                </a:solidFill>
                <a:latin typeface="Calibri"/>
              </a:rPr>
              <a:t>INDUSTRY MENTOR</a:t>
            </a:r>
          </a:p>
        </p:txBody>
      </p:sp>
      <p:sp>
        <p:nvSpPr>
          <p:cNvPr id="16" name="TextBox 15"/>
          <p:cNvSpPr txBox="1"/>
          <p:nvPr/>
        </p:nvSpPr>
        <p:spPr>
          <a:xfrm>
            <a:off x="6409944" y="3675888"/>
            <a:ext cx="4785055" cy="658368"/>
          </a:xfrm>
          <a:prstGeom prst="rect">
            <a:avLst/>
          </a:prstGeom>
          <a:noFill/>
        </p:spPr>
        <p:txBody>
          <a:bodyPr wrap="square" lIns="0" rIns="0" tIns="0" bIns="0" anchor="t">
            <a:spAutoFit/>
          </a:bodyPr>
          <a:lstStyle/>
          <a:p>
            <a:pPr algn="l">
              <a:lnSpc>
                <a:spcPct val="125000"/>
              </a:lnSpc>
              <a:spcBef>
                <a:spcPts val="0"/>
              </a:spcBef>
              <a:spcAft>
                <a:spcPts val="0"/>
              </a:spcAft>
            </a:pPr>
            <a:r>
              <a:rPr sz="1000" b="0" i="0">
                <a:solidFill>
                  <a:srgbClr val="6B6F76"/>
                </a:solidFill>
                <a:latin typeface="Calibri"/>
              </a:rPr>
              <a:t>A practising industry expert from a HYSEA member company, who reviewed the capstone and gave feedback on the triage pipeline and its evaluation.</a:t>
            </a:r>
          </a:p>
        </p:txBody>
      </p:sp>
      <p:sp>
        <p:nvSpPr>
          <p:cNvPr id="17" name="TextBox 16"/>
          <p:cNvSpPr txBox="1"/>
          <p:nvPr/>
        </p:nvSpPr>
        <p:spPr>
          <a:xfrm>
            <a:off x="685800" y="4626864"/>
            <a:ext cx="10820095" cy="237744"/>
          </a:xfrm>
          <a:prstGeom prst="rect">
            <a:avLst/>
          </a:prstGeom>
          <a:noFill/>
        </p:spPr>
        <p:txBody>
          <a:bodyPr wrap="square" lIns="0" rIns="0" tIns="0" bIns="0" anchor="t">
            <a:spAutoFit/>
          </a:bodyPr>
          <a:lstStyle/>
          <a:p>
            <a:pPr algn="l">
              <a:spcBef>
                <a:spcPts val="0"/>
              </a:spcBef>
              <a:spcAft>
                <a:spcPts val="0"/>
              </a:spcAft>
            </a:pPr>
            <a:r>
              <a:rPr sz="950" b="0" i="0">
                <a:solidFill>
                  <a:srgbClr val="9C978E"/>
                </a:solidFill>
                <a:latin typeface="Calibri"/>
              </a:rPr>
              <a:t>Submitted to Jawaharlal Nehru Technological University Hyderabad in partial fulfilment of the requirements for the degree of Bachelor of Technology in Computer Science and Engineering.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515600" cy="201168"/>
          </a:xfrm>
          <a:prstGeom prst="rect">
            <a:avLst/>
          </a:prstGeom>
          <a:noFill/>
        </p:spPr>
        <p:txBody>
          <a:bodyPr wrap="square" lIns="0" rIns="0" tIns="0" bIns="0" anchor="t">
            <a:spAutoFit/>
          </a:bodyPr>
          <a:lstStyle/>
          <a:p>
            <a:pPr algn="l">
              <a:spcBef>
                <a:spcPts val="0"/>
              </a:spcBef>
              <a:spcAft>
                <a:spcPts val="0"/>
              </a:spcAft>
            </a:pPr>
            <a:r>
              <a:rPr sz="950" b="1" i="0">
                <a:solidFill>
                  <a:srgbClr val="0B6E63"/>
                </a:solidFill>
                <a:latin typeface="Calibri"/>
              </a:rPr>
              <a:t>PROBLEM STATEMENT</a:t>
            </a:r>
          </a:p>
        </p:txBody>
      </p:sp>
      <p:sp>
        <p:nvSpPr>
          <p:cNvPr id="4" name="TextBox 3"/>
          <p:cNvSpPr txBox="1"/>
          <p:nvPr/>
        </p:nvSpPr>
        <p:spPr>
          <a:xfrm>
            <a:off x="685800" y="548640"/>
            <a:ext cx="10820095" cy="585216"/>
          </a:xfrm>
          <a:prstGeom prst="rect">
            <a:avLst/>
          </a:prstGeom>
          <a:noFill/>
        </p:spPr>
        <p:txBody>
          <a:bodyPr wrap="square" lIns="0" rIns="0" tIns="0" bIns="0" anchor="t">
            <a:spAutoFit/>
          </a:bodyPr>
          <a:lstStyle/>
          <a:p>
            <a:pPr algn="l">
              <a:lnSpc>
                <a:spcPct val="104000"/>
              </a:lnSpc>
              <a:spcBef>
                <a:spcPts val="0"/>
              </a:spcBef>
              <a:spcAft>
                <a:spcPts val="0"/>
              </a:spcAft>
            </a:pPr>
            <a:r>
              <a:rPr sz="2100" b="0" i="0">
                <a:solidFill>
                  <a:srgbClr val="14181D"/>
                </a:solidFill>
                <a:latin typeface="Georgia"/>
              </a:rPr>
              <a:t>Nobody can staff a queue per intent. The label space is not the problem space.</a:t>
            </a:r>
          </a:p>
        </p:txBody>
      </p:sp>
      <p:sp>
        <p:nvSpPr>
          <p:cNvPr id="5" name="TextBox 4"/>
          <p:cNvSpPr txBox="1"/>
          <p:nvPr/>
        </p:nvSpPr>
        <p:spPr>
          <a:xfrm>
            <a:off x="685800" y="1170432"/>
            <a:ext cx="10820095" cy="256032"/>
          </a:xfrm>
          <a:prstGeom prst="rect">
            <a:avLst/>
          </a:prstGeom>
          <a:noFill/>
        </p:spPr>
        <p:txBody>
          <a:bodyPr wrap="square" lIns="0" rIns="0" tIns="0" bIns="0" anchor="t">
            <a:spAutoFit/>
          </a:bodyPr>
          <a:lstStyle/>
          <a:p>
            <a:pPr algn="l">
              <a:lnSpc>
                <a:spcPct val="112000"/>
              </a:lnSpc>
              <a:spcBef>
                <a:spcPts val="0"/>
              </a:spcBef>
              <a:spcAft>
                <a:spcPts val="0"/>
              </a:spcAft>
            </a:pPr>
            <a:r>
              <a:rPr sz="1150" b="0" i="0">
                <a:solidFill>
                  <a:srgbClr val="6B6F76"/>
                </a:solidFill>
                <a:latin typeface="Calibri"/>
              </a:rPr>
              <a:t>Banking77: 13,083 real banking queries, 77 fine-grained intents, written by actual customers.</a:t>
            </a:r>
          </a:p>
        </p:txBody>
      </p:sp>
      <p:sp>
        <p:nvSpPr>
          <p:cNvPr id="6" name="Rectangle 5"/>
          <p:cNvSpPr/>
          <p:nvPr/>
        </p:nvSpPr>
        <p:spPr>
          <a:xfrm>
            <a:off x="685800" y="1463040"/>
            <a:ext cx="10820095" cy="1143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55664"/>
            <a:ext cx="5486400" cy="201168"/>
          </a:xfrm>
          <a:prstGeom prst="rect">
            <a:avLst/>
          </a:prstGeom>
          <a:noFill/>
        </p:spPr>
        <p:txBody>
          <a:bodyPr wrap="square" lIns="0" rIns="0" tIns="0" bIns="0" anchor="t">
            <a:spAutoFit/>
          </a:bodyPr>
          <a:lstStyle/>
          <a:p>
            <a:pPr algn="l">
              <a:spcBef>
                <a:spcPts val="0"/>
              </a:spcBef>
              <a:spcAft>
                <a:spcPts val="0"/>
              </a:spcAft>
            </a:pPr>
            <a:r>
              <a:rPr sz="850" b="0" i="0">
                <a:solidFill>
                  <a:srgbClr val="9C978E"/>
                </a:solidFill>
                <a:latin typeface="Calibri"/>
              </a:rPr>
              <a:t>DRONA · Banking77 ticket triage · all figures from artifacts/reports/</a:t>
            </a:r>
          </a:p>
        </p:txBody>
      </p:sp>
      <p:sp>
        <p:nvSpPr>
          <p:cNvPr id="8" name="TextBox 7"/>
          <p:cNvSpPr txBox="1"/>
          <p:nvPr/>
        </p:nvSpPr>
        <p:spPr>
          <a:xfrm>
            <a:off x="9144000" y="6455664"/>
            <a:ext cx="2361895" cy="201168"/>
          </a:xfrm>
          <a:prstGeom prst="rect">
            <a:avLst/>
          </a:prstGeom>
          <a:noFill/>
        </p:spPr>
        <p:txBody>
          <a:bodyPr wrap="square" lIns="0" rIns="0" tIns="0" bIns="0" anchor="t">
            <a:spAutoFit/>
          </a:bodyPr>
          <a:lstStyle/>
          <a:p>
            <a:pPr algn="r">
              <a:spcBef>
                <a:spcPts val="0"/>
              </a:spcBef>
              <a:spcAft>
                <a:spcPts val="0"/>
              </a:spcAft>
            </a:pPr>
            <a:r>
              <a:rPr sz="850" b="0" i="0">
                <a:solidFill>
                  <a:srgbClr val="9C978E"/>
                </a:solidFill>
                <a:latin typeface="Calibri"/>
              </a:rPr>
              <a:t>3</a:t>
            </a:r>
          </a:p>
        </p:txBody>
      </p:sp>
      <p:sp>
        <p:nvSpPr>
          <p:cNvPr id="9" name="Rounded Rectangle 8"/>
          <p:cNvSpPr/>
          <p:nvPr/>
        </p:nvSpPr>
        <p:spPr>
          <a:xfrm>
            <a:off x="685800" y="1627632"/>
            <a:ext cx="5208879" cy="1280160"/>
          </a:xfrm>
          <a:prstGeom prst="roundRect">
            <a:avLst>
              <a:gd name="adj" fmla="val 5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0" name="Rounded Rectangle 9"/>
          <p:cNvSpPr/>
          <p:nvPr/>
        </p:nvSpPr>
        <p:spPr>
          <a:xfrm>
            <a:off x="685800" y="1627632"/>
            <a:ext cx="50292" cy="1280160"/>
          </a:xfrm>
          <a:prstGeom prst="roundRect">
            <a:avLst>
              <a:gd name="adj" fmla="val 0"/>
            </a:avLst>
          </a:prstGeom>
          <a:solidFill>
            <a:srgbClr val="B04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1" name="TextBox 10"/>
          <p:cNvSpPr txBox="1"/>
          <p:nvPr/>
        </p:nvSpPr>
        <p:spPr>
          <a:xfrm>
            <a:off x="978408" y="1810512"/>
            <a:ext cx="4641951" cy="256032"/>
          </a:xfrm>
          <a:prstGeom prst="rect">
            <a:avLst/>
          </a:prstGeom>
          <a:noFill/>
        </p:spPr>
        <p:txBody>
          <a:bodyPr wrap="square" lIns="0" rIns="0" tIns="0" bIns="0" anchor="t">
            <a:spAutoFit/>
          </a:bodyPr>
          <a:lstStyle/>
          <a:p>
            <a:pPr algn="l">
              <a:spcBef>
                <a:spcPts val="0"/>
              </a:spcBef>
              <a:spcAft>
                <a:spcPts val="0"/>
              </a:spcAft>
            </a:pPr>
            <a:r>
              <a:rPr sz="1200" b="1" i="0">
                <a:solidFill>
                  <a:srgbClr val="B04A1F"/>
                </a:solidFill>
                <a:latin typeface="Calibri"/>
              </a:rPr>
              <a:t>1  </a:t>
            </a:r>
            <a:r>
              <a:rPr sz="1250" b="1" i="0">
                <a:solidFill>
                  <a:srgbClr val="14181D"/>
                </a:solidFill>
                <a:latin typeface="Calibri"/>
              </a:rPr>
              <a:t>77 intents, ~8 real queues</a:t>
            </a:r>
          </a:p>
        </p:txBody>
      </p:sp>
      <p:sp>
        <p:nvSpPr>
          <p:cNvPr id="12" name="TextBox 11"/>
          <p:cNvSpPr txBox="1"/>
          <p:nvPr/>
        </p:nvSpPr>
        <p:spPr>
          <a:xfrm>
            <a:off x="978408" y="2103120"/>
            <a:ext cx="4641951" cy="713232"/>
          </a:xfrm>
          <a:prstGeom prst="rect">
            <a:avLst/>
          </a:prstGeom>
          <a:noFill/>
        </p:spPr>
        <p:txBody>
          <a:bodyPr wrap="square" lIns="0" rIns="0" tIns="0" bIns="0" anchor="t">
            <a:spAutoFit/>
          </a:bodyPr>
          <a:lstStyle/>
          <a:p>
            <a:pPr algn="l">
              <a:lnSpc>
                <a:spcPct val="130000"/>
              </a:lnSpc>
              <a:spcBef>
                <a:spcPts val="0"/>
              </a:spcBef>
              <a:spcAft>
                <a:spcPts val="0"/>
              </a:spcAft>
            </a:pPr>
            <a:r>
              <a:rPr sz="1000" b="0" i="0">
                <a:solidFill>
                  <a:srgbClr val="6B6F76"/>
                </a:solidFill>
                <a:latin typeface="Calibri"/>
              </a:rPr>
              <a:t>77 intents collapse to 11 business categories. Routing to the fine label is not an option — no support organisation staffs it.</a:t>
            </a:r>
          </a:p>
        </p:txBody>
      </p:sp>
      <p:sp>
        <p:nvSpPr>
          <p:cNvPr id="13" name="Rounded Rectangle 12"/>
          <p:cNvSpPr/>
          <p:nvPr/>
        </p:nvSpPr>
        <p:spPr>
          <a:xfrm>
            <a:off x="6297015" y="1627632"/>
            <a:ext cx="5208879" cy="1280160"/>
          </a:xfrm>
          <a:prstGeom prst="roundRect">
            <a:avLst>
              <a:gd name="adj" fmla="val 5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4" name="Rounded Rectangle 13"/>
          <p:cNvSpPr/>
          <p:nvPr/>
        </p:nvSpPr>
        <p:spPr>
          <a:xfrm>
            <a:off x="6297015" y="1627632"/>
            <a:ext cx="50292" cy="1280160"/>
          </a:xfrm>
          <a:prstGeom prst="roundRect">
            <a:avLst>
              <a:gd name="adj" fmla="val 0"/>
            </a:avLst>
          </a:prstGeom>
          <a:solidFill>
            <a:srgbClr val="B04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5" name="TextBox 14"/>
          <p:cNvSpPr txBox="1"/>
          <p:nvPr/>
        </p:nvSpPr>
        <p:spPr>
          <a:xfrm>
            <a:off x="6589623" y="1810512"/>
            <a:ext cx="4641951" cy="256032"/>
          </a:xfrm>
          <a:prstGeom prst="rect">
            <a:avLst/>
          </a:prstGeom>
          <a:noFill/>
        </p:spPr>
        <p:txBody>
          <a:bodyPr wrap="square" lIns="0" rIns="0" tIns="0" bIns="0" anchor="t">
            <a:spAutoFit/>
          </a:bodyPr>
          <a:lstStyle/>
          <a:p>
            <a:pPr algn="l">
              <a:spcBef>
                <a:spcPts val="0"/>
              </a:spcBef>
              <a:spcAft>
                <a:spcPts val="0"/>
              </a:spcAft>
            </a:pPr>
            <a:r>
              <a:rPr sz="1200" b="1" i="0">
                <a:solidFill>
                  <a:srgbClr val="B04A1F"/>
                </a:solidFill>
                <a:latin typeface="Calibri"/>
              </a:rPr>
              <a:t>2  </a:t>
            </a:r>
            <a:r>
              <a:rPr sz="1250" b="1" i="0">
                <a:solidFill>
                  <a:srgbClr val="14181D"/>
                </a:solidFill>
                <a:latin typeface="Calibri"/>
              </a:rPr>
              <a:t>19.0:1 class imbalance</a:t>
            </a:r>
          </a:p>
        </p:txBody>
      </p:sp>
      <p:sp>
        <p:nvSpPr>
          <p:cNvPr id="16" name="TextBox 15"/>
          <p:cNvSpPr txBox="1"/>
          <p:nvPr/>
        </p:nvSpPr>
        <p:spPr>
          <a:xfrm>
            <a:off x="6589623" y="2103120"/>
            <a:ext cx="4641951" cy="713232"/>
          </a:xfrm>
          <a:prstGeom prst="rect">
            <a:avLst/>
          </a:prstGeom>
          <a:noFill/>
        </p:spPr>
        <p:txBody>
          <a:bodyPr wrap="square" lIns="0" rIns="0" tIns="0" bIns="0" anchor="t">
            <a:spAutoFit/>
          </a:bodyPr>
          <a:lstStyle/>
          <a:p>
            <a:pPr algn="l">
              <a:lnSpc>
                <a:spcPct val="130000"/>
              </a:lnSpc>
              <a:spcBef>
                <a:spcPts val="0"/>
              </a:spcBef>
              <a:spcAft>
                <a:spcPts val="0"/>
              </a:spcAft>
            </a:pPr>
            <a:r>
              <a:rPr sz="1000" b="0" i="0">
                <a:solidFill>
                  <a:srgbClr val="6B6F76"/>
                </a:solidFill>
                <a:latin typeface="Calibri"/>
              </a:rPr>
              <a:t>In the 1,963-ticket test split the largest category, payment_failure, holds 552 tickets and the smallest, other, holds 29. Accuracy alone is uninformative: always answering payment_failure alone already scores 28.12%.</a:t>
            </a:r>
          </a:p>
        </p:txBody>
      </p:sp>
      <p:sp>
        <p:nvSpPr>
          <p:cNvPr id="17" name="Rounded Rectangle 16"/>
          <p:cNvSpPr/>
          <p:nvPr/>
        </p:nvSpPr>
        <p:spPr>
          <a:xfrm>
            <a:off x="685800" y="3108960"/>
            <a:ext cx="5208879" cy="1280160"/>
          </a:xfrm>
          <a:prstGeom prst="roundRect">
            <a:avLst>
              <a:gd name="adj" fmla="val 5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8" name="Rounded Rectangle 17"/>
          <p:cNvSpPr/>
          <p:nvPr/>
        </p:nvSpPr>
        <p:spPr>
          <a:xfrm>
            <a:off x="685800" y="3108960"/>
            <a:ext cx="50292" cy="1280160"/>
          </a:xfrm>
          <a:prstGeom prst="roundRect">
            <a:avLst>
              <a:gd name="adj" fmla="val 0"/>
            </a:avLst>
          </a:prstGeom>
          <a:solidFill>
            <a:srgbClr val="B04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9" name="TextBox 18"/>
          <p:cNvSpPr txBox="1"/>
          <p:nvPr/>
        </p:nvSpPr>
        <p:spPr>
          <a:xfrm>
            <a:off x="978408" y="3291840"/>
            <a:ext cx="4641951" cy="256032"/>
          </a:xfrm>
          <a:prstGeom prst="rect">
            <a:avLst/>
          </a:prstGeom>
          <a:noFill/>
        </p:spPr>
        <p:txBody>
          <a:bodyPr wrap="square" lIns="0" rIns="0" tIns="0" bIns="0" anchor="t">
            <a:spAutoFit/>
          </a:bodyPr>
          <a:lstStyle/>
          <a:p>
            <a:pPr algn="l">
              <a:spcBef>
                <a:spcPts val="0"/>
              </a:spcBef>
              <a:spcAft>
                <a:spcPts val="0"/>
              </a:spcAft>
            </a:pPr>
            <a:r>
              <a:rPr sz="1200" b="1" i="0">
                <a:solidFill>
                  <a:srgbClr val="B04A1F"/>
                </a:solidFill>
                <a:latin typeface="Calibri"/>
              </a:rPr>
              <a:t>3  </a:t>
            </a:r>
            <a:r>
              <a:rPr sz="1250" b="1" i="0">
                <a:solidFill>
                  <a:srgbClr val="14181D"/>
                </a:solidFill>
                <a:latin typeface="Calibri"/>
              </a:rPr>
              <a:t>High-consequence errors</a:t>
            </a:r>
          </a:p>
        </p:txBody>
      </p:sp>
      <p:sp>
        <p:nvSpPr>
          <p:cNvPr id="20" name="TextBox 19"/>
          <p:cNvSpPr txBox="1"/>
          <p:nvPr/>
        </p:nvSpPr>
        <p:spPr>
          <a:xfrm>
            <a:off x="978408" y="3584448"/>
            <a:ext cx="4641951" cy="713232"/>
          </a:xfrm>
          <a:prstGeom prst="rect">
            <a:avLst/>
          </a:prstGeom>
          <a:noFill/>
        </p:spPr>
        <p:txBody>
          <a:bodyPr wrap="square" lIns="0" rIns="0" tIns="0" bIns="0" anchor="t">
            <a:spAutoFit/>
          </a:bodyPr>
          <a:lstStyle/>
          <a:p>
            <a:pPr algn="l">
              <a:lnSpc>
                <a:spcPct val="130000"/>
              </a:lnSpc>
              <a:spcBef>
                <a:spcPts val="0"/>
              </a:spcBef>
              <a:spcAft>
                <a:spcPts val="0"/>
              </a:spcAft>
            </a:pPr>
            <a:r>
              <a:rPr sz="1000" b="0" i="0">
                <a:solidFill>
                  <a:srgbClr val="6B6F76"/>
                </a:solidFill>
                <a:latin typeface="Calibri"/>
              </a:rPr>
              <a:t>A missed fraud ticket is a regulatory incident. A wrong priority misroutes a customer who is already angry. Both are expensive, and neither shows up in F1.</a:t>
            </a:r>
          </a:p>
        </p:txBody>
      </p:sp>
      <p:sp>
        <p:nvSpPr>
          <p:cNvPr id="21" name="Rounded Rectangle 20"/>
          <p:cNvSpPr/>
          <p:nvPr/>
        </p:nvSpPr>
        <p:spPr>
          <a:xfrm>
            <a:off x="6297015" y="3108960"/>
            <a:ext cx="5208879" cy="1280160"/>
          </a:xfrm>
          <a:prstGeom prst="roundRect">
            <a:avLst>
              <a:gd name="adj" fmla="val 5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2" name="Rounded Rectangle 21"/>
          <p:cNvSpPr/>
          <p:nvPr/>
        </p:nvSpPr>
        <p:spPr>
          <a:xfrm>
            <a:off x="6297015" y="3108960"/>
            <a:ext cx="50292" cy="1280160"/>
          </a:xfrm>
          <a:prstGeom prst="roundRect">
            <a:avLst>
              <a:gd name="adj" fmla="val 0"/>
            </a:avLst>
          </a:prstGeom>
          <a:solidFill>
            <a:srgbClr val="B04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3" name="TextBox 22"/>
          <p:cNvSpPr txBox="1"/>
          <p:nvPr/>
        </p:nvSpPr>
        <p:spPr>
          <a:xfrm>
            <a:off x="6589623" y="3291840"/>
            <a:ext cx="4641951" cy="256032"/>
          </a:xfrm>
          <a:prstGeom prst="rect">
            <a:avLst/>
          </a:prstGeom>
          <a:noFill/>
        </p:spPr>
        <p:txBody>
          <a:bodyPr wrap="square" lIns="0" rIns="0" tIns="0" bIns="0" anchor="t">
            <a:spAutoFit/>
          </a:bodyPr>
          <a:lstStyle/>
          <a:p>
            <a:pPr algn="l">
              <a:spcBef>
                <a:spcPts val="0"/>
              </a:spcBef>
              <a:spcAft>
                <a:spcPts val="0"/>
              </a:spcAft>
            </a:pPr>
            <a:r>
              <a:rPr sz="1200" b="1" i="0">
                <a:solidFill>
                  <a:srgbClr val="B04A1F"/>
                </a:solidFill>
                <a:latin typeface="Calibri"/>
              </a:rPr>
              <a:t>4  </a:t>
            </a:r>
            <a:r>
              <a:rPr sz="1250" b="1" i="0">
                <a:solidFill>
                  <a:srgbClr val="14181D"/>
                </a:solidFill>
                <a:latin typeface="Calibri"/>
              </a:rPr>
              <a:t>No safe way to abstain</a:t>
            </a:r>
          </a:p>
        </p:txBody>
      </p:sp>
      <p:sp>
        <p:nvSpPr>
          <p:cNvPr id="24" name="TextBox 23"/>
          <p:cNvSpPr txBox="1"/>
          <p:nvPr/>
        </p:nvSpPr>
        <p:spPr>
          <a:xfrm>
            <a:off x="6589623" y="3584448"/>
            <a:ext cx="4641951" cy="713232"/>
          </a:xfrm>
          <a:prstGeom prst="rect">
            <a:avLst/>
          </a:prstGeom>
          <a:noFill/>
        </p:spPr>
        <p:txBody>
          <a:bodyPr wrap="square" lIns="0" rIns="0" tIns="0" bIns="0" anchor="t">
            <a:spAutoFit/>
          </a:bodyPr>
          <a:lstStyle/>
          <a:p>
            <a:pPr algn="l">
              <a:lnSpc>
                <a:spcPct val="130000"/>
              </a:lnSpc>
              <a:spcBef>
                <a:spcPts val="0"/>
              </a:spcBef>
              <a:spcAft>
                <a:spcPts val="0"/>
              </a:spcAft>
            </a:pPr>
            <a:r>
              <a:rPr sz="1000" b="0" i="0">
                <a:solidFill>
                  <a:srgbClr val="6B6F76"/>
                </a:solidFill>
                <a:latin typeface="Calibri"/>
              </a:rPr>
              <a:t>The transformer tops accuracy at 94.91% but macro-F1 is only 94.07%: it is being carried by the majority class. And it buys that 0.84% for 3.2x the latency.</a:t>
            </a:r>
          </a:p>
        </p:txBody>
      </p:sp>
      <p:sp>
        <p:nvSpPr>
          <p:cNvPr id="25" name="Rounded Rectangle 24"/>
          <p:cNvSpPr/>
          <p:nvPr/>
        </p:nvSpPr>
        <p:spPr>
          <a:xfrm>
            <a:off x="685800" y="4773168"/>
            <a:ext cx="10820095" cy="1316736"/>
          </a:xfrm>
          <a:prstGeom prst="roundRect">
            <a:avLst>
              <a:gd name="adj" fmla="val 5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6" name="TextBox 25"/>
          <p:cNvSpPr txBox="1"/>
          <p:nvPr/>
        </p:nvSpPr>
        <p:spPr>
          <a:xfrm>
            <a:off x="996696" y="4956048"/>
            <a:ext cx="2743200" cy="237744"/>
          </a:xfrm>
          <a:prstGeom prst="rect">
            <a:avLst/>
          </a:prstGeom>
          <a:noFill/>
        </p:spPr>
        <p:txBody>
          <a:bodyPr wrap="square" lIns="0" rIns="0" tIns="0" bIns="0" anchor="t">
            <a:spAutoFit/>
          </a:bodyPr>
          <a:lstStyle/>
          <a:p>
            <a:pPr algn="l">
              <a:spcBef>
                <a:spcPts val="0"/>
              </a:spcBef>
              <a:spcAft>
                <a:spcPts val="0"/>
              </a:spcAft>
            </a:pPr>
            <a:r>
              <a:rPr sz="950" b="1" i="0">
                <a:solidFill>
                  <a:srgbClr val="F7E6DC"/>
                </a:solidFill>
                <a:latin typeface="Calibri"/>
              </a:rPr>
              <a:t>AND THE PROBLEM WITH THE QUESTION</a:t>
            </a:r>
          </a:p>
        </p:txBody>
      </p:sp>
      <p:sp>
        <p:nvSpPr>
          <p:cNvPr id="27" name="TextBox 26"/>
          <p:cNvSpPr txBox="1"/>
          <p:nvPr/>
        </p:nvSpPr>
        <p:spPr>
          <a:xfrm>
            <a:off x="996696" y="5212079"/>
            <a:ext cx="10198303" cy="786384"/>
          </a:xfrm>
          <a:prstGeom prst="rect">
            <a:avLst/>
          </a:prstGeom>
          <a:noFill/>
        </p:spPr>
        <p:txBody>
          <a:bodyPr wrap="square" lIns="0" rIns="0" tIns="0" bIns="0" anchor="t">
            <a:spAutoFit/>
          </a:bodyPr>
          <a:lstStyle/>
          <a:p>
            <a:pPr algn="l">
              <a:lnSpc>
                <a:spcPct val="134000"/>
              </a:lnSpc>
              <a:spcBef>
                <a:spcPts val="0"/>
              </a:spcBef>
              <a:spcAft>
                <a:spcPts val="0"/>
              </a:spcAft>
            </a:pPr>
            <a:r>
              <a:rPr sz="1150" b="0" i="0">
                <a:solidFill>
                  <a:srgbClr val="FFFFFF"/>
                </a:solidFill>
                <a:latin typeface="Calibri"/>
              </a:rPr>
              <a:t>The brief asked us to beat </a:t>
            </a:r>
            <a:r>
              <a:rPr sz="1150" b="0" i="1">
                <a:solidFill>
                  <a:srgbClr val="FFFFFF"/>
                </a:solidFill>
                <a:latin typeface="Calibri"/>
              </a:rPr>
              <a:t>accuracy</a:t>
            </a:r>
            <a:r>
              <a:rPr sz="1150" b="0" i="0">
                <a:solidFill>
                  <a:srgbClr val="FFFFFF"/>
                </a:solidFill>
                <a:latin typeface="Calibri"/>
              </a:rPr>
              <a:t>. We took that as the starting question and found it was the wrong one. A system that is right 94.9% of the time and confidently wrong on the rare fraud categories is worse to deploy than one that is right 94.6% of the time and refuses to guess on the rest. </a:t>
            </a:r>
            <a:r>
              <a:rPr sz="1150" b="1" i="0">
                <a:solidFill>
                  <a:srgbClr val="DDECE9"/>
                </a:solidFill>
                <a:latin typeface="Calibri"/>
              </a:rPr>
              <a:t>Everything we built after that is about making the refusal safe.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515600" cy="201168"/>
          </a:xfrm>
          <a:prstGeom prst="rect">
            <a:avLst/>
          </a:prstGeom>
          <a:noFill/>
        </p:spPr>
        <p:txBody>
          <a:bodyPr wrap="square" lIns="0" rIns="0" tIns="0" bIns="0" anchor="t">
            <a:spAutoFit/>
          </a:bodyPr>
          <a:lstStyle/>
          <a:p>
            <a:pPr algn="l">
              <a:spcBef>
                <a:spcPts val="0"/>
              </a:spcBef>
              <a:spcAft>
                <a:spcPts val="0"/>
              </a:spcAft>
            </a:pPr>
            <a:r>
              <a:rPr sz="950" b="1" i="0">
                <a:solidFill>
                  <a:srgbClr val="0B6E63"/>
                </a:solidFill>
                <a:latin typeface="Calibri"/>
              </a:rPr>
              <a:t>OBJECTIVES</a:t>
            </a:r>
          </a:p>
        </p:txBody>
      </p:sp>
      <p:sp>
        <p:nvSpPr>
          <p:cNvPr id="4" name="TextBox 3"/>
          <p:cNvSpPr txBox="1"/>
          <p:nvPr/>
        </p:nvSpPr>
        <p:spPr>
          <a:xfrm>
            <a:off x="685800" y="548640"/>
            <a:ext cx="10820095" cy="585216"/>
          </a:xfrm>
          <a:prstGeom prst="rect">
            <a:avLst/>
          </a:prstGeom>
          <a:noFill/>
        </p:spPr>
        <p:txBody>
          <a:bodyPr wrap="square" lIns="0" rIns="0" tIns="0" bIns="0" anchor="t">
            <a:spAutoFit/>
          </a:bodyPr>
          <a:lstStyle/>
          <a:p>
            <a:pPr algn="l">
              <a:lnSpc>
                <a:spcPct val="104000"/>
              </a:lnSpc>
              <a:spcBef>
                <a:spcPts val="0"/>
              </a:spcBef>
              <a:spcAft>
                <a:spcPts val="0"/>
              </a:spcAft>
            </a:pPr>
            <a:r>
              <a:rPr sz="2100" b="0" i="0">
                <a:solidFill>
                  <a:srgbClr val="14181D"/>
                </a:solidFill>
                <a:latin typeface="Georgia"/>
              </a:rPr>
              <a:t>Four of the seven objectives in the synopsis are met outright. Two are partial, and one we deliberately did not do.</a:t>
            </a:r>
          </a:p>
        </p:txBody>
      </p:sp>
      <p:sp>
        <p:nvSpPr>
          <p:cNvPr id="5" name="TextBox 4"/>
          <p:cNvSpPr txBox="1"/>
          <p:nvPr/>
        </p:nvSpPr>
        <p:spPr>
          <a:xfrm>
            <a:off x="685800" y="1170432"/>
            <a:ext cx="10820095" cy="256032"/>
          </a:xfrm>
          <a:prstGeom prst="rect">
            <a:avLst/>
          </a:prstGeom>
          <a:noFill/>
        </p:spPr>
        <p:txBody>
          <a:bodyPr wrap="square" lIns="0" rIns="0" tIns="0" bIns="0" anchor="t">
            <a:spAutoFit/>
          </a:bodyPr>
          <a:lstStyle/>
          <a:p>
            <a:pPr algn="l">
              <a:lnSpc>
                <a:spcPct val="112000"/>
              </a:lnSpc>
              <a:spcBef>
                <a:spcPts val="0"/>
              </a:spcBef>
              <a:spcAft>
                <a:spcPts val="0"/>
              </a:spcAft>
            </a:pPr>
            <a:r>
              <a:rPr sz="1150" b="0" i="0">
                <a:solidFill>
                  <a:srgbClr val="6B6F76"/>
                </a:solidFill>
                <a:latin typeface="Calibri"/>
              </a:rPr>
              <a:t>Quoted in intent from the synopsis. The status column is our own assessment against what we measured — not the synopsis's own claim.</a:t>
            </a:r>
          </a:p>
        </p:txBody>
      </p:sp>
      <p:sp>
        <p:nvSpPr>
          <p:cNvPr id="6" name="Rectangle 5"/>
          <p:cNvSpPr/>
          <p:nvPr/>
        </p:nvSpPr>
        <p:spPr>
          <a:xfrm>
            <a:off x="685800" y="1463040"/>
            <a:ext cx="10820095" cy="1143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55664"/>
            <a:ext cx="5486400" cy="201168"/>
          </a:xfrm>
          <a:prstGeom prst="rect">
            <a:avLst/>
          </a:prstGeom>
          <a:noFill/>
        </p:spPr>
        <p:txBody>
          <a:bodyPr wrap="square" lIns="0" rIns="0" tIns="0" bIns="0" anchor="t">
            <a:spAutoFit/>
          </a:bodyPr>
          <a:lstStyle/>
          <a:p>
            <a:pPr algn="l">
              <a:spcBef>
                <a:spcPts val="0"/>
              </a:spcBef>
              <a:spcAft>
                <a:spcPts val="0"/>
              </a:spcAft>
            </a:pPr>
            <a:r>
              <a:rPr sz="850" b="0" i="0">
                <a:solidFill>
                  <a:srgbClr val="9C978E"/>
                </a:solidFill>
                <a:latin typeface="Calibri"/>
              </a:rPr>
              <a:t>DRONA · Banking77 ticket triage · all figures from artifacts/reports/</a:t>
            </a:r>
          </a:p>
        </p:txBody>
      </p:sp>
      <p:sp>
        <p:nvSpPr>
          <p:cNvPr id="8" name="TextBox 7"/>
          <p:cNvSpPr txBox="1"/>
          <p:nvPr/>
        </p:nvSpPr>
        <p:spPr>
          <a:xfrm>
            <a:off x="9144000" y="6455664"/>
            <a:ext cx="2361895" cy="201168"/>
          </a:xfrm>
          <a:prstGeom prst="rect">
            <a:avLst/>
          </a:prstGeom>
          <a:noFill/>
        </p:spPr>
        <p:txBody>
          <a:bodyPr wrap="square" lIns="0" rIns="0" tIns="0" bIns="0" anchor="t">
            <a:spAutoFit/>
          </a:bodyPr>
          <a:lstStyle/>
          <a:p>
            <a:pPr algn="r">
              <a:spcBef>
                <a:spcPts val="0"/>
              </a:spcBef>
              <a:spcAft>
                <a:spcPts val="0"/>
              </a:spcAft>
            </a:pPr>
            <a:r>
              <a:rPr sz="850" b="0" i="0">
                <a:solidFill>
                  <a:srgbClr val="9C978E"/>
                </a:solidFill>
                <a:latin typeface="Calibri"/>
              </a:rPr>
              <a:t>4</a:t>
            </a:r>
          </a:p>
        </p:txBody>
      </p:sp>
      <p:graphicFrame>
        <p:nvGraphicFramePr>
          <p:cNvPr id="9" name="Table 8"/>
          <p:cNvGraphicFramePr>
            <a:graphicFrameLocks noGrp="1"/>
          </p:cNvGraphicFramePr>
          <p:nvPr/>
        </p:nvGraphicFramePr>
        <p:xfrm>
          <a:off x="685800" y="1627632"/>
          <a:ext cx="10820094" cy="3218688"/>
        </p:xfrm>
        <a:graphic>
          <a:graphicData uri="http://schemas.openxmlformats.org/drawingml/2006/table">
            <a:tbl>
              <a:tblPr>
                <a:tableStyleId>{5C22544A-7EE6-4342-B048-85BDC9FD1C3A}</a:tableStyleId>
              </a:tblPr>
              <a:tblGrid>
                <a:gridCol w="402438"/>
                <a:gridCol w="3704259"/>
                <a:gridCol w="1170728"/>
                <a:gridCol w="5542669"/>
              </a:tblGrid>
              <a:tr h="274320">
                <a:tc>
                  <a:txBody>
                    <a:bodyPr wrap="square"/>
                    <a:lstStyle/>
                    <a:p>
                      <a:pPr algn="l">
                        <a:spcBef>
                          <a:spcPts val="0"/>
                        </a:spcBef>
                        <a:spcAft>
                          <a:spcPts val="0"/>
                        </a:spcAft>
                      </a:pPr>
                      <a:r>
                        <a:rPr sz="900" b="1" i="0">
                          <a:solidFill>
                            <a:srgbClr val="0B6E63"/>
                          </a:solidFill>
                          <a:latin typeface="Calibri"/>
                        </a:rPr>
                        <a:t>#</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OBJECTIVE (FROM THE SYNOPSIS)</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STATUS</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WHAT WE MEASURED</a:t>
                      </a:r>
                    </a:p>
                  </a:txBody>
                  <a:tcPr marL="82296" marR="82296" marT="18288" marB="18288" anchor="ctr">
                    <a:lnB w="15240" cap="flat" cmpd="sng" algn="ctr">
                      <a:solidFill>
                        <a:srgbClr val="0B6E63"/>
                      </a:solidFill>
                    </a:lnB>
                    <a:noFill/>
                  </a:tcPr>
                </a:tc>
              </a:tr>
              <a:tr h="420624">
                <a:tc>
                  <a:txBody>
                    <a:bodyPr wrap="square"/>
                    <a:lstStyle/>
                    <a:p>
                      <a:pPr algn="ctr">
                        <a:spcBef>
                          <a:spcPts val="0"/>
                        </a:spcBef>
                        <a:spcAft>
                          <a:spcPts val="0"/>
                        </a:spcAft>
                      </a:pPr>
                      <a:r>
                        <a:rPr sz="1050" b="0" i="0">
                          <a:solidFill>
                            <a:srgbClr val="9C978E"/>
                          </a:solidFill>
                          <a:latin typeface="Calibri"/>
                        </a:rPr>
                        <a:t>1</a:t>
                      </a:r>
                    </a:p>
                  </a:txBody>
                  <a:tcPr marL="82296" marR="82296" marT="18288" marB="18288" anchor="ctr">
                    <a:noFill/>
                  </a:tcPr>
                </a:tc>
                <a:tc>
                  <a:txBody>
                    <a:bodyPr wrap="square"/>
                    <a:lstStyle/>
                    <a:p>
                      <a:pPr algn="l">
                        <a:spcBef>
                          <a:spcPts val="0"/>
                        </a:spcBef>
                        <a:spcAft>
                          <a:spcPts val="0"/>
                        </a:spcAft>
                      </a:pPr>
                      <a:r>
                        <a:rPr sz="1000" b="0" i="0">
                          <a:solidFill>
                            <a:srgbClr val="14181D"/>
                          </a:solidFill>
                          <a:latin typeface="Calibri"/>
                        </a:rPr>
                        <a:t>Classify tickets into enterprise business categories</a:t>
                      </a:r>
                    </a:p>
                  </a:txBody>
                  <a:tcPr marL="82296" marR="82296" marT="18288" marB="18288" anchor="ctr">
                    <a:noFill/>
                  </a:tcPr>
                </a:tc>
                <a:tc>
                  <a:txBody>
                    <a:bodyPr wrap="square"/>
                    <a:lstStyle/>
                    <a:p>
                      <a:pPr algn="l">
                        <a:spcBef>
                          <a:spcPts val="0"/>
                        </a:spcBef>
                        <a:spcAft>
                          <a:spcPts val="0"/>
                        </a:spcAft>
                      </a:pPr>
                      <a:r>
                        <a:rPr sz="900" b="1" i="0">
                          <a:solidFill>
                            <a:srgbClr val="0B6E63"/>
                          </a:solidFill>
                          <a:latin typeface="Calibri"/>
                        </a:rPr>
                        <a:t>MET</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11 coarse categories from 77 intents; 94.60% accuracy, 94.43% macro-F1 on held-out test</a:t>
                      </a:r>
                    </a:p>
                  </a:txBody>
                  <a:tcPr marL="82296" marR="82296" marT="18288" marB="18288" anchor="ctr">
                    <a:noFill/>
                  </a:tcPr>
                </a:tc>
              </a:tr>
              <a:tr h="420624">
                <a:tc>
                  <a:txBody>
                    <a:bodyPr wrap="square"/>
                    <a:lstStyle/>
                    <a:p>
                      <a:pPr algn="ctr">
                        <a:spcBef>
                          <a:spcPts val="0"/>
                        </a:spcBef>
                        <a:spcAft>
                          <a:spcPts val="0"/>
                        </a:spcAft>
                      </a:pPr>
                      <a:r>
                        <a:rPr sz="1050" b="0" i="0">
                          <a:solidFill>
                            <a:srgbClr val="9C978E"/>
                          </a:solidFill>
                          <a:latin typeface="Calibri"/>
                        </a:rPr>
                        <a:t>2</a:t>
                      </a:r>
                    </a:p>
                  </a:txBody>
                  <a:tcPr marL="82296" marR="82296" marT="18288" marB="18288" anchor="ctr">
                    <a:noFill/>
                  </a:tcPr>
                </a:tc>
                <a:tc>
                  <a:txBody>
                    <a:bodyPr wrap="square"/>
                    <a:lstStyle/>
                    <a:p>
                      <a:pPr algn="l">
                        <a:spcBef>
                          <a:spcPts val="0"/>
                        </a:spcBef>
                        <a:spcAft>
                          <a:spcPts val="0"/>
                        </a:spcAft>
                      </a:pPr>
                      <a:r>
                        <a:rPr sz="1000" b="0" i="0">
                          <a:solidFill>
                            <a:srgbClr val="14181D"/>
                          </a:solidFill>
                          <a:latin typeface="Calibri"/>
                        </a:rPr>
                        <a:t>Analyse sentiment and urgency for every ticket</a:t>
                      </a:r>
                    </a:p>
                  </a:txBody>
                  <a:tcPr marL="82296" marR="82296" marT="18288" marB="18288" anchor="ctr">
                    <a:noFill/>
                  </a:tcPr>
                </a:tc>
                <a:tc>
                  <a:txBody>
                    <a:bodyPr wrap="square"/>
                    <a:lstStyle/>
                    <a:p>
                      <a:pPr algn="l">
                        <a:spcBef>
                          <a:spcPts val="0"/>
                        </a:spcBef>
                        <a:spcAft>
                          <a:spcPts val="0"/>
                        </a:spcAft>
                      </a:pPr>
                      <a:r>
                        <a:rPr sz="900" b="1" i="0">
                          <a:solidFill>
                            <a:srgbClr val="0B6E63"/>
                          </a:solidFill>
                          <a:latin typeface="Calibri"/>
                        </a:rPr>
                        <a:t>MET</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Sentiment lexicon plus category-priority rules and amount extraction; contributes to P0–P3</a:t>
                      </a:r>
                    </a:p>
                  </a:txBody>
                  <a:tcPr marL="82296" marR="82296" marT="18288" marB="18288" anchor="ctr">
                    <a:noFill/>
                  </a:tcPr>
                </a:tc>
              </a:tr>
              <a:tr h="420624">
                <a:tc>
                  <a:txBody>
                    <a:bodyPr wrap="square"/>
                    <a:lstStyle/>
                    <a:p>
                      <a:pPr algn="ctr">
                        <a:spcBef>
                          <a:spcPts val="0"/>
                        </a:spcBef>
                        <a:spcAft>
                          <a:spcPts val="0"/>
                        </a:spcAft>
                      </a:pPr>
                      <a:r>
                        <a:rPr sz="1050" b="0" i="0">
                          <a:solidFill>
                            <a:srgbClr val="9C978E"/>
                          </a:solidFill>
                          <a:latin typeface="Calibri"/>
                        </a:rPr>
                        <a:t>3</a:t>
                      </a:r>
                    </a:p>
                  </a:txBody>
                  <a:tcPr marL="82296" marR="82296" marT="18288" marB="18288" anchor="ctr">
                    <a:noFill/>
                  </a:tcPr>
                </a:tc>
                <a:tc>
                  <a:txBody>
                    <a:bodyPr wrap="square"/>
                    <a:lstStyle/>
                    <a:p>
                      <a:pPr algn="l">
                        <a:spcBef>
                          <a:spcPts val="0"/>
                        </a:spcBef>
                        <a:spcAft>
                          <a:spcPts val="0"/>
                        </a:spcAft>
                      </a:pPr>
                      <a:r>
                        <a:rPr sz="1000" b="0" i="0">
                          <a:solidFill>
                            <a:srgbClr val="14181D"/>
                          </a:solidFill>
                          <a:latin typeface="Calibri"/>
                        </a:rPr>
                        <a:t>Assign an SLA-based priority P0–P3 and route to a queue</a:t>
                      </a:r>
                    </a:p>
                  </a:txBody>
                  <a:tcPr marL="82296" marR="82296" marT="18288" marB="18288" anchor="ctr">
                    <a:noFill/>
                  </a:tcPr>
                </a:tc>
                <a:tc>
                  <a:txBody>
                    <a:bodyPr wrap="square"/>
                    <a:lstStyle/>
                    <a:p>
                      <a:pPr algn="l">
                        <a:spcBef>
                          <a:spcPts val="0"/>
                        </a:spcBef>
                        <a:spcAft>
                          <a:spcPts val="0"/>
                        </a:spcAft>
                      </a:pPr>
                      <a:r>
                        <a:rPr sz="900" b="1" i="0">
                          <a:solidFill>
                            <a:srgbClr val="0B6E63"/>
                          </a:solidFill>
                          <a:latin typeface="Calibri"/>
                        </a:rPr>
                        <a:t>MET</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Four priorities, per-category SLA targets and queues; P0 recall 95.49% on test</a:t>
                      </a:r>
                    </a:p>
                  </a:txBody>
                  <a:tcPr marL="82296" marR="82296" marT="18288" marB="18288" anchor="ctr">
                    <a:noFill/>
                  </a:tcPr>
                </a:tc>
              </a:tr>
              <a:tr h="420624">
                <a:tc>
                  <a:txBody>
                    <a:bodyPr wrap="square"/>
                    <a:lstStyle/>
                    <a:p>
                      <a:pPr algn="ctr">
                        <a:spcBef>
                          <a:spcPts val="0"/>
                        </a:spcBef>
                        <a:spcAft>
                          <a:spcPts val="0"/>
                        </a:spcAft>
                      </a:pPr>
                      <a:r>
                        <a:rPr sz="1050" b="0" i="0">
                          <a:solidFill>
                            <a:srgbClr val="9C978E"/>
                          </a:solidFill>
                          <a:latin typeface="Calibri"/>
                        </a:rPr>
                        <a:t>4</a:t>
                      </a:r>
                    </a:p>
                  </a:txBody>
                  <a:tcPr marL="82296" marR="82296" marT="18288" marB="18288" anchor="ctr">
                    <a:noFill/>
                  </a:tcPr>
                </a:tc>
                <a:tc>
                  <a:txBody>
                    <a:bodyPr wrap="square"/>
                    <a:lstStyle/>
                    <a:p>
                      <a:pPr algn="l">
                        <a:spcBef>
                          <a:spcPts val="0"/>
                        </a:spcBef>
                        <a:spcAft>
                          <a:spcPts val="0"/>
                        </a:spcAft>
                      </a:pPr>
                      <a:r>
                        <a:rPr sz="1000" b="0" i="0">
                          <a:solidFill>
                            <a:srgbClr val="14181D"/>
                          </a:solidFill>
                          <a:latin typeface="Calibri"/>
                        </a:rPr>
                        <a:t>Compare TF-IDF, Logistic Regression, BiLSTM and DistilBERT</a:t>
                      </a:r>
                    </a:p>
                  </a:txBody>
                  <a:tcPr marL="82296" marR="82296" marT="18288" marB="18288" anchor="ctr">
                    <a:noFill/>
                  </a:tcPr>
                </a:tc>
                <a:tc>
                  <a:txBody>
                    <a:bodyPr wrap="square"/>
                    <a:lstStyle/>
                    <a:p>
                      <a:pPr algn="l">
                        <a:spcBef>
                          <a:spcPts val="0"/>
                        </a:spcBef>
                        <a:spcAft>
                          <a:spcPts val="0"/>
                        </a:spcAft>
                      </a:pPr>
                      <a:r>
                        <a:rPr sz="900" b="1" i="0">
                          <a:solidFill>
                            <a:srgbClr val="8A6D1F"/>
                          </a:solidFill>
                          <a:latin typeface="Calibri"/>
                        </a:rPr>
                        <a:t>PARTIAL</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Four of four arms run and compared on one split with a paired significance test — BiLSTM never built</a:t>
                      </a:r>
                    </a:p>
                  </a:txBody>
                  <a:tcPr marL="82296" marR="82296" marT="18288" marB="18288" anchor="ctr">
                    <a:noFill/>
                  </a:tcPr>
                </a:tc>
              </a:tr>
              <a:tr h="420624">
                <a:tc>
                  <a:txBody>
                    <a:bodyPr wrap="square"/>
                    <a:lstStyle/>
                    <a:p>
                      <a:pPr algn="ctr">
                        <a:spcBef>
                          <a:spcPts val="0"/>
                        </a:spcBef>
                        <a:spcAft>
                          <a:spcPts val="0"/>
                        </a:spcAft>
                      </a:pPr>
                      <a:r>
                        <a:rPr sz="1050" b="0" i="0">
                          <a:solidFill>
                            <a:srgbClr val="9C978E"/>
                          </a:solidFill>
                          <a:latin typeface="Calibri"/>
                        </a:rPr>
                        <a:t>5</a:t>
                      </a:r>
                    </a:p>
                  </a:txBody>
                  <a:tcPr marL="82296" marR="82296" marT="18288" marB="18288" anchor="ctr">
                    <a:noFill/>
                  </a:tcPr>
                </a:tc>
                <a:tc>
                  <a:txBody>
                    <a:bodyPr wrap="square"/>
                    <a:lstStyle/>
                    <a:p>
                      <a:pPr algn="l">
                        <a:spcBef>
                          <a:spcPts val="0"/>
                        </a:spcBef>
                        <a:spcAft>
                          <a:spcPts val="0"/>
                        </a:spcAft>
                      </a:pPr>
                      <a:r>
                        <a:rPr sz="1000" b="0" i="0">
                          <a:solidFill>
                            <a:srgbClr val="14181D"/>
                          </a:solidFill>
                          <a:latin typeface="Calibri"/>
                        </a:rPr>
                        <a:t>Optimise DistilBERT with ONNX INT8 quantisation</a:t>
                      </a:r>
                    </a:p>
                  </a:txBody>
                  <a:tcPr marL="82296" marR="82296" marT="18288" marB="18288" anchor="ctr">
                    <a:noFill/>
                  </a:tcPr>
                </a:tc>
                <a:tc>
                  <a:txBody>
                    <a:bodyPr wrap="square"/>
                    <a:lstStyle/>
                    <a:p>
                      <a:pPr algn="l">
                        <a:spcBef>
                          <a:spcPts val="0"/>
                        </a:spcBef>
                        <a:spcAft>
                          <a:spcPts val="0"/>
                        </a:spcAft>
                      </a:pPr>
                      <a:r>
                        <a:rPr sz="900" b="1" i="0">
                          <a:solidFill>
                            <a:srgbClr val="B04A1F"/>
                          </a:solidFill>
                          <a:latin typeface="Calibri"/>
                        </a:rPr>
                        <a:t>NOT DONE</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Declined deliberately: the cascade meets the latency and size goal with no transformer at all</a:t>
                      </a:r>
                    </a:p>
                  </a:txBody>
                  <a:tcPr marL="82296" marR="82296" marT="18288" marB="18288" anchor="ctr">
                    <a:noFill/>
                  </a:tcPr>
                </a:tc>
              </a:tr>
              <a:tr h="420624">
                <a:tc>
                  <a:txBody>
                    <a:bodyPr wrap="square"/>
                    <a:lstStyle/>
                    <a:p>
                      <a:pPr algn="ctr">
                        <a:spcBef>
                          <a:spcPts val="0"/>
                        </a:spcBef>
                        <a:spcAft>
                          <a:spcPts val="0"/>
                        </a:spcAft>
                      </a:pPr>
                      <a:r>
                        <a:rPr sz="1050" b="0" i="0">
                          <a:solidFill>
                            <a:srgbClr val="9C978E"/>
                          </a:solidFill>
                          <a:latin typeface="Calibri"/>
                        </a:rPr>
                        <a:t>6</a:t>
                      </a:r>
                    </a:p>
                  </a:txBody>
                  <a:tcPr marL="82296" marR="82296" marT="18288" marB="18288" anchor="ctr">
                    <a:noFill/>
                  </a:tcPr>
                </a:tc>
                <a:tc>
                  <a:txBody>
                    <a:bodyPr wrap="square"/>
                    <a:lstStyle/>
                    <a:p>
                      <a:pPr algn="l">
                        <a:spcBef>
                          <a:spcPts val="0"/>
                        </a:spcBef>
                        <a:spcAft>
                          <a:spcPts val="0"/>
                        </a:spcAft>
                      </a:pPr>
                      <a:r>
                        <a:rPr sz="1000" b="0" i="0">
                          <a:solidFill>
                            <a:srgbClr val="14181D"/>
                          </a:solidFill>
                          <a:latin typeface="Calibri"/>
                        </a:rPr>
                        <a:t>Human-in-the-loop GenAI draft responses for agents</a:t>
                      </a:r>
                    </a:p>
                  </a:txBody>
                  <a:tcPr marL="82296" marR="82296" marT="18288" marB="18288" anchor="ctr">
                    <a:noFill/>
                  </a:tcPr>
                </a:tc>
                <a:tc>
                  <a:txBody>
                    <a:bodyPr wrap="square"/>
                    <a:lstStyle/>
                    <a:p>
                      <a:pPr algn="l">
                        <a:spcBef>
                          <a:spcPts val="0"/>
                        </a:spcBef>
                        <a:spcAft>
                          <a:spcPts val="0"/>
                        </a:spcAft>
                      </a:pPr>
                      <a:r>
                        <a:rPr sz="900" b="1" i="0">
                          <a:solidFill>
                            <a:srgbClr val="8A6D1F"/>
                          </a:solidFill>
                          <a:latin typeface="Calibri"/>
                        </a:rPr>
                        <a:t>MET, NOT ADOPTED</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Agent drafts with fact precision 1.000 and 0 invented ids — but letting it decide lowered accuracy, so it ships advisory-only</a:t>
                      </a:r>
                    </a:p>
                  </a:txBody>
                  <a:tcPr marL="82296" marR="82296" marT="18288" marB="18288" anchor="ctr">
                    <a:noFill/>
                  </a:tcPr>
                </a:tc>
              </a:tr>
              <a:tr h="420624">
                <a:tc>
                  <a:txBody>
                    <a:bodyPr wrap="square"/>
                    <a:lstStyle/>
                    <a:p>
                      <a:pPr algn="ctr">
                        <a:spcBef>
                          <a:spcPts val="0"/>
                        </a:spcBef>
                        <a:spcAft>
                          <a:spcPts val="0"/>
                        </a:spcAft>
                      </a:pPr>
                      <a:r>
                        <a:rPr sz="1050" b="0" i="0">
                          <a:solidFill>
                            <a:srgbClr val="9C978E"/>
                          </a:solidFill>
                          <a:latin typeface="Calibri"/>
                        </a:rPr>
                        <a:t>7</a:t>
                      </a:r>
                    </a:p>
                  </a:txBody>
                  <a:tcPr marL="82296" marR="82296" marT="18288" marB="18288" anchor="ctr">
                    <a:noFill/>
                  </a:tcPr>
                </a:tc>
                <a:tc>
                  <a:txBody>
                    <a:bodyPr wrap="square"/>
                    <a:lstStyle/>
                    <a:p>
                      <a:pPr algn="l">
                        <a:spcBef>
                          <a:spcPts val="0"/>
                        </a:spcBef>
                        <a:spcAft>
                          <a:spcPts val="0"/>
                        </a:spcAft>
                      </a:pPr>
                      <a:r>
                        <a:rPr sz="1000" b="0" i="0">
                          <a:solidFill>
                            <a:srgbClr val="14181D"/>
                          </a:solidFill>
                          <a:latin typeface="Calibri"/>
                        </a:rPr>
                        <a:t>Deploy as containerised microservices with tracking and drift monitoring</a:t>
                      </a:r>
                    </a:p>
                  </a:txBody>
                  <a:tcPr marL="82296" marR="82296" marT="18288" marB="18288" anchor="ctr">
                    <a:noFill/>
                  </a:tcPr>
                </a:tc>
                <a:tc>
                  <a:txBody>
                    <a:bodyPr wrap="square"/>
                    <a:lstStyle/>
                    <a:p>
                      <a:pPr algn="l">
                        <a:spcBef>
                          <a:spcPts val="0"/>
                        </a:spcBef>
                        <a:spcAft>
                          <a:spcPts val="0"/>
                        </a:spcAft>
                      </a:pPr>
                      <a:r>
                        <a:rPr sz="900" b="1" i="0">
                          <a:solidFill>
                            <a:srgbClr val="8A6D1F"/>
                          </a:solidFill>
                          <a:latin typeface="Calibri"/>
                        </a:rPr>
                        <a:t>PARTIAL</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FastAPI + Streamlit + drift monitor, 8 experiments tracked end to end — no containers</a:t>
                      </a:r>
                    </a:p>
                  </a:txBody>
                  <a:tcPr marL="82296" marR="82296" marT="18288" marB="18288" anchor="ctr">
                    <a:noFill/>
                  </a:tcPr>
                </a:tc>
              </a:tr>
            </a:tbl>
          </a:graphicData>
        </a:graphic>
      </p:graphicFrame>
      <p:sp>
        <p:nvSpPr>
          <p:cNvPr id="10" name="Rounded Rectangle 9"/>
          <p:cNvSpPr/>
          <p:nvPr/>
        </p:nvSpPr>
        <p:spPr>
          <a:xfrm>
            <a:off x="685800" y="5010912"/>
            <a:ext cx="10820095" cy="804672"/>
          </a:xfrm>
          <a:prstGeom prst="roundRect">
            <a:avLst>
              <a:gd name="adj" fmla="val 5000"/>
            </a:avLst>
          </a:prstGeom>
          <a:solidFill>
            <a:srgbClr val="F7E6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1" name="TextBox 10"/>
          <p:cNvSpPr txBox="1"/>
          <p:nvPr/>
        </p:nvSpPr>
        <p:spPr>
          <a:xfrm>
            <a:off x="996696" y="5120640"/>
            <a:ext cx="10198303" cy="585216"/>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14181D"/>
                </a:solidFill>
                <a:latin typeface="Calibri"/>
              </a:rPr>
              <a:t>Objective 5 was to quantise DistilBERT with ONNX INT8 to cut latency and size. We did not do it, because </a:t>
            </a:r>
            <a:r>
              <a:rPr sz="1050" b="1" i="0">
                <a:solidFill>
                  <a:srgbClr val="14181D"/>
                </a:solidFill>
                <a:latin typeface="Calibri"/>
              </a:rPr>
              <a:t>we shipped a system that is faster and smaller without it</a:t>
            </a:r>
            <a:r>
              <a:rPr sz="1050" b="0" i="0">
                <a:solidFill>
                  <a:srgbClr val="14181D"/>
                </a:solidFill>
                <a:latin typeface="Calibri"/>
              </a:rPr>
              <a:t> — 33.3 ms and 1.6 MB against 106 ms and 268 MB. The honest reading is that we met the goal and declined the method.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515600" cy="201168"/>
          </a:xfrm>
          <a:prstGeom prst="rect">
            <a:avLst/>
          </a:prstGeom>
          <a:noFill/>
        </p:spPr>
        <p:txBody>
          <a:bodyPr wrap="square" lIns="0" rIns="0" tIns="0" bIns="0" anchor="t">
            <a:spAutoFit/>
          </a:bodyPr>
          <a:lstStyle/>
          <a:p>
            <a:pPr algn="l">
              <a:spcBef>
                <a:spcPts val="0"/>
              </a:spcBef>
              <a:spcAft>
                <a:spcPts val="0"/>
              </a:spcAft>
            </a:pPr>
            <a:r>
              <a:rPr sz="950" b="1" i="0">
                <a:solidFill>
                  <a:srgbClr val="0B6E63"/>
                </a:solidFill>
                <a:latin typeface="Calibri"/>
              </a:rPr>
              <a:t>LITERATURE SURVEY</a:t>
            </a:r>
          </a:p>
        </p:txBody>
      </p:sp>
      <p:sp>
        <p:nvSpPr>
          <p:cNvPr id="4" name="TextBox 3"/>
          <p:cNvSpPr txBox="1"/>
          <p:nvPr/>
        </p:nvSpPr>
        <p:spPr>
          <a:xfrm>
            <a:off x="685800" y="548640"/>
            <a:ext cx="10820095" cy="585216"/>
          </a:xfrm>
          <a:prstGeom prst="rect">
            <a:avLst/>
          </a:prstGeom>
          <a:noFill/>
        </p:spPr>
        <p:txBody>
          <a:bodyPr wrap="square" lIns="0" rIns="0" tIns="0" bIns="0" anchor="t">
            <a:spAutoFit/>
          </a:bodyPr>
          <a:lstStyle/>
          <a:p>
            <a:pPr algn="l">
              <a:lnSpc>
                <a:spcPct val="104000"/>
              </a:lnSpc>
              <a:spcBef>
                <a:spcPts val="0"/>
              </a:spcBef>
              <a:spcAft>
                <a:spcPts val="0"/>
              </a:spcAft>
            </a:pPr>
            <a:r>
              <a:rPr sz="2100" b="0" i="0">
                <a:solidFill>
                  <a:srgbClr val="14181D"/>
                </a:solidFill>
                <a:latin typeface="Georgia"/>
              </a:rPr>
              <a:t>Every component we needed already existed. Assembled, calibrated and measured together, they did not.</a:t>
            </a:r>
          </a:p>
        </p:txBody>
      </p:sp>
      <p:sp>
        <p:nvSpPr>
          <p:cNvPr id="5" name="TextBox 4"/>
          <p:cNvSpPr txBox="1"/>
          <p:nvPr/>
        </p:nvSpPr>
        <p:spPr>
          <a:xfrm>
            <a:off x="685800" y="1170432"/>
            <a:ext cx="10820095" cy="256032"/>
          </a:xfrm>
          <a:prstGeom prst="rect">
            <a:avLst/>
          </a:prstGeom>
          <a:noFill/>
        </p:spPr>
        <p:txBody>
          <a:bodyPr wrap="square" lIns="0" rIns="0" tIns="0" bIns="0" anchor="t">
            <a:spAutoFit/>
          </a:bodyPr>
          <a:lstStyle/>
          <a:p>
            <a:pPr algn="l">
              <a:lnSpc>
                <a:spcPct val="112000"/>
              </a:lnSpc>
              <a:spcBef>
                <a:spcPts val="0"/>
              </a:spcBef>
              <a:spcAft>
                <a:spcPts val="0"/>
              </a:spcAft>
            </a:pPr>
            <a:r>
              <a:rPr sz="1150" b="0" i="0">
                <a:solidFill>
                  <a:srgbClr val="6B6F76"/>
                </a:solidFill>
                <a:latin typeface="Calibri"/>
              </a:rPr>
              <a:t>The nine works in the synopsis, plus the four we had to add because the work needed them.</a:t>
            </a:r>
          </a:p>
        </p:txBody>
      </p:sp>
      <p:sp>
        <p:nvSpPr>
          <p:cNvPr id="6" name="Rectangle 5"/>
          <p:cNvSpPr/>
          <p:nvPr/>
        </p:nvSpPr>
        <p:spPr>
          <a:xfrm>
            <a:off x="685800" y="1463040"/>
            <a:ext cx="10820095" cy="1143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55664"/>
            <a:ext cx="5486400" cy="201168"/>
          </a:xfrm>
          <a:prstGeom prst="rect">
            <a:avLst/>
          </a:prstGeom>
          <a:noFill/>
        </p:spPr>
        <p:txBody>
          <a:bodyPr wrap="square" lIns="0" rIns="0" tIns="0" bIns="0" anchor="t">
            <a:spAutoFit/>
          </a:bodyPr>
          <a:lstStyle/>
          <a:p>
            <a:pPr algn="l">
              <a:spcBef>
                <a:spcPts val="0"/>
              </a:spcBef>
              <a:spcAft>
                <a:spcPts val="0"/>
              </a:spcAft>
            </a:pPr>
            <a:r>
              <a:rPr sz="850" b="0" i="0">
                <a:solidFill>
                  <a:srgbClr val="9C978E"/>
                </a:solidFill>
                <a:latin typeface="Calibri"/>
              </a:rPr>
              <a:t>DRONA · Banking77 ticket triage · all figures from artifacts/reports/</a:t>
            </a:r>
          </a:p>
        </p:txBody>
      </p:sp>
      <p:sp>
        <p:nvSpPr>
          <p:cNvPr id="8" name="TextBox 7"/>
          <p:cNvSpPr txBox="1"/>
          <p:nvPr/>
        </p:nvSpPr>
        <p:spPr>
          <a:xfrm>
            <a:off x="9144000" y="6455664"/>
            <a:ext cx="2361895" cy="201168"/>
          </a:xfrm>
          <a:prstGeom prst="rect">
            <a:avLst/>
          </a:prstGeom>
          <a:noFill/>
        </p:spPr>
        <p:txBody>
          <a:bodyPr wrap="square" lIns="0" rIns="0" tIns="0" bIns="0" anchor="t">
            <a:spAutoFit/>
          </a:bodyPr>
          <a:lstStyle/>
          <a:p>
            <a:pPr algn="r">
              <a:spcBef>
                <a:spcPts val="0"/>
              </a:spcBef>
              <a:spcAft>
                <a:spcPts val="0"/>
              </a:spcAft>
            </a:pPr>
            <a:r>
              <a:rPr sz="850" b="0" i="0">
                <a:solidFill>
                  <a:srgbClr val="9C978E"/>
                </a:solidFill>
                <a:latin typeface="Calibri"/>
              </a:rPr>
              <a:t>5</a:t>
            </a:r>
          </a:p>
        </p:txBody>
      </p:sp>
      <p:graphicFrame>
        <p:nvGraphicFramePr>
          <p:cNvPr id="9" name="Table 8"/>
          <p:cNvGraphicFramePr>
            <a:graphicFrameLocks noGrp="1"/>
          </p:cNvGraphicFramePr>
          <p:nvPr/>
        </p:nvGraphicFramePr>
        <p:xfrm>
          <a:off x="685800" y="1627632"/>
          <a:ext cx="6931152" cy="2948940"/>
        </p:xfrm>
        <a:graphic>
          <a:graphicData uri="http://schemas.openxmlformats.org/drawingml/2006/table">
            <a:tbl>
              <a:tblPr>
                <a:tableStyleId>{5C22544A-7EE6-4342-B048-85BDC9FD1C3A}</a:tableStyleId>
              </a:tblPr>
              <a:tblGrid>
                <a:gridCol w="2103120"/>
                <a:gridCol w="2487168"/>
                <a:gridCol w="2340864"/>
              </a:tblGrid>
              <a:tr h="274320">
                <a:tc>
                  <a:txBody>
                    <a:bodyPr wrap="square"/>
                    <a:lstStyle/>
                    <a:p>
                      <a:pPr algn="l">
                        <a:spcBef>
                          <a:spcPts val="0"/>
                        </a:spcBef>
                        <a:spcAft>
                          <a:spcPts val="0"/>
                        </a:spcAft>
                      </a:pPr>
                      <a:r>
                        <a:rPr sz="850" b="1" i="0">
                          <a:solidFill>
                            <a:srgbClr val="0B6E63"/>
                          </a:solidFill>
                          <a:latin typeface="Calibri"/>
                        </a:rPr>
                        <a:t>AUTHOR &amp; YEAR</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850" b="1" i="0">
                          <a:solidFill>
                            <a:srgbClr val="0B6E63"/>
                          </a:solidFill>
                          <a:latin typeface="Calibri"/>
                        </a:rPr>
                        <a:t>TECHNIQUE</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850" b="1" i="0">
                          <a:solidFill>
                            <a:srgbClr val="0B6E63"/>
                          </a:solidFill>
                          <a:latin typeface="Calibri"/>
                        </a:rPr>
                        <a:t>LIMITATION WE INHERITED</a:t>
                      </a:r>
                    </a:p>
                  </a:txBody>
                  <a:tcPr marL="82296" marR="82296" marT="18288" marB="18288" anchor="ctr">
                    <a:lnB w="15240" cap="flat" cmpd="sng" algn="ctr">
                      <a:solidFill>
                        <a:srgbClr val="0B6E63"/>
                      </a:solidFill>
                    </a:lnB>
                    <a:noFill/>
                  </a:tcPr>
                </a:tc>
              </a:tr>
              <a:tr h="297180">
                <a:tc>
                  <a:txBody>
                    <a:bodyPr wrap="square"/>
                    <a:lstStyle/>
                    <a:p>
                      <a:pPr algn="l">
                        <a:spcBef>
                          <a:spcPts val="0"/>
                        </a:spcBef>
                        <a:spcAft>
                          <a:spcPts val="0"/>
                        </a:spcAft>
                      </a:pPr>
                      <a:r>
                        <a:rPr sz="900" b="1" i="0">
                          <a:solidFill>
                            <a:srgbClr val="14181D"/>
                          </a:solidFill>
                          <a:latin typeface="Calibri"/>
                        </a:rPr>
                        <a:t>Paramesh &amp; Shreedhara, 2019</a:t>
                      </a:r>
                    </a:p>
                  </a:txBody>
                  <a:tcPr marL="82296" marR="82296" marT="18288" marB="18288" anchor="ctr">
                    <a:noFill/>
                  </a:tcPr>
                </a:tc>
                <a:tc>
                  <a:txBody>
                    <a:bodyPr wrap="square"/>
                    <a:lstStyle/>
                    <a:p>
                      <a:pPr algn="l">
                        <a:spcBef>
                          <a:spcPts val="0"/>
                        </a:spcBef>
                        <a:spcAft>
                          <a:spcPts val="0"/>
                        </a:spcAft>
                      </a:pPr>
                      <a:r>
                        <a:rPr sz="850" b="0" i="0">
                          <a:solidFill>
                            <a:srgbClr val="6B6F76"/>
                          </a:solidFill>
                          <a:latin typeface="Calibri"/>
                        </a:rPr>
                        <a:t>ML classification of IT service-desk tickets</a:t>
                      </a:r>
                    </a:p>
                  </a:txBody>
                  <a:tcPr marL="82296" marR="82296" marT="18288" marB="18288" anchor="ctr">
                    <a:noFill/>
                  </a:tcPr>
                </a:tc>
                <a:tc>
                  <a:txBody>
                    <a:bodyPr wrap="square"/>
                    <a:lstStyle/>
                    <a:p>
                      <a:pPr algn="l">
                        <a:spcBef>
                          <a:spcPts val="0"/>
                        </a:spcBef>
                        <a:spcAft>
                          <a:spcPts val="0"/>
                        </a:spcAft>
                      </a:pPr>
                      <a:r>
                        <a:rPr sz="850" b="0" i="0">
                          <a:solidFill>
                            <a:srgbClr val="B04A1F"/>
                          </a:solidFill>
                          <a:latin typeface="Calibri"/>
                        </a:rPr>
                        <a:t>Classical features only — no sentiment, SLA or routing</a:t>
                      </a:r>
                    </a:p>
                  </a:txBody>
                  <a:tcPr marL="82296" marR="82296" marT="18288" marB="18288" anchor="ctr">
                    <a:noFill/>
                  </a:tcPr>
                </a:tc>
              </a:tr>
              <a:tr h="297180">
                <a:tc>
                  <a:txBody>
                    <a:bodyPr wrap="square"/>
                    <a:lstStyle/>
                    <a:p>
                      <a:pPr algn="l">
                        <a:spcBef>
                          <a:spcPts val="0"/>
                        </a:spcBef>
                        <a:spcAft>
                          <a:spcPts val="0"/>
                        </a:spcAft>
                      </a:pPr>
                      <a:r>
                        <a:rPr sz="900" b="1" i="0">
                          <a:solidFill>
                            <a:srgbClr val="14181D"/>
                          </a:solidFill>
                          <a:latin typeface="Calibri"/>
                        </a:rPr>
                        <a:t>Zangari et al., 2023</a:t>
                      </a:r>
                    </a:p>
                  </a:txBody>
                  <a:tcPr marL="82296" marR="82296" marT="18288" marB="18288" anchor="ctr">
                    <a:noFill/>
                  </a:tcPr>
                </a:tc>
                <a:tc>
                  <a:txBody>
                    <a:bodyPr wrap="square"/>
                    <a:lstStyle/>
                    <a:p>
                      <a:pPr algn="l">
                        <a:spcBef>
                          <a:spcPts val="0"/>
                        </a:spcBef>
                        <a:spcAft>
                          <a:spcPts val="0"/>
                        </a:spcAft>
                      </a:pPr>
                      <a:r>
                        <a:rPr sz="850" b="0" i="0">
                          <a:solidFill>
                            <a:srgbClr val="6B6F76"/>
                          </a:solidFill>
                          <a:latin typeface="Calibri"/>
                        </a:rPr>
                        <a:t>Survey of ticket automation and multi-level classification</a:t>
                      </a:r>
                    </a:p>
                  </a:txBody>
                  <a:tcPr marL="82296" marR="82296" marT="18288" marB="18288" anchor="ctr">
                    <a:noFill/>
                  </a:tcPr>
                </a:tc>
                <a:tc>
                  <a:txBody>
                    <a:bodyPr wrap="square"/>
                    <a:lstStyle/>
                    <a:p>
                      <a:pPr algn="l">
                        <a:spcBef>
                          <a:spcPts val="0"/>
                        </a:spcBef>
                        <a:spcAft>
                          <a:spcPts val="0"/>
                        </a:spcAft>
                      </a:pPr>
                      <a:r>
                        <a:rPr sz="850" b="0" i="0">
                          <a:solidFill>
                            <a:srgbClr val="B04A1F"/>
                          </a:solidFill>
                          <a:latin typeface="Calibri"/>
                        </a:rPr>
                        <a:t>Survey; no deployable low-latency pipeline</a:t>
                      </a:r>
                    </a:p>
                  </a:txBody>
                  <a:tcPr marL="82296" marR="82296" marT="18288" marB="18288" anchor="ctr">
                    <a:noFill/>
                  </a:tcPr>
                </a:tc>
              </a:tr>
              <a:tr h="297180">
                <a:tc>
                  <a:txBody>
                    <a:bodyPr wrap="square"/>
                    <a:lstStyle/>
                    <a:p>
                      <a:pPr algn="l">
                        <a:spcBef>
                          <a:spcPts val="0"/>
                        </a:spcBef>
                        <a:spcAft>
                          <a:spcPts val="0"/>
                        </a:spcAft>
                      </a:pPr>
                      <a:r>
                        <a:rPr sz="900" b="1" i="0">
                          <a:solidFill>
                            <a:srgbClr val="14181D"/>
                          </a:solidFill>
                          <a:latin typeface="Calibri"/>
                        </a:rPr>
                        <a:t>Casanueva et al., 2020</a:t>
                      </a:r>
                    </a:p>
                  </a:txBody>
                  <a:tcPr marL="82296" marR="82296" marT="18288" marB="18288" anchor="ctr">
                    <a:noFill/>
                  </a:tcPr>
                </a:tc>
                <a:tc>
                  <a:txBody>
                    <a:bodyPr wrap="square"/>
                    <a:lstStyle/>
                    <a:p>
                      <a:pPr algn="l">
                        <a:spcBef>
                          <a:spcPts val="0"/>
                        </a:spcBef>
                        <a:spcAft>
                          <a:spcPts val="0"/>
                        </a:spcAft>
                      </a:pPr>
                      <a:r>
                        <a:rPr sz="850" b="0" i="0">
                          <a:solidFill>
                            <a:srgbClr val="6B6F76"/>
                          </a:solidFill>
                          <a:latin typeface="Calibri"/>
                        </a:rPr>
                        <a:t>Dual sentence encoders; introduces Banking77</a:t>
                      </a:r>
                    </a:p>
                  </a:txBody>
                  <a:tcPr marL="82296" marR="82296" marT="18288" marB="18288" anchor="ctr">
                    <a:noFill/>
                  </a:tcPr>
                </a:tc>
                <a:tc>
                  <a:txBody>
                    <a:bodyPr wrap="square"/>
                    <a:lstStyle/>
                    <a:p>
                      <a:pPr algn="l">
                        <a:spcBef>
                          <a:spcPts val="0"/>
                        </a:spcBef>
                        <a:spcAft>
                          <a:spcPts val="0"/>
                        </a:spcAft>
                      </a:pPr>
                      <a:r>
                        <a:rPr sz="850" b="0" i="0">
                          <a:solidFill>
                            <a:srgbClr val="B04A1F"/>
                          </a:solidFill>
                          <a:latin typeface="Calibri"/>
                        </a:rPr>
                        <a:t>Intent detection only — no priority or routing</a:t>
                      </a:r>
                    </a:p>
                  </a:txBody>
                  <a:tcPr marL="82296" marR="82296" marT="18288" marB="18288" anchor="ctr">
                    <a:noFill/>
                  </a:tcPr>
                </a:tc>
              </a:tr>
              <a:tr h="297180">
                <a:tc>
                  <a:txBody>
                    <a:bodyPr wrap="square"/>
                    <a:lstStyle/>
                    <a:p>
                      <a:pPr algn="l">
                        <a:spcBef>
                          <a:spcPts val="0"/>
                        </a:spcBef>
                        <a:spcAft>
                          <a:spcPts val="0"/>
                        </a:spcAft>
                      </a:pPr>
                      <a:r>
                        <a:rPr sz="900" b="1" i="0">
                          <a:solidFill>
                            <a:srgbClr val="14181D"/>
                          </a:solidFill>
                          <a:latin typeface="Calibri"/>
                        </a:rPr>
                        <a:t>Devlin et al., 2019</a:t>
                      </a:r>
                    </a:p>
                  </a:txBody>
                  <a:tcPr marL="82296" marR="82296" marT="18288" marB="18288" anchor="ctr">
                    <a:noFill/>
                  </a:tcPr>
                </a:tc>
                <a:tc>
                  <a:txBody>
                    <a:bodyPr wrap="square"/>
                    <a:lstStyle/>
                    <a:p>
                      <a:pPr algn="l">
                        <a:spcBef>
                          <a:spcPts val="0"/>
                        </a:spcBef>
                        <a:spcAft>
                          <a:spcPts val="0"/>
                        </a:spcAft>
                      </a:pPr>
                      <a:r>
                        <a:rPr sz="850" b="0" i="0">
                          <a:solidFill>
                            <a:srgbClr val="6B6F76"/>
                          </a:solidFill>
                          <a:latin typeface="Calibri"/>
                        </a:rPr>
                        <a:t>BERT, bidirectional pretraining and fine-tuning</a:t>
                      </a:r>
                    </a:p>
                  </a:txBody>
                  <a:tcPr marL="82296" marR="82296" marT="18288" marB="18288" anchor="ctr">
                    <a:noFill/>
                  </a:tcPr>
                </a:tc>
                <a:tc>
                  <a:txBody>
                    <a:bodyPr wrap="square"/>
                    <a:lstStyle/>
                    <a:p>
                      <a:pPr algn="l">
                        <a:spcBef>
                          <a:spcPts val="0"/>
                        </a:spcBef>
                        <a:spcAft>
                          <a:spcPts val="0"/>
                        </a:spcAft>
                      </a:pPr>
                      <a:r>
                        <a:rPr sz="850" b="0" i="0">
                          <a:solidFill>
                            <a:srgbClr val="B04A1F"/>
                          </a:solidFill>
                          <a:latin typeface="Calibri"/>
                        </a:rPr>
                        <a:t>Large; high latency and memory cost on CPU</a:t>
                      </a:r>
                    </a:p>
                  </a:txBody>
                  <a:tcPr marL="82296" marR="82296" marT="18288" marB="18288" anchor="ctr">
                    <a:noFill/>
                  </a:tcPr>
                </a:tc>
              </a:tr>
              <a:tr h="297180">
                <a:tc>
                  <a:txBody>
                    <a:bodyPr wrap="square"/>
                    <a:lstStyle/>
                    <a:p>
                      <a:pPr algn="l">
                        <a:spcBef>
                          <a:spcPts val="0"/>
                        </a:spcBef>
                        <a:spcAft>
                          <a:spcPts val="0"/>
                        </a:spcAft>
                      </a:pPr>
                      <a:r>
                        <a:rPr sz="900" b="1" i="0">
                          <a:solidFill>
                            <a:srgbClr val="14181D"/>
                          </a:solidFill>
                          <a:latin typeface="Calibri"/>
                        </a:rPr>
                        <a:t>Sanh et al., 2019</a:t>
                      </a:r>
                    </a:p>
                  </a:txBody>
                  <a:tcPr marL="82296" marR="82296" marT="18288" marB="18288" anchor="ctr">
                    <a:noFill/>
                  </a:tcPr>
                </a:tc>
                <a:tc>
                  <a:txBody>
                    <a:bodyPr wrap="square"/>
                    <a:lstStyle/>
                    <a:p>
                      <a:pPr algn="l">
                        <a:spcBef>
                          <a:spcPts val="0"/>
                        </a:spcBef>
                        <a:spcAft>
                          <a:spcPts val="0"/>
                        </a:spcAft>
                      </a:pPr>
                      <a:r>
                        <a:rPr sz="850" b="0" i="0">
                          <a:solidFill>
                            <a:srgbClr val="6B6F76"/>
                          </a:solidFill>
                          <a:latin typeface="Calibri"/>
                        </a:rPr>
                        <a:t>DistilBERT — ~40% smaller, ~60% faster than BERT</a:t>
                      </a:r>
                    </a:p>
                  </a:txBody>
                  <a:tcPr marL="82296" marR="82296" marT="18288" marB="18288" anchor="ctr">
                    <a:noFill/>
                  </a:tcPr>
                </a:tc>
                <a:tc>
                  <a:txBody>
                    <a:bodyPr wrap="square"/>
                    <a:lstStyle/>
                    <a:p>
                      <a:pPr algn="l">
                        <a:spcBef>
                          <a:spcPts val="0"/>
                        </a:spcBef>
                        <a:spcAft>
                          <a:spcPts val="0"/>
                        </a:spcAft>
                      </a:pPr>
                      <a:r>
                        <a:rPr sz="850" b="0" i="0">
                          <a:solidFill>
                            <a:srgbClr val="B04A1F"/>
                          </a:solidFill>
                          <a:latin typeface="Calibri"/>
                        </a:rPr>
                        <a:t>Needs further optimisation for CPU serving</a:t>
                      </a:r>
                    </a:p>
                  </a:txBody>
                  <a:tcPr marL="82296" marR="82296" marT="18288" marB="18288" anchor="ctr">
                    <a:noFill/>
                  </a:tcPr>
                </a:tc>
              </a:tr>
              <a:tr h="297180">
                <a:tc>
                  <a:txBody>
                    <a:bodyPr wrap="square"/>
                    <a:lstStyle/>
                    <a:p>
                      <a:pPr algn="l">
                        <a:spcBef>
                          <a:spcPts val="0"/>
                        </a:spcBef>
                        <a:spcAft>
                          <a:spcPts val="0"/>
                        </a:spcAft>
                      </a:pPr>
                      <a:r>
                        <a:rPr sz="900" b="1" i="0">
                          <a:solidFill>
                            <a:srgbClr val="14181D"/>
                          </a:solidFill>
                          <a:latin typeface="Calibri"/>
                        </a:rPr>
                        <a:t>Zafrir et al., 2019</a:t>
                      </a:r>
                    </a:p>
                  </a:txBody>
                  <a:tcPr marL="82296" marR="82296" marT="18288" marB="18288" anchor="ctr">
                    <a:noFill/>
                  </a:tcPr>
                </a:tc>
                <a:tc>
                  <a:txBody>
                    <a:bodyPr wrap="square"/>
                    <a:lstStyle/>
                    <a:p>
                      <a:pPr algn="l">
                        <a:spcBef>
                          <a:spcPts val="0"/>
                        </a:spcBef>
                        <a:spcAft>
                          <a:spcPts val="0"/>
                        </a:spcAft>
                      </a:pPr>
                      <a:r>
                        <a:rPr sz="850" b="0" i="0">
                          <a:solidFill>
                            <a:srgbClr val="6B6F76"/>
                          </a:solidFill>
                          <a:latin typeface="Calibri"/>
                        </a:rPr>
                        <a:t>Q8BERT, 8-bit quantization-aware training</a:t>
                      </a:r>
                    </a:p>
                  </a:txBody>
                  <a:tcPr marL="82296" marR="82296" marT="18288" marB="18288" anchor="ctr">
                    <a:noFill/>
                  </a:tcPr>
                </a:tc>
                <a:tc>
                  <a:txBody>
                    <a:bodyPr wrap="square"/>
                    <a:lstStyle/>
                    <a:p>
                      <a:pPr algn="l">
                        <a:spcBef>
                          <a:spcPts val="0"/>
                        </a:spcBef>
                        <a:spcAft>
                          <a:spcPts val="0"/>
                        </a:spcAft>
                      </a:pPr>
                      <a:r>
                        <a:rPr sz="850" b="0" i="0">
                          <a:solidFill>
                            <a:srgbClr val="B04A1F"/>
                          </a:solidFill>
                          <a:latin typeface="Calibri"/>
                        </a:rPr>
                        <a:t>Requires retraining; evaluated on general benchmarks</a:t>
                      </a:r>
                    </a:p>
                  </a:txBody>
                  <a:tcPr marL="82296" marR="82296" marT="18288" marB="18288" anchor="ctr">
                    <a:noFill/>
                  </a:tcPr>
                </a:tc>
              </a:tr>
              <a:tr h="297180">
                <a:tc>
                  <a:txBody>
                    <a:bodyPr wrap="square"/>
                    <a:lstStyle/>
                    <a:p>
                      <a:pPr algn="l">
                        <a:spcBef>
                          <a:spcPts val="0"/>
                        </a:spcBef>
                        <a:spcAft>
                          <a:spcPts val="0"/>
                        </a:spcAft>
                      </a:pPr>
                      <a:r>
                        <a:rPr sz="900" b="1" i="0">
                          <a:solidFill>
                            <a:srgbClr val="14181D"/>
                          </a:solidFill>
                          <a:latin typeface="Calibri"/>
                        </a:rPr>
                        <a:t>Minaee et al., 2021</a:t>
                      </a:r>
                    </a:p>
                  </a:txBody>
                  <a:tcPr marL="82296" marR="82296" marT="18288" marB="18288" anchor="ctr">
                    <a:noFill/>
                  </a:tcPr>
                </a:tc>
                <a:tc>
                  <a:txBody>
                    <a:bodyPr wrap="square"/>
                    <a:lstStyle/>
                    <a:p>
                      <a:pPr algn="l">
                        <a:spcBef>
                          <a:spcPts val="0"/>
                        </a:spcBef>
                        <a:spcAft>
                          <a:spcPts val="0"/>
                        </a:spcAft>
                      </a:pPr>
                      <a:r>
                        <a:rPr sz="850" b="0" i="0">
                          <a:solidFill>
                            <a:srgbClr val="6B6F76"/>
                          </a:solidFill>
                          <a:latin typeface="Calibri"/>
                        </a:rPr>
                        <a:t>Review of CNN / RNN / attention / transformer classifiers</a:t>
                      </a:r>
                    </a:p>
                  </a:txBody>
                  <a:tcPr marL="82296" marR="82296" marT="18288" marB="18288" anchor="ctr">
                    <a:noFill/>
                  </a:tcPr>
                </a:tc>
                <a:tc>
                  <a:txBody>
                    <a:bodyPr wrap="square"/>
                    <a:lstStyle/>
                    <a:p>
                      <a:pPr algn="l">
                        <a:spcBef>
                          <a:spcPts val="0"/>
                        </a:spcBef>
                        <a:spcAft>
                          <a:spcPts val="0"/>
                        </a:spcAft>
                      </a:pPr>
                      <a:r>
                        <a:rPr sz="850" b="0" i="0">
                          <a:solidFill>
                            <a:srgbClr val="B04A1F"/>
                          </a:solidFill>
                          <a:latin typeface="Calibri"/>
                        </a:rPr>
                        <a:t>Survey; no deployment guidance</a:t>
                      </a:r>
                    </a:p>
                  </a:txBody>
                  <a:tcPr marL="82296" marR="82296" marT="18288" marB="18288" anchor="ctr">
                    <a:noFill/>
                  </a:tcPr>
                </a:tc>
              </a:tr>
              <a:tr h="297180">
                <a:tc>
                  <a:txBody>
                    <a:bodyPr wrap="square"/>
                    <a:lstStyle/>
                    <a:p>
                      <a:pPr algn="l">
                        <a:spcBef>
                          <a:spcPts val="0"/>
                        </a:spcBef>
                        <a:spcAft>
                          <a:spcPts val="0"/>
                        </a:spcAft>
                      </a:pPr>
                      <a:r>
                        <a:rPr sz="900" b="1" i="0">
                          <a:solidFill>
                            <a:srgbClr val="14181D"/>
                          </a:solidFill>
                          <a:latin typeface="Calibri"/>
                        </a:rPr>
                        <a:t>Lewis et al., 2020</a:t>
                      </a:r>
                    </a:p>
                  </a:txBody>
                  <a:tcPr marL="82296" marR="82296" marT="18288" marB="18288" anchor="ctr">
                    <a:noFill/>
                  </a:tcPr>
                </a:tc>
                <a:tc>
                  <a:txBody>
                    <a:bodyPr wrap="square"/>
                    <a:lstStyle/>
                    <a:p>
                      <a:pPr algn="l">
                        <a:spcBef>
                          <a:spcPts val="0"/>
                        </a:spcBef>
                        <a:spcAft>
                          <a:spcPts val="0"/>
                        </a:spcAft>
                      </a:pPr>
                      <a:r>
                        <a:rPr sz="850" b="0" i="0">
                          <a:solidFill>
                            <a:srgbClr val="6B6F76"/>
                          </a:solidFill>
                          <a:latin typeface="Calibri"/>
                        </a:rPr>
                        <a:t>Retrieval-augmented generation for knowledge-intensive NLP</a:t>
                      </a:r>
                    </a:p>
                  </a:txBody>
                  <a:tcPr marL="82296" marR="82296" marT="18288" marB="18288" anchor="ctr">
                    <a:noFill/>
                  </a:tcPr>
                </a:tc>
                <a:tc>
                  <a:txBody>
                    <a:bodyPr wrap="square"/>
                    <a:lstStyle/>
                    <a:p>
                      <a:pPr algn="l">
                        <a:spcBef>
                          <a:spcPts val="0"/>
                        </a:spcBef>
                        <a:spcAft>
                          <a:spcPts val="0"/>
                        </a:spcAft>
                      </a:pPr>
                      <a:r>
                        <a:rPr sz="850" b="0" i="0">
                          <a:solidFill>
                            <a:srgbClr val="B04A1F"/>
                          </a:solidFill>
                          <a:latin typeface="Calibri"/>
                        </a:rPr>
                        <a:t>Needs a knowledge index; hallucination risk</a:t>
                      </a:r>
                    </a:p>
                  </a:txBody>
                  <a:tcPr marL="82296" marR="82296" marT="18288" marB="18288" anchor="ctr">
                    <a:noFill/>
                  </a:tcPr>
                </a:tc>
              </a:tr>
              <a:tr h="297180">
                <a:tc>
                  <a:txBody>
                    <a:bodyPr wrap="square"/>
                    <a:lstStyle/>
                    <a:p>
                      <a:pPr algn="l">
                        <a:spcBef>
                          <a:spcPts val="0"/>
                        </a:spcBef>
                        <a:spcAft>
                          <a:spcPts val="0"/>
                        </a:spcAft>
                      </a:pPr>
                      <a:r>
                        <a:rPr sz="900" b="1" i="0">
                          <a:solidFill>
                            <a:srgbClr val="14181D"/>
                          </a:solidFill>
                          <a:latin typeface="Calibri"/>
                        </a:rPr>
                        <a:t>Zaharia et al., 2018</a:t>
                      </a:r>
                    </a:p>
                  </a:txBody>
                  <a:tcPr marL="82296" marR="82296" marT="18288" marB="18288" anchor="ctr">
                    <a:noFill/>
                  </a:tcPr>
                </a:tc>
                <a:tc>
                  <a:txBody>
                    <a:bodyPr wrap="square"/>
                    <a:lstStyle/>
                    <a:p>
                      <a:pPr algn="l">
                        <a:spcBef>
                          <a:spcPts val="0"/>
                        </a:spcBef>
                        <a:spcAft>
                          <a:spcPts val="0"/>
                        </a:spcAft>
                      </a:pPr>
                      <a:r>
                        <a:rPr sz="850" b="0" i="0">
                          <a:solidFill>
                            <a:srgbClr val="6B6F76"/>
                          </a:solidFill>
                          <a:latin typeface="Calibri"/>
                        </a:rPr>
                        <a:t>MLflow — tracking, packaging, model registry</a:t>
                      </a:r>
                    </a:p>
                  </a:txBody>
                  <a:tcPr marL="82296" marR="82296" marT="18288" marB="18288" anchor="ctr">
                    <a:noFill/>
                  </a:tcPr>
                </a:tc>
                <a:tc>
                  <a:txBody>
                    <a:bodyPr wrap="square"/>
                    <a:lstStyle/>
                    <a:p>
                      <a:pPr algn="l">
                        <a:spcBef>
                          <a:spcPts val="0"/>
                        </a:spcBef>
                        <a:spcAft>
                          <a:spcPts val="0"/>
                        </a:spcAft>
                      </a:pPr>
                      <a:r>
                        <a:rPr sz="850" b="0" i="0">
                          <a:solidFill>
                            <a:srgbClr val="B04A1F"/>
                          </a:solidFill>
                          <a:latin typeface="Calibri"/>
                        </a:rPr>
                        <a:t>Tracking only; no text-drift monitoring</a:t>
                      </a:r>
                    </a:p>
                  </a:txBody>
                  <a:tcPr marL="82296" marR="82296" marT="18288" marB="18288" anchor="ctr">
                    <a:noFill/>
                  </a:tcPr>
                </a:tc>
              </a:tr>
            </a:tbl>
          </a:graphicData>
        </a:graphic>
      </p:graphicFrame>
      <p:sp>
        <p:nvSpPr>
          <p:cNvPr id="10" name="TextBox 9"/>
          <p:cNvSpPr txBox="1"/>
          <p:nvPr/>
        </p:nvSpPr>
        <p:spPr>
          <a:xfrm>
            <a:off x="685800" y="4759452"/>
            <a:ext cx="6931152" cy="219456"/>
          </a:xfrm>
          <a:prstGeom prst="rect">
            <a:avLst/>
          </a:prstGeom>
          <a:noFill/>
        </p:spPr>
        <p:txBody>
          <a:bodyPr wrap="square" lIns="0" rIns="0" tIns="0" bIns="0" anchor="t">
            <a:spAutoFit/>
          </a:bodyPr>
          <a:lstStyle/>
          <a:p>
            <a:pPr algn="l">
              <a:spcBef>
                <a:spcPts val="0"/>
              </a:spcBef>
              <a:spcAft>
                <a:spcPts val="0"/>
              </a:spcAft>
            </a:pPr>
            <a:r>
              <a:rPr sz="900" b="1" i="0">
                <a:solidFill>
                  <a:srgbClr val="8A6D1F"/>
                </a:solidFill>
                <a:latin typeface="Calibri"/>
              </a:rPr>
              <a:t>AND THE FOUR WE ADDED</a:t>
            </a:r>
          </a:p>
        </p:txBody>
      </p:sp>
      <p:sp>
        <p:nvSpPr>
          <p:cNvPr id="11" name="Rounded Rectangle 10"/>
          <p:cNvSpPr/>
          <p:nvPr/>
        </p:nvSpPr>
        <p:spPr>
          <a:xfrm>
            <a:off x="685800" y="4997196"/>
            <a:ext cx="3364992" cy="621792"/>
          </a:xfrm>
          <a:prstGeom prst="roundRect">
            <a:avLst>
              <a:gd name="adj" fmla="val 4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2" name="TextBox 11"/>
          <p:cNvSpPr txBox="1"/>
          <p:nvPr/>
        </p:nvSpPr>
        <p:spPr>
          <a:xfrm>
            <a:off x="832104" y="5061204"/>
            <a:ext cx="3072384" cy="201168"/>
          </a:xfrm>
          <a:prstGeom prst="rect">
            <a:avLst/>
          </a:prstGeom>
          <a:noFill/>
        </p:spPr>
        <p:txBody>
          <a:bodyPr wrap="square" lIns="0" rIns="0" tIns="0" bIns="0" anchor="t">
            <a:spAutoFit/>
          </a:bodyPr>
          <a:lstStyle/>
          <a:p>
            <a:pPr algn="l">
              <a:spcBef>
                <a:spcPts val="0"/>
              </a:spcBef>
              <a:spcAft>
                <a:spcPts val="0"/>
              </a:spcAft>
            </a:pPr>
            <a:r>
              <a:rPr sz="850" b="1" i="0">
                <a:solidFill>
                  <a:srgbClr val="14181D"/>
                </a:solidFill>
                <a:latin typeface="Calibri"/>
              </a:rPr>
              <a:t>Tunstall et al., 2022  ·  </a:t>
            </a:r>
            <a:r>
              <a:rPr sz="800" b="0" i="0">
                <a:solidFill>
                  <a:srgbClr val="8A6D1F"/>
                </a:solidFill>
                <a:latin typeface="Calibri"/>
              </a:rPr>
              <a:t>SetFit, arXiv:2209.11055</a:t>
            </a:r>
          </a:p>
        </p:txBody>
      </p:sp>
      <p:sp>
        <p:nvSpPr>
          <p:cNvPr id="13" name="TextBox 12"/>
          <p:cNvSpPr txBox="1"/>
          <p:nvPr/>
        </p:nvSpPr>
        <p:spPr>
          <a:xfrm>
            <a:off x="832104" y="5262372"/>
            <a:ext cx="3072384" cy="310896"/>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6B6F76"/>
                </a:solidFill>
                <a:latin typeface="Calibri"/>
              </a:rPr>
              <a:t>8 examples per class beats full fine-tuning by 19.3 points — the sanity check on how little data a good head needs.</a:t>
            </a:r>
          </a:p>
        </p:txBody>
      </p:sp>
      <p:sp>
        <p:nvSpPr>
          <p:cNvPr id="14" name="Rounded Rectangle 13"/>
          <p:cNvSpPr/>
          <p:nvPr/>
        </p:nvSpPr>
        <p:spPr>
          <a:xfrm>
            <a:off x="4251960" y="4997196"/>
            <a:ext cx="3364992" cy="621792"/>
          </a:xfrm>
          <a:prstGeom prst="roundRect">
            <a:avLst>
              <a:gd name="adj" fmla="val 4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5" name="TextBox 14"/>
          <p:cNvSpPr txBox="1"/>
          <p:nvPr/>
        </p:nvSpPr>
        <p:spPr>
          <a:xfrm>
            <a:off x="4398264" y="5061204"/>
            <a:ext cx="3072384" cy="201168"/>
          </a:xfrm>
          <a:prstGeom prst="rect">
            <a:avLst/>
          </a:prstGeom>
          <a:noFill/>
        </p:spPr>
        <p:txBody>
          <a:bodyPr wrap="square" lIns="0" rIns="0" tIns="0" bIns="0" anchor="t">
            <a:spAutoFit/>
          </a:bodyPr>
          <a:lstStyle/>
          <a:p>
            <a:pPr algn="l">
              <a:spcBef>
                <a:spcPts val="0"/>
              </a:spcBef>
              <a:spcAft>
                <a:spcPts val="0"/>
              </a:spcAft>
            </a:pPr>
            <a:r>
              <a:rPr sz="850" b="1" i="0">
                <a:solidFill>
                  <a:srgbClr val="14181D"/>
                </a:solidFill>
                <a:latin typeface="Calibri"/>
              </a:rPr>
              <a:t>Angelopoulos &amp; Bates, 2019  ·  </a:t>
            </a:r>
            <a:r>
              <a:rPr sz="800" b="0" i="0">
                <a:solidFill>
                  <a:srgbClr val="8A6D1F"/>
                </a:solidFill>
                <a:latin typeface="Calibri"/>
              </a:rPr>
              <a:t>conformal prediction, arXiv:1907.07509</a:t>
            </a:r>
          </a:p>
        </p:txBody>
      </p:sp>
      <p:sp>
        <p:nvSpPr>
          <p:cNvPr id="16" name="TextBox 15"/>
          <p:cNvSpPr txBox="1"/>
          <p:nvPr/>
        </p:nvSpPr>
        <p:spPr>
          <a:xfrm>
            <a:off x="4398264" y="5262372"/>
            <a:ext cx="3072384" cy="310896"/>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6B6F76"/>
                </a:solidFill>
                <a:latin typeface="Calibri"/>
              </a:rPr>
              <a:t>Turns "auto-answer the confident 90%" into a finite-sample guarantee rather than a tuned threshold.</a:t>
            </a:r>
          </a:p>
        </p:txBody>
      </p:sp>
      <p:sp>
        <p:nvSpPr>
          <p:cNvPr id="17" name="Rounded Rectangle 16"/>
          <p:cNvSpPr/>
          <p:nvPr/>
        </p:nvSpPr>
        <p:spPr>
          <a:xfrm>
            <a:off x="685800" y="5673852"/>
            <a:ext cx="3364992" cy="621792"/>
          </a:xfrm>
          <a:prstGeom prst="roundRect">
            <a:avLst>
              <a:gd name="adj" fmla="val 4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8" name="TextBox 17"/>
          <p:cNvSpPr txBox="1"/>
          <p:nvPr/>
        </p:nvSpPr>
        <p:spPr>
          <a:xfrm>
            <a:off x="832104" y="5737860"/>
            <a:ext cx="3072384" cy="201168"/>
          </a:xfrm>
          <a:prstGeom prst="rect">
            <a:avLst/>
          </a:prstGeom>
          <a:noFill/>
        </p:spPr>
        <p:txBody>
          <a:bodyPr wrap="square" lIns="0" rIns="0" tIns="0" bIns="0" anchor="t">
            <a:spAutoFit/>
          </a:bodyPr>
          <a:lstStyle/>
          <a:p>
            <a:pPr algn="l">
              <a:spcBef>
                <a:spcPts val="0"/>
              </a:spcBef>
              <a:spcAft>
                <a:spcPts val="0"/>
              </a:spcAft>
            </a:pPr>
            <a:r>
              <a:rPr sz="850" b="1" i="0">
                <a:solidFill>
                  <a:srgbClr val="14181D"/>
                </a:solidFill>
                <a:latin typeface="Calibri"/>
              </a:rPr>
              <a:t>Northcutt et al., 2021  ·  </a:t>
            </a:r>
            <a:r>
              <a:rPr sz="800" b="0" i="0">
                <a:solidFill>
                  <a:srgbClr val="8A6D1F"/>
                </a:solidFill>
                <a:latin typeface="Calibri"/>
              </a:rPr>
              <a:t>confident learning / cleanlab</a:t>
            </a:r>
          </a:p>
        </p:txBody>
      </p:sp>
      <p:sp>
        <p:nvSpPr>
          <p:cNvPr id="19" name="TextBox 18"/>
          <p:cNvSpPr txBox="1"/>
          <p:nvPr/>
        </p:nvSpPr>
        <p:spPr>
          <a:xfrm>
            <a:off x="832104" y="5939028"/>
            <a:ext cx="3072384" cy="310896"/>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6B6F76"/>
                </a:solidFill>
                <a:latin typeface="Calibri"/>
              </a:rPr>
              <a:t>The only way to know whether the labels we trained on are wrong is to audit them.</a:t>
            </a:r>
          </a:p>
        </p:txBody>
      </p:sp>
      <p:sp>
        <p:nvSpPr>
          <p:cNvPr id="20" name="Rounded Rectangle 19"/>
          <p:cNvSpPr/>
          <p:nvPr/>
        </p:nvSpPr>
        <p:spPr>
          <a:xfrm>
            <a:off x="4251960" y="5673852"/>
            <a:ext cx="3364992" cy="621792"/>
          </a:xfrm>
          <a:prstGeom prst="roundRect">
            <a:avLst>
              <a:gd name="adj" fmla="val 4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1" name="TextBox 20"/>
          <p:cNvSpPr txBox="1"/>
          <p:nvPr/>
        </p:nvSpPr>
        <p:spPr>
          <a:xfrm>
            <a:off x="4398264" y="5737860"/>
            <a:ext cx="3072384" cy="201168"/>
          </a:xfrm>
          <a:prstGeom prst="rect">
            <a:avLst/>
          </a:prstGeom>
          <a:noFill/>
        </p:spPr>
        <p:txBody>
          <a:bodyPr wrap="square" lIns="0" rIns="0" tIns="0" bIns="0" anchor="t">
            <a:spAutoFit/>
          </a:bodyPr>
          <a:lstStyle/>
          <a:p>
            <a:pPr algn="l">
              <a:spcBef>
                <a:spcPts val="0"/>
              </a:spcBef>
              <a:spcAft>
                <a:spcPts val="0"/>
              </a:spcAft>
            </a:pPr>
            <a:r>
              <a:rPr sz="850" b="1" i="0">
                <a:solidFill>
                  <a:srgbClr val="14181D"/>
                </a:solidFill>
                <a:latin typeface="Calibri"/>
              </a:rPr>
              <a:t>Ying &amp; Thomas, 2022  ·  </a:t>
            </a:r>
            <a:r>
              <a:rPr sz="800" b="0" i="0">
                <a:solidFill>
                  <a:srgbClr val="8A6D1F"/>
                </a:solidFill>
                <a:latin typeface="Calibri"/>
              </a:rPr>
              <a:t>Banking77 label noise, 2022.insights-1.19</a:t>
            </a:r>
          </a:p>
        </p:txBody>
      </p:sp>
      <p:sp>
        <p:nvSpPr>
          <p:cNvPr id="22" name="TextBox 21"/>
          <p:cNvSpPr txBox="1"/>
          <p:nvPr/>
        </p:nvSpPr>
        <p:spPr>
          <a:xfrm>
            <a:off x="4398264" y="5939028"/>
            <a:ext cx="3072384" cy="310896"/>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6B6F76"/>
                </a:solidFill>
                <a:latin typeface="Calibri"/>
              </a:rPr>
              <a:t>~14% noise reported at the 77-intent level; ours found far less, and the gap is worth explaining.</a:t>
            </a:r>
          </a:p>
        </p:txBody>
      </p:sp>
      <p:sp>
        <p:nvSpPr>
          <p:cNvPr id="23" name="Rounded Rectangle 22"/>
          <p:cNvSpPr/>
          <p:nvPr/>
        </p:nvSpPr>
        <p:spPr>
          <a:xfrm>
            <a:off x="7927848" y="1627632"/>
            <a:ext cx="3578047" cy="4114800"/>
          </a:xfrm>
          <a:prstGeom prst="roundRect">
            <a:avLst>
              <a:gd name="adj" fmla="val 5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4" name="TextBox 23"/>
          <p:cNvSpPr txBox="1"/>
          <p:nvPr/>
        </p:nvSpPr>
        <p:spPr>
          <a:xfrm>
            <a:off x="8202168" y="1847088"/>
            <a:ext cx="3029407" cy="237744"/>
          </a:xfrm>
          <a:prstGeom prst="rect">
            <a:avLst/>
          </a:prstGeom>
          <a:noFill/>
        </p:spPr>
        <p:txBody>
          <a:bodyPr wrap="square" lIns="0" rIns="0" tIns="0" bIns="0" anchor="t">
            <a:spAutoFit/>
          </a:bodyPr>
          <a:lstStyle/>
          <a:p>
            <a:pPr algn="l">
              <a:spcBef>
                <a:spcPts val="0"/>
              </a:spcBef>
              <a:spcAft>
                <a:spcPts val="0"/>
              </a:spcAft>
            </a:pPr>
            <a:r>
              <a:rPr sz="950" b="1" i="0">
                <a:solidFill>
                  <a:srgbClr val="DDECE9"/>
                </a:solidFill>
                <a:latin typeface="Calibri"/>
              </a:rPr>
              <a:t>THE GAP</a:t>
            </a:r>
          </a:p>
        </p:txBody>
      </p:sp>
      <p:sp>
        <p:nvSpPr>
          <p:cNvPr id="25" name="TextBox 24"/>
          <p:cNvSpPr txBox="1"/>
          <p:nvPr/>
        </p:nvSpPr>
        <p:spPr>
          <a:xfrm>
            <a:off x="8202168" y="2157984"/>
            <a:ext cx="3029407" cy="1737360"/>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FFFFFF"/>
                </a:solidFill>
                <a:latin typeface="Calibri"/>
              </a:rPr>
              <a:t>Nine works, nine limitations — and every one of them stops exactly where the next one starts. Classifiers that do not route. Routers that do not prioritise. RAG that hallucinates. MLOps that watches metrics but not text. Not one of them ships a calibrated, abstaining, CPU-only triage loop.</a:t>
            </a:r>
          </a:p>
        </p:txBody>
      </p:sp>
      <p:sp>
        <p:nvSpPr>
          <p:cNvPr id="26" name="Rectangle 25"/>
          <p:cNvSpPr/>
          <p:nvPr/>
        </p:nvSpPr>
        <p:spPr>
          <a:xfrm>
            <a:off x="8202168" y="4023360"/>
            <a:ext cx="3029407" cy="11430"/>
          </a:xfrm>
          <a:prstGeom prst="rect">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4187952"/>
            <a:ext cx="3029407" cy="1371600"/>
          </a:xfrm>
          <a:prstGeom prst="rect">
            <a:avLst/>
          </a:prstGeom>
          <a:noFill/>
        </p:spPr>
        <p:txBody>
          <a:bodyPr wrap="square" lIns="0" rIns="0" tIns="0" bIns="0" anchor="t">
            <a:spAutoFit/>
          </a:bodyPr>
          <a:lstStyle/>
          <a:p>
            <a:pPr algn="l">
              <a:lnSpc>
                <a:spcPct val="130000"/>
              </a:lnSpc>
              <a:spcBef>
                <a:spcPts val="0"/>
              </a:spcBef>
              <a:spcAft>
                <a:spcPts val="0"/>
              </a:spcAft>
            </a:pPr>
            <a:r>
              <a:rPr sz="950" b="1" i="0">
                <a:solidFill>
                  <a:srgbClr val="DDECE9"/>
                </a:solidFill>
                <a:latin typeface="Calibri"/>
              </a:rPr>
              <a:t>A disagreement worth reporting. </a:t>
            </a:r>
            <a:r>
              <a:rPr sz="950" b="1" i="0">
                <a:solidFill>
                  <a:srgbClr val="F7E6DC"/>
                </a:solidFill>
                <a:latin typeface="Calibri"/>
              </a:rPr>
              <a:t>Ying &amp; Thomas report ~14% label noise in Banking77</a:t>
            </a:r>
            <a:r>
              <a:rPr sz="950" b="0" i="0">
                <a:solidFill>
                  <a:srgbClr val="9C978E"/>
                </a:solidFill>
                <a:latin typeface="Calibri"/>
              </a:rPr>
              <a:t>; our confident-learning audit flags 101 of 9,158 training labels — 1.1%. Not the same claim: theirs is at the 77-intent level on the full dataset, ours at the coarse level on the train split only: coarse grouping absorbs most fine-intent boundary noise.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515600" cy="201168"/>
          </a:xfrm>
          <a:prstGeom prst="rect">
            <a:avLst/>
          </a:prstGeom>
          <a:noFill/>
        </p:spPr>
        <p:txBody>
          <a:bodyPr wrap="square" lIns="0" rIns="0" tIns="0" bIns="0" anchor="t">
            <a:spAutoFit/>
          </a:bodyPr>
          <a:lstStyle/>
          <a:p>
            <a:pPr algn="l">
              <a:spcBef>
                <a:spcPts val="0"/>
              </a:spcBef>
              <a:spcAft>
                <a:spcPts val="0"/>
              </a:spcAft>
            </a:pPr>
            <a:r>
              <a:rPr sz="950" b="1" i="0">
                <a:solidFill>
                  <a:srgbClr val="0B6E63"/>
                </a:solidFill>
                <a:latin typeface="Calibri"/>
              </a:rPr>
              <a:t>METHODOLOGY</a:t>
            </a:r>
          </a:p>
        </p:txBody>
      </p:sp>
      <p:sp>
        <p:nvSpPr>
          <p:cNvPr id="4" name="TextBox 3"/>
          <p:cNvSpPr txBox="1"/>
          <p:nvPr/>
        </p:nvSpPr>
        <p:spPr>
          <a:xfrm>
            <a:off x="685800" y="548640"/>
            <a:ext cx="10820095" cy="585216"/>
          </a:xfrm>
          <a:prstGeom prst="rect">
            <a:avLst/>
          </a:prstGeom>
          <a:noFill/>
        </p:spPr>
        <p:txBody>
          <a:bodyPr wrap="square" lIns="0" rIns="0" tIns="0" bIns="0" anchor="t">
            <a:spAutoFit/>
          </a:bodyPr>
          <a:lstStyle/>
          <a:p>
            <a:pPr algn="l">
              <a:lnSpc>
                <a:spcPct val="104000"/>
              </a:lnSpc>
              <a:spcBef>
                <a:spcPts val="0"/>
              </a:spcBef>
              <a:spcAft>
                <a:spcPts val="0"/>
              </a:spcAft>
            </a:pPr>
            <a:r>
              <a:rPr sz="2100" b="0" i="0">
                <a:solidFill>
                  <a:srgbClr val="14181D"/>
                </a:solidFill>
                <a:latin typeface="Georgia"/>
              </a:rPr>
              <a:t>Two sparse views, two cheap heads, one calibrated gate. Every number below is measured on a held-out split.</a:t>
            </a:r>
          </a:p>
        </p:txBody>
      </p:sp>
      <p:sp>
        <p:nvSpPr>
          <p:cNvPr id="5" name="TextBox 4"/>
          <p:cNvSpPr txBox="1"/>
          <p:nvPr/>
        </p:nvSpPr>
        <p:spPr>
          <a:xfrm>
            <a:off x="685800" y="1170432"/>
            <a:ext cx="10820095" cy="256032"/>
          </a:xfrm>
          <a:prstGeom prst="rect">
            <a:avLst/>
          </a:prstGeom>
          <a:noFill/>
        </p:spPr>
        <p:txBody>
          <a:bodyPr wrap="square" lIns="0" rIns="0" tIns="0" bIns="0" anchor="t">
            <a:spAutoFit/>
          </a:bodyPr>
          <a:lstStyle/>
          <a:p>
            <a:pPr algn="l">
              <a:lnSpc>
                <a:spcPct val="112000"/>
              </a:lnSpc>
              <a:spcBef>
                <a:spcPts val="0"/>
              </a:spcBef>
              <a:spcAft>
                <a:spcPts val="0"/>
              </a:spcAft>
            </a:pPr>
            <a:r>
              <a:rPr sz="1150" b="0" i="0">
                <a:solidFill>
                  <a:srgbClr val="6B6F76"/>
                </a:solidFill>
                <a:latin typeface="Calibri"/>
              </a:rPr>
              <a:t>Train 9,158 / validation 1,962 / test 1,963, stratified 70/15/15 on the coarse label, seed 20261003. Nothing is tuned on test.</a:t>
            </a:r>
          </a:p>
        </p:txBody>
      </p:sp>
      <p:sp>
        <p:nvSpPr>
          <p:cNvPr id="6" name="Rectangle 5"/>
          <p:cNvSpPr/>
          <p:nvPr/>
        </p:nvSpPr>
        <p:spPr>
          <a:xfrm>
            <a:off x="685800" y="1463040"/>
            <a:ext cx="10820095" cy="1143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55664"/>
            <a:ext cx="5486400" cy="201168"/>
          </a:xfrm>
          <a:prstGeom prst="rect">
            <a:avLst/>
          </a:prstGeom>
          <a:noFill/>
        </p:spPr>
        <p:txBody>
          <a:bodyPr wrap="square" lIns="0" rIns="0" tIns="0" bIns="0" anchor="t">
            <a:spAutoFit/>
          </a:bodyPr>
          <a:lstStyle/>
          <a:p>
            <a:pPr algn="l">
              <a:spcBef>
                <a:spcPts val="0"/>
              </a:spcBef>
              <a:spcAft>
                <a:spcPts val="0"/>
              </a:spcAft>
            </a:pPr>
            <a:r>
              <a:rPr sz="850" b="0" i="0">
                <a:solidFill>
                  <a:srgbClr val="9C978E"/>
                </a:solidFill>
                <a:latin typeface="Calibri"/>
              </a:rPr>
              <a:t>DRONA · Banking77 ticket triage · all figures from artifacts/reports/</a:t>
            </a:r>
          </a:p>
        </p:txBody>
      </p:sp>
      <p:sp>
        <p:nvSpPr>
          <p:cNvPr id="8" name="TextBox 7"/>
          <p:cNvSpPr txBox="1"/>
          <p:nvPr/>
        </p:nvSpPr>
        <p:spPr>
          <a:xfrm>
            <a:off x="9144000" y="6455664"/>
            <a:ext cx="2361895" cy="201168"/>
          </a:xfrm>
          <a:prstGeom prst="rect">
            <a:avLst/>
          </a:prstGeom>
          <a:noFill/>
        </p:spPr>
        <p:txBody>
          <a:bodyPr wrap="square" lIns="0" rIns="0" tIns="0" bIns="0" anchor="t">
            <a:spAutoFit/>
          </a:bodyPr>
          <a:lstStyle/>
          <a:p>
            <a:pPr algn="r">
              <a:spcBef>
                <a:spcPts val="0"/>
              </a:spcBef>
              <a:spcAft>
                <a:spcPts val="0"/>
              </a:spcAft>
            </a:pPr>
            <a:r>
              <a:rPr sz="850" b="0" i="0">
                <a:solidFill>
                  <a:srgbClr val="9C978E"/>
                </a:solidFill>
                <a:latin typeface="Calibri"/>
              </a:rPr>
              <a:t>6</a:t>
            </a:r>
          </a:p>
        </p:txBody>
      </p:sp>
      <p:sp>
        <p:nvSpPr>
          <p:cNvPr id="9" name="Rounded Rectangle 8"/>
          <p:cNvSpPr/>
          <p:nvPr/>
        </p:nvSpPr>
        <p:spPr>
          <a:xfrm>
            <a:off x="685800" y="1627632"/>
            <a:ext cx="1422349" cy="1517904"/>
          </a:xfrm>
          <a:prstGeom prst="roundRect">
            <a:avLst>
              <a:gd name="adj" fmla="val 5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0" name="Rounded Rectangle 9"/>
          <p:cNvSpPr/>
          <p:nvPr/>
        </p:nvSpPr>
        <p:spPr>
          <a:xfrm>
            <a:off x="685800" y="1627632"/>
            <a:ext cx="1422349" cy="41148"/>
          </a:xfrm>
          <a:prstGeom prst="roundRect">
            <a:avLst>
              <a:gd name="adj" fmla="val 0"/>
            </a:avLst>
          </a:prstGeom>
          <a:solidFill>
            <a:srgbClr val="7A88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1" name="TextBox 10"/>
          <p:cNvSpPr txBox="1"/>
          <p:nvPr/>
        </p:nvSpPr>
        <p:spPr>
          <a:xfrm>
            <a:off x="850392" y="1792224"/>
            <a:ext cx="1093165" cy="219456"/>
          </a:xfrm>
          <a:prstGeom prst="rect">
            <a:avLst/>
          </a:prstGeom>
          <a:noFill/>
        </p:spPr>
        <p:txBody>
          <a:bodyPr wrap="square" lIns="0" rIns="0" tIns="0" bIns="0" anchor="t">
            <a:spAutoFit/>
          </a:bodyPr>
          <a:lstStyle/>
          <a:p>
            <a:pPr algn="l">
              <a:spcBef>
                <a:spcPts val="0"/>
              </a:spcBef>
              <a:spcAft>
                <a:spcPts val="0"/>
              </a:spcAft>
            </a:pPr>
            <a:r>
              <a:rPr sz="900" b="1" i="0">
                <a:solidFill>
                  <a:srgbClr val="7A8894"/>
                </a:solidFill>
                <a:latin typeface="Calibri"/>
              </a:rPr>
              <a:t>1  TWO VIEWS</a:t>
            </a:r>
          </a:p>
        </p:txBody>
      </p:sp>
      <p:sp>
        <p:nvSpPr>
          <p:cNvPr id="12" name="TextBox 11"/>
          <p:cNvSpPr txBox="1"/>
          <p:nvPr/>
        </p:nvSpPr>
        <p:spPr>
          <a:xfrm>
            <a:off x="850392" y="2066543"/>
            <a:ext cx="1093165" cy="566928"/>
          </a:xfrm>
          <a:prstGeom prst="rect">
            <a:avLst/>
          </a:prstGeom>
          <a:noFill/>
        </p:spPr>
        <p:txBody>
          <a:bodyPr wrap="square" lIns="0" rIns="0" tIns="0" bIns="0" anchor="t">
            <a:spAutoFit/>
          </a:bodyPr>
          <a:lstStyle/>
          <a:p>
            <a:pPr algn="l">
              <a:lnSpc>
                <a:spcPct val="126000"/>
              </a:lnSpc>
              <a:spcBef>
                <a:spcPts val="0"/>
              </a:spcBef>
              <a:spcAft>
                <a:spcPts val="0"/>
              </a:spcAft>
            </a:pPr>
            <a:r>
              <a:rPr sz="1000" b="0" i="0">
                <a:solidFill>
                  <a:srgbClr val="14181D"/>
                </a:solidFill>
                <a:latin typeface="Calibri"/>
              </a:rPr>
              <a:t>char_wb 3–5 grams
word 1–2 grams</a:t>
            </a:r>
          </a:p>
        </p:txBody>
      </p:sp>
      <p:sp>
        <p:nvSpPr>
          <p:cNvPr id="13" name="TextBox 12"/>
          <p:cNvSpPr txBox="1"/>
          <p:nvPr/>
        </p:nvSpPr>
        <p:spPr>
          <a:xfrm>
            <a:off x="850392" y="2706624"/>
            <a:ext cx="1093165" cy="347472"/>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6B6F76"/>
                </a:solidFill>
                <a:latin typeface="Calibri"/>
              </a:rPr>
              <a:t>34,901 features</a:t>
            </a:r>
          </a:p>
        </p:txBody>
      </p:sp>
      <p:sp>
        <p:nvSpPr>
          <p:cNvPr id="14" name="TextBox 13"/>
          <p:cNvSpPr txBox="1"/>
          <p:nvPr/>
        </p:nvSpPr>
        <p:spPr>
          <a:xfrm>
            <a:off x="2181301" y="2286000"/>
            <a:ext cx="310896" cy="219456"/>
          </a:xfrm>
          <a:prstGeom prst="rect">
            <a:avLst/>
          </a:prstGeom>
          <a:noFill/>
        </p:spPr>
        <p:txBody>
          <a:bodyPr wrap="square" lIns="0" rIns="0" tIns="0" bIns="0" anchor="t">
            <a:spAutoFit/>
          </a:bodyPr>
          <a:lstStyle/>
          <a:p>
            <a:pPr algn="l">
              <a:spcBef>
                <a:spcPts val="0"/>
              </a:spcBef>
              <a:spcAft>
                <a:spcPts val="0"/>
              </a:spcAft>
            </a:pPr>
            <a:r>
              <a:rPr sz="1500" b="0" i="0">
                <a:solidFill>
                  <a:srgbClr val="9C978E"/>
                </a:solidFill>
                <a:latin typeface="Calibri"/>
              </a:rPr>
              <a:t>→</a:t>
            </a:r>
          </a:p>
        </p:txBody>
      </p:sp>
      <p:sp>
        <p:nvSpPr>
          <p:cNvPr id="15" name="Rounded Rectangle 14"/>
          <p:cNvSpPr/>
          <p:nvPr/>
        </p:nvSpPr>
        <p:spPr>
          <a:xfrm>
            <a:off x="2565349" y="1627632"/>
            <a:ext cx="1422349" cy="1517904"/>
          </a:xfrm>
          <a:prstGeom prst="roundRect">
            <a:avLst>
              <a:gd name="adj" fmla="val 5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6" name="Rounded Rectangle 15"/>
          <p:cNvSpPr/>
          <p:nvPr/>
        </p:nvSpPr>
        <p:spPr>
          <a:xfrm>
            <a:off x="2565349" y="1627632"/>
            <a:ext cx="1422349" cy="41148"/>
          </a:xfrm>
          <a:prstGeom prst="roundRect">
            <a:avLst>
              <a:gd name="adj" fmla="val 0"/>
            </a:avLst>
          </a:prstGeom>
          <a:solidFill>
            <a:srgbClr val="7A88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7" name="TextBox 16"/>
          <p:cNvSpPr txBox="1"/>
          <p:nvPr/>
        </p:nvSpPr>
        <p:spPr>
          <a:xfrm>
            <a:off x="2729941" y="1792224"/>
            <a:ext cx="1093165" cy="219456"/>
          </a:xfrm>
          <a:prstGeom prst="rect">
            <a:avLst/>
          </a:prstGeom>
          <a:noFill/>
        </p:spPr>
        <p:txBody>
          <a:bodyPr wrap="square" lIns="0" rIns="0" tIns="0" bIns="0" anchor="t">
            <a:spAutoFit/>
          </a:bodyPr>
          <a:lstStyle/>
          <a:p>
            <a:pPr algn="l">
              <a:spcBef>
                <a:spcPts val="0"/>
              </a:spcBef>
              <a:spcAft>
                <a:spcPts val="0"/>
              </a:spcAft>
            </a:pPr>
            <a:r>
              <a:rPr sz="900" b="1" i="0">
                <a:solidFill>
                  <a:srgbClr val="7A8894"/>
                </a:solidFill>
                <a:latin typeface="Calibri"/>
              </a:rPr>
              <a:t>2  TWO HEADS</a:t>
            </a:r>
          </a:p>
        </p:txBody>
      </p:sp>
      <p:sp>
        <p:nvSpPr>
          <p:cNvPr id="18" name="TextBox 17"/>
          <p:cNvSpPr txBox="1"/>
          <p:nvPr/>
        </p:nvSpPr>
        <p:spPr>
          <a:xfrm>
            <a:off x="2729941" y="2066543"/>
            <a:ext cx="1093165" cy="566928"/>
          </a:xfrm>
          <a:prstGeom prst="rect">
            <a:avLst/>
          </a:prstGeom>
          <a:noFill/>
        </p:spPr>
        <p:txBody>
          <a:bodyPr wrap="square" lIns="0" rIns="0" tIns="0" bIns="0" anchor="t">
            <a:spAutoFit/>
          </a:bodyPr>
          <a:lstStyle/>
          <a:p>
            <a:pPr algn="l">
              <a:lnSpc>
                <a:spcPct val="126000"/>
              </a:lnSpc>
              <a:spcBef>
                <a:spcPts val="0"/>
              </a:spcBef>
              <a:spcAft>
                <a:spcPts val="0"/>
              </a:spcAft>
            </a:pPr>
            <a:r>
              <a:rPr sz="1000" b="0" i="0">
                <a:solidFill>
                  <a:srgbClr val="14181D"/>
                </a:solidFill>
                <a:latin typeface="Calibri"/>
              </a:rPr>
              <a:t>LinearSVC
kNN, k=15</a:t>
            </a:r>
          </a:p>
        </p:txBody>
      </p:sp>
      <p:sp>
        <p:nvSpPr>
          <p:cNvPr id="19" name="TextBox 18"/>
          <p:cNvSpPr txBox="1"/>
          <p:nvPr/>
        </p:nvSpPr>
        <p:spPr>
          <a:xfrm>
            <a:off x="2729941" y="2706624"/>
            <a:ext cx="1093165" cy="347472"/>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6B6F76"/>
                </a:solidFill>
                <a:latin typeface="Calibri"/>
              </a:rPr>
              <a:t>trained on the same union</a:t>
            </a:r>
          </a:p>
        </p:txBody>
      </p:sp>
      <p:sp>
        <p:nvSpPr>
          <p:cNvPr id="20" name="TextBox 19"/>
          <p:cNvSpPr txBox="1"/>
          <p:nvPr/>
        </p:nvSpPr>
        <p:spPr>
          <a:xfrm>
            <a:off x="4060850" y="2286000"/>
            <a:ext cx="310896" cy="219456"/>
          </a:xfrm>
          <a:prstGeom prst="rect">
            <a:avLst/>
          </a:prstGeom>
          <a:noFill/>
        </p:spPr>
        <p:txBody>
          <a:bodyPr wrap="square" lIns="0" rIns="0" tIns="0" bIns="0" anchor="t">
            <a:spAutoFit/>
          </a:bodyPr>
          <a:lstStyle/>
          <a:p>
            <a:pPr algn="l">
              <a:spcBef>
                <a:spcPts val="0"/>
              </a:spcBef>
              <a:spcAft>
                <a:spcPts val="0"/>
              </a:spcAft>
            </a:pPr>
            <a:r>
              <a:rPr sz="1500" b="0" i="0">
                <a:solidFill>
                  <a:srgbClr val="9C978E"/>
                </a:solidFill>
                <a:latin typeface="Calibri"/>
              </a:rPr>
              <a:t>→</a:t>
            </a:r>
          </a:p>
        </p:txBody>
      </p:sp>
      <p:sp>
        <p:nvSpPr>
          <p:cNvPr id="21" name="Rounded Rectangle 20"/>
          <p:cNvSpPr/>
          <p:nvPr/>
        </p:nvSpPr>
        <p:spPr>
          <a:xfrm>
            <a:off x="4444898" y="1627632"/>
            <a:ext cx="1422349" cy="1517904"/>
          </a:xfrm>
          <a:prstGeom prst="roundRect">
            <a:avLst>
              <a:gd name="adj" fmla="val 5000"/>
            </a:avLst>
          </a:prstGeom>
          <a:solidFill>
            <a:srgbClr val="DD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2" name="Rounded Rectangle 21"/>
          <p:cNvSpPr/>
          <p:nvPr/>
        </p:nvSpPr>
        <p:spPr>
          <a:xfrm>
            <a:off x="4444898" y="1627632"/>
            <a:ext cx="1422349" cy="41148"/>
          </a:xfrm>
          <a:prstGeom prst="roundRect">
            <a:avLst>
              <a:gd name="adj" fmla="val 0"/>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3" name="TextBox 22"/>
          <p:cNvSpPr txBox="1"/>
          <p:nvPr/>
        </p:nvSpPr>
        <p:spPr>
          <a:xfrm>
            <a:off x="4609490" y="1792224"/>
            <a:ext cx="1093165" cy="219456"/>
          </a:xfrm>
          <a:prstGeom prst="rect">
            <a:avLst/>
          </a:prstGeom>
          <a:noFill/>
        </p:spPr>
        <p:txBody>
          <a:bodyPr wrap="square" lIns="0" rIns="0" tIns="0" bIns="0" anchor="t">
            <a:spAutoFit/>
          </a:bodyPr>
          <a:lstStyle/>
          <a:p>
            <a:pPr algn="l">
              <a:spcBef>
                <a:spcPts val="0"/>
              </a:spcBef>
              <a:spcAft>
                <a:spcPts val="0"/>
              </a:spcAft>
            </a:pPr>
            <a:r>
              <a:rPr sz="900" b="1" i="0">
                <a:solidFill>
                  <a:srgbClr val="0B6E63"/>
                </a:solidFill>
                <a:latin typeface="Calibri"/>
              </a:rPr>
              <a:t>3  FUSION</a:t>
            </a:r>
          </a:p>
        </p:txBody>
      </p:sp>
      <p:sp>
        <p:nvSpPr>
          <p:cNvPr id="24" name="TextBox 23"/>
          <p:cNvSpPr txBox="1"/>
          <p:nvPr/>
        </p:nvSpPr>
        <p:spPr>
          <a:xfrm>
            <a:off x="4609490" y="2066543"/>
            <a:ext cx="1093165" cy="566928"/>
          </a:xfrm>
          <a:prstGeom prst="rect">
            <a:avLst/>
          </a:prstGeom>
          <a:noFill/>
        </p:spPr>
        <p:txBody>
          <a:bodyPr wrap="square" lIns="0" rIns="0" tIns="0" bIns="0" anchor="t">
            <a:spAutoFit/>
          </a:bodyPr>
          <a:lstStyle/>
          <a:p>
            <a:pPr algn="l">
              <a:lnSpc>
                <a:spcPct val="126000"/>
              </a:lnSpc>
              <a:spcBef>
                <a:spcPts val="0"/>
              </a:spcBef>
              <a:spcAft>
                <a:spcPts val="0"/>
              </a:spcAft>
            </a:pPr>
            <a:r>
              <a:rPr sz="1000" b="0" i="0">
                <a:solidFill>
                  <a:srgbClr val="14181D"/>
                </a:solidFill>
                <a:latin typeface="Calibri"/>
              </a:rPr>
              <a:t>weighted log-prob
average, then temperature</a:t>
            </a:r>
          </a:p>
        </p:txBody>
      </p:sp>
      <p:sp>
        <p:nvSpPr>
          <p:cNvPr id="25" name="TextBox 24"/>
          <p:cNvSpPr txBox="1"/>
          <p:nvPr/>
        </p:nvSpPr>
        <p:spPr>
          <a:xfrm>
            <a:off x="4609490" y="2706624"/>
            <a:ext cx="1093165" cy="347472"/>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6B6F76"/>
                </a:solidFill>
                <a:latin typeface="Calibri"/>
              </a:rPr>
              <a:t>α=0.6, T=0.75</a:t>
            </a:r>
          </a:p>
        </p:txBody>
      </p:sp>
      <p:sp>
        <p:nvSpPr>
          <p:cNvPr id="26" name="TextBox 25"/>
          <p:cNvSpPr txBox="1"/>
          <p:nvPr/>
        </p:nvSpPr>
        <p:spPr>
          <a:xfrm>
            <a:off x="5940399" y="2286000"/>
            <a:ext cx="310896" cy="219456"/>
          </a:xfrm>
          <a:prstGeom prst="rect">
            <a:avLst/>
          </a:prstGeom>
          <a:noFill/>
        </p:spPr>
        <p:txBody>
          <a:bodyPr wrap="square" lIns="0" rIns="0" tIns="0" bIns="0" anchor="t">
            <a:spAutoFit/>
          </a:bodyPr>
          <a:lstStyle/>
          <a:p>
            <a:pPr algn="l">
              <a:spcBef>
                <a:spcPts val="0"/>
              </a:spcBef>
              <a:spcAft>
                <a:spcPts val="0"/>
              </a:spcAft>
            </a:pPr>
            <a:r>
              <a:rPr sz="1500" b="0" i="0">
                <a:solidFill>
                  <a:srgbClr val="9C978E"/>
                </a:solidFill>
                <a:latin typeface="Calibri"/>
              </a:rPr>
              <a:t>→</a:t>
            </a:r>
          </a:p>
        </p:txBody>
      </p:sp>
      <p:sp>
        <p:nvSpPr>
          <p:cNvPr id="27" name="Rounded Rectangle 26"/>
          <p:cNvSpPr/>
          <p:nvPr/>
        </p:nvSpPr>
        <p:spPr>
          <a:xfrm>
            <a:off x="6324447" y="1627632"/>
            <a:ext cx="1422349" cy="1517904"/>
          </a:xfrm>
          <a:prstGeom prst="roundRect">
            <a:avLst>
              <a:gd name="adj" fmla="val 5000"/>
            </a:avLst>
          </a:prstGeom>
          <a:solidFill>
            <a:srgbClr val="DD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8" name="Rounded Rectangle 27"/>
          <p:cNvSpPr/>
          <p:nvPr/>
        </p:nvSpPr>
        <p:spPr>
          <a:xfrm>
            <a:off x="6324447" y="1627632"/>
            <a:ext cx="1422349" cy="41148"/>
          </a:xfrm>
          <a:prstGeom prst="roundRect">
            <a:avLst>
              <a:gd name="adj" fmla="val 0"/>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9" name="TextBox 28"/>
          <p:cNvSpPr txBox="1"/>
          <p:nvPr/>
        </p:nvSpPr>
        <p:spPr>
          <a:xfrm>
            <a:off x="6489039" y="1792224"/>
            <a:ext cx="1093165" cy="219456"/>
          </a:xfrm>
          <a:prstGeom prst="rect">
            <a:avLst/>
          </a:prstGeom>
          <a:noFill/>
        </p:spPr>
        <p:txBody>
          <a:bodyPr wrap="square" lIns="0" rIns="0" tIns="0" bIns="0" anchor="t">
            <a:spAutoFit/>
          </a:bodyPr>
          <a:lstStyle/>
          <a:p>
            <a:pPr algn="l">
              <a:spcBef>
                <a:spcPts val="0"/>
              </a:spcBef>
              <a:spcAft>
                <a:spcPts val="0"/>
              </a:spcAft>
            </a:pPr>
            <a:r>
              <a:rPr sz="900" b="1" i="0">
                <a:solidFill>
                  <a:srgbClr val="0B6E63"/>
                </a:solidFill>
                <a:latin typeface="Calibri"/>
              </a:rPr>
              <a:t>4  CALIBRATE</a:t>
            </a:r>
          </a:p>
        </p:txBody>
      </p:sp>
      <p:sp>
        <p:nvSpPr>
          <p:cNvPr id="30" name="TextBox 29"/>
          <p:cNvSpPr txBox="1"/>
          <p:nvPr/>
        </p:nvSpPr>
        <p:spPr>
          <a:xfrm>
            <a:off x="6489039" y="2066543"/>
            <a:ext cx="1093165" cy="566928"/>
          </a:xfrm>
          <a:prstGeom prst="rect">
            <a:avLst/>
          </a:prstGeom>
          <a:noFill/>
        </p:spPr>
        <p:txBody>
          <a:bodyPr wrap="square" lIns="0" rIns="0" tIns="0" bIns="0" anchor="t">
            <a:spAutoFit/>
          </a:bodyPr>
          <a:lstStyle/>
          <a:p>
            <a:pPr algn="l">
              <a:lnSpc>
                <a:spcPct val="126000"/>
              </a:lnSpc>
              <a:spcBef>
                <a:spcPts val="0"/>
              </a:spcBef>
              <a:spcAft>
                <a:spcPts val="0"/>
              </a:spcAft>
            </a:pPr>
            <a:r>
              <a:rPr sz="1000" b="0" i="0">
                <a:solidFill>
                  <a:srgbClr val="14181D"/>
                </a:solidFill>
                <a:latin typeface="Calibri"/>
              </a:rPr>
              <a:t>vector scaling on
the validation split</a:t>
            </a:r>
          </a:p>
        </p:txBody>
      </p:sp>
      <p:sp>
        <p:nvSpPr>
          <p:cNvPr id="31" name="TextBox 30"/>
          <p:cNvSpPr txBox="1"/>
          <p:nvPr/>
        </p:nvSpPr>
        <p:spPr>
          <a:xfrm>
            <a:off x="6489039" y="2706624"/>
            <a:ext cx="1093165" cy="347472"/>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6B6F76"/>
                </a:solidFill>
                <a:latin typeface="Calibri"/>
              </a:rPr>
              <a:t>ECE 0.0170</a:t>
            </a:r>
          </a:p>
        </p:txBody>
      </p:sp>
      <p:sp>
        <p:nvSpPr>
          <p:cNvPr id="32" name="TextBox 31"/>
          <p:cNvSpPr txBox="1"/>
          <p:nvPr/>
        </p:nvSpPr>
        <p:spPr>
          <a:xfrm>
            <a:off x="7819948" y="2286000"/>
            <a:ext cx="310896" cy="219456"/>
          </a:xfrm>
          <a:prstGeom prst="rect">
            <a:avLst/>
          </a:prstGeom>
          <a:noFill/>
        </p:spPr>
        <p:txBody>
          <a:bodyPr wrap="square" lIns="0" rIns="0" tIns="0" bIns="0" anchor="t">
            <a:spAutoFit/>
          </a:bodyPr>
          <a:lstStyle/>
          <a:p>
            <a:pPr algn="l">
              <a:spcBef>
                <a:spcPts val="0"/>
              </a:spcBef>
              <a:spcAft>
                <a:spcPts val="0"/>
              </a:spcAft>
            </a:pPr>
            <a:r>
              <a:rPr sz="1500" b="0" i="0">
                <a:solidFill>
                  <a:srgbClr val="9C978E"/>
                </a:solidFill>
                <a:latin typeface="Calibri"/>
              </a:rPr>
              <a:t>→</a:t>
            </a:r>
          </a:p>
        </p:txBody>
      </p:sp>
      <p:sp>
        <p:nvSpPr>
          <p:cNvPr id="33" name="Rounded Rectangle 32"/>
          <p:cNvSpPr/>
          <p:nvPr/>
        </p:nvSpPr>
        <p:spPr>
          <a:xfrm>
            <a:off x="8203996" y="1627632"/>
            <a:ext cx="1422349" cy="1517904"/>
          </a:xfrm>
          <a:prstGeom prst="roundRect">
            <a:avLst>
              <a:gd name="adj" fmla="val 5000"/>
            </a:avLst>
          </a:prstGeom>
          <a:solidFill>
            <a:srgbClr val="DD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4" name="Rounded Rectangle 33"/>
          <p:cNvSpPr/>
          <p:nvPr/>
        </p:nvSpPr>
        <p:spPr>
          <a:xfrm>
            <a:off x="8203996" y="1627632"/>
            <a:ext cx="1422349" cy="41148"/>
          </a:xfrm>
          <a:prstGeom prst="roundRect">
            <a:avLst>
              <a:gd name="adj" fmla="val 0"/>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5" name="TextBox 34"/>
          <p:cNvSpPr txBox="1"/>
          <p:nvPr/>
        </p:nvSpPr>
        <p:spPr>
          <a:xfrm>
            <a:off x="8368588" y="1792224"/>
            <a:ext cx="1093165" cy="219456"/>
          </a:xfrm>
          <a:prstGeom prst="rect">
            <a:avLst/>
          </a:prstGeom>
          <a:noFill/>
        </p:spPr>
        <p:txBody>
          <a:bodyPr wrap="square" lIns="0" rIns="0" tIns="0" bIns="0" anchor="t">
            <a:spAutoFit/>
          </a:bodyPr>
          <a:lstStyle/>
          <a:p>
            <a:pPr algn="l">
              <a:spcBef>
                <a:spcPts val="0"/>
              </a:spcBef>
              <a:spcAft>
                <a:spcPts val="0"/>
              </a:spcAft>
            </a:pPr>
            <a:r>
              <a:rPr sz="900" b="1" i="0">
                <a:solidFill>
                  <a:srgbClr val="0B6E63"/>
                </a:solidFill>
                <a:latin typeface="Calibri"/>
              </a:rPr>
              <a:t>5  GATE</a:t>
            </a:r>
          </a:p>
        </p:txBody>
      </p:sp>
      <p:sp>
        <p:nvSpPr>
          <p:cNvPr id="36" name="TextBox 35"/>
          <p:cNvSpPr txBox="1"/>
          <p:nvPr/>
        </p:nvSpPr>
        <p:spPr>
          <a:xfrm>
            <a:off x="8368588" y="2066543"/>
            <a:ext cx="1093165" cy="566928"/>
          </a:xfrm>
          <a:prstGeom prst="rect">
            <a:avLst/>
          </a:prstGeom>
          <a:noFill/>
        </p:spPr>
        <p:txBody>
          <a:bodyPr wrap="square" lIns="0" rIns="0" tIns="0" bIns="0" anchor="t">
            <a:spAutoFit/>
          </a:bodyPr>
          <a:lstStyle/>
          <a:p>
            <a:pPr algn="l">
              <a:lnSpc>
                <a:spcPct val="126000"/>
              </a:lnSpc>
              <a:spcBef>
                <a:spcPts val="0"/>
              </a:spcBef>
              <a:spcAft>
                <a:spcPts val="0"/>
              </a:spcAft>
            </a:pPr>
            <a:r>
              <a:rPr sz="1000" b="0" i="0">
                <a:solidFill>
                  <a:srgbClr val="14181D"/>
                </a:solidFill>
                <a:latin typeface="Calibri"/>
              </a:rPr>
              <a:t>conformal threshold
at 90% target coverage</a:t>
            </a:r>
          </a:p>
        </p:txBody>
      </p:sp>
      <p:sp>
        <p:nvSpPr>
          <p:cNvPr id="37" name="TextBox 36"/>
          <p:cNvSpPr txBox="1"/>
          <p:nvPr/>
        </p:nvSpPr>
        <p:spPr>
          <a:xfrm>
            <a:off x="8368588" y="2706624"/>
            <a:ext cx="1093165" cy="347472"/>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6B6F76"/>
                </a:solidFill>
                <a:latin typeface="Calibri"/>
              </a:rPr>
              <a:t>q=0.3032</a:t>
            </a:r>
          </a:p>
        </p:txBody>
      </p:sp>
      <p:sp>
        <p:nvSpPr>
          <p:cNvPr id="38" name="TextBox 37"/>
          <p:cNvSpPr txBox="1"/>
          <p:nvPr/>
        </p:nvSpPr>
        <p:spPr>
          <a:xfrm>
            <a:off x="9699498" y="2286000"/>
            <a:ext cx="310896" cy="219456"/>
          </a:xfrm>
          <a:prstGeom prst="rect">
            <a:avLst/>
          </a:prstGeom>
          <a:noFill/>
        </p:spPr>
        <p:txBody>
          <a:bodyPr wrap="square" lIns="0" rIns="0" tIns="0" bIns="0" anchor="t">
            <a:spAutoFit/>
          </a:bodyPr>
          <a:lstStyle/>
          <a:p>
            <a:pPr algn="l">
              <a:spcBef>
                <a:spcPts val="0"/>
              </a:spcBef>
              <a:spcAft>
                <a:spcPts val="0"/>
              </a:spcAft>
            </a:pPr>
            <a:r>
              <a:rPr sz="1500" b="0" i="0">
                <a:solidFill>
                  <a:srgbClr val="9C978E"/>
                </a:solidFill>
                <a:latin typeface="Calibri"/>
              </a:rPr>
              <a:t>→</a:t>
            </a:r>
          </a:p>
        </p:txBody>
      </p:sp>
      <p:sp>
        <p:nvSpPr>
          <p:cNvPr id="39" name="Rounded Rectangle 38"/>
          <p:cNvSpPr/>
          <p:nvPr/>
        </p:nvSpPr>
        <p:spPr>
          <a:xfrm>
            <a:off x="10083546" y="1627632"/>
            <a:ext cx="1422349" cy="1517904"/>
          </a:xfrm>
          <a:prstGeom prst="roundRect">
            <a:avLst>
              <a:gd name="adj" fmla="val 5000"/>
            </a:avLst>
          </a:prstGeom>
          <a:solidFill>
            <a:srgbClr val="DD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40" name="Rounded Rectangle 39"/>
          <p:cNvSpPr/>
          <p:nvPr/>
        </p:nvSpPr>
        <p:spPr>
          <a:xfrm>
            <a:off x="10083546" y="1627632"/>
            <a:ext cx="1422349" cy="41148"/>
          </a:xfrm>
          <a:prstGeom prst="roundRect">
            <a:avLst>
              <a:gd name="adj" fmla="val 0"/>
            </a:avLst>
          </a:prstGeom>
          <a:solidFill>
            <a:srgbClr val="B04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41" name="TextBox 40"/>
          <p:cNvSpPr txBox="1"/>
          <p:nvPr/>
        </p:nvSpPr>
        <p:spPr>
          <a:xfrm>
            <a:off x="10248138" y="1792224"/>
            <a:ext cx="1093165" cy="219456"/>
          </a:xfrm>
          <a:prstGeom prst="rect">
            <a:avLst/>
          </a:prstGeom>
          <a:noFill/>
        </p:spPr>
        <p:txBody>
          <a:bodyPr wrap="square" lIns="0" rIns="0" tIns="0" bIns="0" anchor="t">
            <a:spAutoFit/>
          </a:bodyPr>
          <a:lstStyle/>
          <a:p>
            <a:pPr algn="l">
              <a:spcBef>
                <a:spcPts val="0"/>
              </a:spcBef>
              <a:spcAft>
                <a:spcPts val="0"/>
              </a:spcAft>
            </a:pPr>
            <a:r>
              <a:rPr sz="900" b="1" i="0">
                <a:solidFill>
                  <a:srgbClr val="B04A1F"/>
                </a:solidFill>
                <a:latin typeface="Calibri"/>
              </a:rPr>
              <a:t>6  ACT</a:t>
            </a:r>
          </a:p>
        </p:txBody>
      </p:sp>
      <p:sp>
        <p:nvSpPr>
          <p:cNvPr id="42" name="TextBox 41"/>
          <p:cNvSpPr txBox="1"/>
          <p:nvPr/>
        </p:nvSpPr>
        <p:spPr>
          <a:xfrm>
            <a:off x="10248138" y="2066543"/>
            <a:ext cx="1093165" cy="566928"/>
          </a:xfrm>
          <a:prstGeom prst="rect">
            <a:avLst/>
          </a:prstGeom>
          <a:noFill/>
        </p:spPr>
        <p:txBody>
          <a:bodyPr wrap="square" lIns="0" rIns="0" tIns="0" bIns="0" anchor="t">
            <a:spAutoFit/>
          </a:bodyPr>
          <a:lstStyle/>
          <a:p>
            <a:pPr algn="l">
              <a:lnSpc>
                <a:spcPct val="126000"/>
              </a:lnSpc>
              <a:spcBef>
                <a:spcPts val="0"/>
              </a:spcBef>
              <a:spcAft>
                <a:spcPts val="0"/>
              </a:spcAft>
            </a:pPr>
            <a:r>
              <a:rPr sz="1000" b="0" i="0">
                <a:solidFill>
                  <a:srgbClr val="14181D"/>
                </a:solidFill>
                <a:latin typeface="Calibri"/>
              </a:rPr>
              <a:t>auto-answer, or escalate
+ route + prioritise</a:t>
            </a:r>
          </a:p>
        </p:txBody>
      </p:sp>
      <p:sp>
        <p:nvSpPr>
          <p:cNvPr id="43" name="TextBox 42"/>
          <p:cNvSpPr txBox="1"/>
          <p:nvPr/>
        </p:nvSpPr>
        <p:spPr>
          <a:xfrm>
            <a:off x="10248138" y="2706624"/>
            <a:ext cx="1093165" cy="347472"/>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6B6F76"/>
                </a:solidFill>
                <a:latin typeface="Calibri"/>
              </a:rPr>
              <a:t>0.7635 served</a:t>
            </a:r>
          </a:p>
        </p:txBody>
      </p:sp>
      <p:sp>
        <p:nvSpPr>
          <p:cNvPr id="44" name="Rounded Rectangle 43"/>
          <p:cNvSpPr/>
          <p:nvPr/>
        </p:nvSpPr>
        <p:spPr>
          <a:xfrm>
            <a:off x="685800" y="3456432"/>
            <a:ext cx="3387242" cy="2432304"/>
          </a:xfrm>
          <a:prstGeom prst="roundRect">
            <a:avLst>
              <a:gd name="adj" fmla="val 5000"/>
            </a:avLst>
          </a:prstGeom>
          <a:noFill/>
          <a:ln w="12700">
            <a:solidFill>
              <a:srgbClr val="DEDAD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45" name="TextBox 44"/>
          <p:cNvSpPr txBox="1"/>
          <p:nvPr/>
        </p:nvSpPr>
        <p:spPr>
          <a:xfrm>
            <a:off x="923544" y="3621024"/>
            <a:ext cx="2911754" cy="219456"/>
          </a:xfrm>
          <a:prstGeom prst="rect">
            <a:avLst/>
          </a:prstGeom>
          <a:noFill/>
        </p:spPr>
        <p:txBody>
          <a:bodyPr wrap="square" lIns="0" rIns="0" tIns="0" bIns="0" anchor="t">
            <a:spAutoFit/>
          </a:bodyPr>
          <a:lstStyle/>
          <a:p>
            <a:pPr algn="l">
              <a:spcBef>
                <a:spcPts val="0"/>
              </a:spcBef>
              <a:spcAft>
                <a:spcPts val="0"/>
              </a:spcAft>
            </a:pPr>
            <a:r>
              <a:rPr sz="900" b="1" i="0">
                <a:solidFill>
                  <a:srgbClr val="0B6E63"/>
                </a:solidFill>
                <a:latin typeface="Calibri"/>
              </a:rPr>
              <a:t>DATA</a:t>
            </a:r>
          </a:p>
        </p:txBody>
      </p:sp>
      <p:sp>
        <p:nvSpPr>
          <p:cNvPr id="46" name="TextBox 45"/>
          <p:cNvSpPr txBox="1"/>
          <p:nvPr/>
        </p:nvSpPr>
        <p:spPr>
          <a:xfrm>
            <a:off x="923544" y="3877056"/>
            <a:ext cx="2911754" cy="1828800"/>
          </a:xfrm>
          <a:prstGeom prst="rect">
            <a:avLst/>
          </a:prstGeom>
          <a:noFill/>
        </p:spPr>
        <p:txBody>
          <a:bodyPr wrap="square" lIns="0" rIns="0" tIns="0" bIns="0" anchor="t">
            <a:spAutoFit/>
          </a:bodyPr>
          <a:lstStyle/>
          <a:p>
            <a:pPr algn="l">
              <a:lnSpc>
                <a:spcPct val="120000"/>
              </a:lnSpc>
              <a:spcBef>
                <a:spcPts val="0"/>
              </a:spcBef>
              <a:spcAft>
                <a:spcPts val="500"/>
              </a:spcAft>
            </a:pPr>
            <a:r>
              <a:rPr sz="900" b="1" i="0">
                <a:solidFill>
                  <a:srgbClr val="14181D"/>
                </a:solidFill>
                <a:latin typeface="Calibri"/>
              </a:rPr>
              <a:t>Source  </a:t>
            </a:r>
            <a:r>
              <a:rPr sz="900" b="0" i="0">
                <a:solidFill>
                  <a:srgbClr val="6B6F76"/>
                </a:solidFill>
                <a:latin typeface="Calibri"/>
              </a:rPr>
              <a:t>Banking77 (Casanueva et al., 2020), CC BY 4.0</a:t>
            </a:r>
          </a:p>
          <a:p>
            <a:pPr algn="l">
              <a:lnSpc>
                <a:spcPct val="120000"/>
              </a:lnSpc>
              <a:spcBef>
                <a:spcPts val="0"/>
              </a:spcBef>
              <a:spcAft>
                <a:spcPts val="500"/>
              </a:spcAft>
            </a:pPr>
            <a:r>
              <a:rPr sz="900" b="1" i="0">
                <a:solidFill>
                  <a:srgbClr val="14181D"/>
                </a:solidFill>
                <a:latin typeface="Calibri"/>
              </a:rPr>
              <a:t>Rows  </a:t>
            </a:r>
            <a:r>
              <a:rPr sz="900" b="0" i="0">
                <a:solidFill>
                  <a:srgbClr val="6B6F76"/>
                </a:solidFill>
                <a:latin typeface="Calibri"/>
              </a:rPr>
              <a:t>13,083 tickets, 77 intents</a:t>
            </a:r>
          </a:p>
          <a:p>
            <a:pPr algn="l">
              <a:lnSpc>
                <a:spcPct val="120000"/>
              </a:lnSpc>
              <a:spcBef>
                <a:spcPts val="0"/>
              </a:spcBef>
              <a:spcAft>
                <a:spcPts val="500"/>
              </a:spcAft>
            </a:pPr>
            <a:r>
              <a:rPr sz="900" b="1" i="0">
                <a:solidFill>
                  <a:srgbClr val="14181D"/>
                </a:solidFill>
                <a:latin typeface="Calibri"/>
              </a:rPr>
              <a:t>Labels  </a:t>
            </a:r>
            <a:r>
              <a:rPr sz="900" b="0" i="0">
                <a:solidFill>
                  <a:srgbClr val="6B6F76"/>
                </a:solidFill>
                <a:latin typeface="Calibri"/>
              </a:rPr>
              <a:t>11 coarse, 10 reachable</a:t>
            </a:r>
          </a:p>
          <a:p>
            <a:pPr algn="l">
              <a:lnSpc>
                <a:spcPct val="120000"/>
              </a:lnSpc>
              <a:spcBef>
                <a:spcPts val="0"/>
              </a:spcBef>
              <a:spcAft>
                <a:spcPts val="500"/>
              </a:spcAft>
            </a:pPr>
            <a:r>
              <a:rPr sz="900" b="1" i="0">
                <a:solidFill>
                  <a:srgbClr val="14181D"/>
                </a:solidFill>
                <a:latin typeface="Calibri"/>
              </a:rPr>
              <a:t>Empty class  </a:t>
            </a:r>
            <a:r>
              <a:rPr sz="900" b="0" i="0">
                <a:solidFill>
                  <a:srgbClr val="6B6F76"/>
                </a:solidFill>
                <a:latin typeface="Calibri"/>
              </a:rPr>
              <a:t>loan_emi — no examples in the dataset at all</a:t>
            </a:r>
          </a:p>
          <a:p>
            <a:pPr algn="l">
              <a:lnSpc>
                <a:spcPct val="120000"/>
              </a:lnSpc>
              <a:spcBef>
                <a:spcPts val="0"/>
              </a:spcBef>
              <a:spcAft>
                <a:spcPts val="500"/>
              </a:spcAft>
            </a:pPr>
            <a:r>
              <a:rPr sz="900" b="1" i="0">
                <a:solidFill>
                  <a:srgbClr val="14181D"/>
                </a:solidFill>
                <a:latin typeface="Calibri"/>
              </a:rPr>
              <a:t>Split  </a:t>
            </a:r>
            <a:r>
              <a:rPr sz="900" b="0" i="0">
                <a:solidFill>
                  <a:srgbClr val="6B6F76"/>
                </a:solidFill>
                <a:latin typeface="Calibri"/>
              </a:rPr>
              <a:t>stratified 70/15/15, seed 20261003</a:t>
            </a:r>
          </a:p>
          <a:p>
            <a:pPr algn="l">
              <a:lnSpc>
                <a:spcPct val="120000"/>
              </a:lnSpc>
              <a:spcBef>
                <a:spcPts val="0"/>
              </a:spcBef>
              <a:spcAft>
                <a:spcPts val="500"/>
              </a:spcAft>
            </a:pPr>
            <a:r>
              <a:rPr sz="900" b="1" i="0">
                <a:solidFill>
                  <a:srgbClr val="14181D"/>
                </a:solidFill>
                <a:latin typeface="Calibri"/>
              </a:rPr>
              <a:t>Leakage control  </a:t>
            </a:r>
            <a:r>
              <a:rPr sz="900" b="0" i="0">
                <a:solidFill>
                  <a:srgbClr val="6B6F76"/>
                </a:solidFill>
                <a:latin typeface="Calibri"/>
              </a:rPr>
              <a:t>α and T grid-searched on validation only</a:t>
            </a:r>
          </a:p>
        </p:txBody>
      </p:sp>
      <p:sp>
        <p:nvSpPr>
          <p:cNvPr id="47" name="Rounded Rectangle 46"/>
          <p:cNvSpPr/>
          <p:nvPr/>
        </p:nvSpPr>
        <p:spPr>
          <a:xfrm>
            <a:off x="4402226" y="3456432"/>
            <a:ext cx="3387242" cy="2432304"/>
          </a:xfrm>
          <a:prstGeom prst="roundRect">
            <a:avLst>
              <a:gd name="adj" fmla="val 5000"/>
            </a:avLst>
          </a:prstGeom>
          <a:noFill/>
          <a:ln w="12700">
            <a:solidFill>
              <a:srgbClr val="DEDAD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48" name="TextBox 47"/>
          <p:cNvSpPr txBox="1"/>
          <p:nvPr/>
        </p:nvSpPr>
        <p:spPr>
          <a:xfrm>
            <a:off x="4639970" y="3621024"/>
            <a:ext cx="2911754" cy="219456"/>
          </a:xfrm>
          <a:prstGeom prst="rect">
            <a:avLst/>
          </a:prstGeom>
          <a:noFill/>
        </p:spPr>
        <p:txBody>
          <a:bodyPr wrap="square" lIns="0" rIns="0" tIns="0" bIns="0" anchor="t">
            <a:spAutoFit/>
          </a:bodyPr>
          <a:lstStyle/>
          <a:p>
            <a:pPr algn="l">
              <a:spcBef>
                <a:spcPts val="0"/>
              </a:spcBef>
              <a:spcAft>
                <a:spcPts val="0"/>
              </a:spcAft>
            </a:pPr>
            <a:r>
              <a:rPr sz="900" b="1" i="0">
                <a:solidFill>
                  <a:srgbClr val="0B6E63"/>
                </a:solidFill>
                <a:latin typeface="Calibri"/>
              </a:rPr>
              <a:t>WHAT WE COMPARED</a:t>
            </a:r>
          </a:p>
        </p:txBody>
      </p:sp>
      <p:sp>
        <p:nvSpPr>
          <p:cNvPr id="49" name="TextBox 48"/>
          <p:cNvSpPr txBox="1"/>
          <p:nvPr/>
        </p:nvSpPr>
        <p:spPr>
          <a:xfrm>
            <a:off x="4639970" y="3877056"/>
            <a:ext cx="2911754" cy="1828800"/>
          </a:xfrm>
          <a:prstGeom prst="rect">
            <a:avLst/>
          </a:prstGeom>
          <a:noFill/>
        </p:spPr>
        <p:txBody>
          <a:bodyPr wrap="square" lIns="0" rIns="0" tIns="0" bIns="0" anchor="t">
            <a:spAutoFit/>
          </a:bodyPr>
          <a:lstStyle/>
          <a:p>
            <a:pPr algn="l">
              <a:lnSpc>
                <a:spcPct val="120000"/>
              </a:lnSpc>
              <a:spcBef>
                <a:spcPts val="0"/>
              </a:spcBef>
              <a:spcAft>
                <a:spcPts val="500"/>
              </a:spcAft>
            </a:pPr>
            <a:r>
              <a:rPr sz="900" b="1" i="0">
                <a:solidFill>
                  <a:srgbClr val="14181D"/>
                </a:solidFill>
                <a:latin typeface="Calibri"/>
              </a:rPr>
              <a:t>kNN retrieval  </a:t>
            </a:r>
            <a:r>
              <a:rPr sz="900" b="0" i="0">
                <a:solidFill>
                  <a:srgbClr val="6B6F76"/>
                </a:solidFill>
                <a:latin typeface="Calibri"/>
              </a:rPr>
              <a:t>no training, neighbours vote</a:t>
            </a:r>
          </a:p>
          <a:p>
            <a:pPr algn="l">
              <a:lnSpc>
                <a:spcPct val="120000"/>
              </a:lnSpc>
              <a:spcBef>
                <a:spcPts val="0"/>
              </a:spcBef>
              <a:spcAft>
                <a:spcPts val="500"/>
              </a:spcAft>
            </a:pPr>
            <a:r>
              <a:rPr sz="900" b="1" i="0">
                <a:solidFill>
                  <a:srgbClr val="14181D"/>
                </a:solidFill>
                <a:latin typeface="Calibri"/>
              </a:rPr>
              <a:t>LinearSVC  </a:t>
            </a:r>
            <a:r>
              <a:rPr sz="900" b="0" i="0">
                <a:solidFill>
                  <a:srgbClr val="6B6F76"/>
                </a:solidFill>
                <a:latin typeface="Calibri"/>
              </a:rPr>
              <a:t>94.50% on the same features</a:t>
            </a:r>
          </a:p>
          <a:p>
            <a:pPr algn="l">
              <a:lnSpc>
                <a:spcPct val="120000"/>
              </a:lnSpc>
              <a:spcBef>
                <a:spcPts val="0"/>
              </a:spcBef>
              <a:spcAft>
                <a:spcPts val="500"/>
              </a:spcAft>
            </a:pPr>
            <a:r>
              <a:rPr sz="900" b="1" i="0">
                <a:solidFill>
                  <a:srgbClr val="14181D"/>
                </a:solidFill>
                <a:latin typeface="Calibri"/>
              </a:rPr>
              <a:t>Cascade  </a:t>
            </a:r>
            <a:r>
              <a:rPr sz="900" b="0" i="0">
                <a:solidFill>
                  <a:srgbClr val="6B6F76"/>
                </a:solidFill>
                <a:latin typeface="Calibri"/>
              </a:rPr>
              <a:t>the two fused, calibrated and gated</a:t>
            </a:r>
          </a:p>
          <a:p>
            <a:pPr algn="l">
              <a:lnSpc>
                <a:spcPct val="120000"/>
              </a:lnSpc>
              <a:spcBef>
                <a:spcPts val="0"/>
              </a:spcBef>
              <a:spcAft>
                <a:spcPts val="500"/>
              </a:spcAft>
            </a:pPr>
            <a:r>
              <a:rPr sz="900" b="1" i="0">
                <a:solidFill>
                  <a:srgbClr val="14181D"/>
                </a:solidFill>
                <a:latin typeface="Calibri"/>
              </a:rPr>
              <a:t>DistilBERT  </a:t>
            </a:r>
            <a:r>
              <a:rPr sz="900" b="0" i="0">
                <a:solidFill>
                  <a:srgbClr val="6B6F76"/>
                </a:solidFill>
                <a:latin typeface="Calibri"/>
              </a:rPr>
              <a:t>2 epochs, 47 min CPU</a:t>
            </a:r>
          </a:p>
          <a:p>
            <a:pPr algn="l">
              <a:lnSpc>
                <a:spcPct val="120000"/>
              </a:lnSpc>
              <a:spcBef>
                <a:spcPts val="0"/>
              </a:spcBef>
              <a:spcAft>
                <a:spcPts val="500"/>
              </a:spcAft>
            </a:pPr>
            <a:r>
              <a:rPr sz="900" b="1" i="0">
                <a:solidFill>
                  <a:srgbClr val="14181D"/>
                </a:solidFill>
                <a:latin typeface="Calibri"/>
              </a:rPr>
              <a:t>BiLSTM  </a:t>
            </a:r>
            <a:r>
              <a:rPr sz="900" b="0" i="0">
                <a:solidFill>
                  <a:srgbClr val="6B6F76"/>
                </a:solidFill>
                <a:latin typeface="Calibri"/>
              </a:rPr>
              <a:t>in the brief, never built — see slide 4</a:t>
            </a:r>
          </a:p>
          <a:p>
            <a:pPr algn="l">
              <a:lnSpc>
                <a:spcPct val="120000"/>
              </a:lnSpc>
              <a:spcBef>
                <a:spcPts val="0"/>
              </a:spcBef>
              <a:spcAft>
                <a:spcPts val="500"/>
              </a:spcAft>
            </a:pPr>
            <a:r>
              <a:rPr sz="900" b="1" i="0">
                <a:solidFill>
                  <a:srgbClr val="14181D"/>
                </a:solidFill>
                <a:latin typeface="Calibri"/>
              </a:rPr>
              <a:t>Agent  </a:t>
            </a:r>
            <a:r>
              <a:rPr sz="900" b="0" i="0">
                <a:solidFill>
                  <a:srgbClr val="6B6F76"/>
                </a:solidFill>
                <a:latin typeface="Calibri"/>
              </a:rPr>
              <a:t>advisory reranking on escalated tickets only</a:t>
            </a:r>
          </a:p>
        </p:txBody>
      </p:sp>
      <p:sp>
        <p:nvSpPr>
          <p:cNvPr id="50" name="Rounded Rectangle 49"/>
          <p:cNvSpPr/>
          <p:nvPr/>
        </p:nvSpPr>
        <p:spPr>
          <a:xfrm>
            <a:off x="8118652" y="3456432"/>
            <a:ext cx="3387242" cy="2432304"/>
          </a:xfrm>
          <a:prstGeom prst="roundRect">
            <a:avLst>
              <a:gd name="adj" fmla="val 5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51" name="TextBox 50"/>
          <p:cNvSpPr txBox="1"/>
          <p:nvPr/>
        </p:nvSpPr>
        <p:spPr>
          <a:xfrm>
            <a:off x="8356396" y="3621024"/>
            <a:ext cx="2911754" cy="219456"/>
          </a:xfrm>
          <a:prstGeom prst="rect">
            <a:avLst/>
          </a:prstGeom>
          <a:noFill/>
        </p:spPr>
        <p:txBody>
          <a:bodyPr wrap="square" lIns="0" rIns="0" tIns="0" bIns="0" anchor="t">
            <a:spAutoFit/>
          </a:bodyPr>
          <a:lstStyle/>
          <a:p>
            <a:pPr algn="l">
              <a:spcBef>
                <a:spcPts val="0"/>
              </a:spcBef>
              <a:spcAft>
                <a:spcPts val="0"/>
              </a:spcAft>
            </a:pPr>
            <a:r>
              <a:rPr sz="900" b="1" i="0">
                <a:solidFill>
                  <a:srgbClr val="0B6E63"/>
                </a:solidFill>
                <a:latin typeface="Calibri"/>
              </a:rPr>
              <a:t>WHAT WE HELD FIXED</a:t>
            </a:r>
          </a:p>
        </p:txBody>
      </p:sp>
      <p:sp>
        <p:nvSpPr>
          <p:cNvPr id="52" name="TextBox 51"/>
          <p:cNvSpPr txBox="1"/>
          <p:nvPr/>
        </p:nvSpPr>
        <p:spPr>
          <a:xfrm>
            <a:off x="8356396" y="3877056"/>
            <a:ext cx="2911754" cy="1828800"/>
          </a:xfrm>
          <a:prstGeom prst="rect">
            <a:avLst/>
          </a:prstGeom>
          <a:noFill/>
        </p:spPr>
        <p:txBody>
          <a:bodyPr wrap="square" lIns="0" rIns="0" tIns="0" bIns="0" anchor="t">
            <a:spAutoFit/>
          </a:bodyPr>
          <a:lstStyle/>
          <a:p>
            <a:pPr algn="l">
              <a:lnSpc>
                <a:spcPct val="120000"/>
              </a:lnSpc>
              <a:spcBef>
                <a:spcPts val="0"/>
              </a:spcBef>
              <a:spcAft>
                <a:spcPts val="500"/>
              </a:spcAft>
            </a:pPr>
            <a:r>
              <a:rPr sz="900" b="1" i="0">
                <a:solidFill>
                  <a:srgbClr val="14181D"/>
                </a:solidFill>
                <a:latin typeface="Calibri"/>
              </a:rPr>
              <a:t>One split  </a:t>
            </a:r>
            <a:r>
              <a:rPr sz="900" b="0" i="0">
                <a:solidFill>
                  <a:srgbClr val="6B6F76"/>
                </a:solidFill>
                <a:latin typeface="Calibri"/>
              </a:rPr>
              <a:t>every arm scored on the same 1,963 test tickets</a:t>
            </a:r>
          </a:p>
          <a:p>
            <a:pPr algn="l">
              <a:lnSpc>
                <a:spcPct val="120000"/>
              </a:lnSpc>
              <a:spcBef>
                <a:spcPts val="0"/>
              </a:spcBef>
              <a:spcAft>
                <a:spcPts val="500"/>
              </a:spcAft>
            </a:pPr>
            <a:r>
              <a:rPr sz="900" b="1" i="0">
                <a:solidFill>
                  <a:srgbClr val="14181D"/>
                </a:solidFill>
                <a:latin typeface="Calibri"/>
              </a:rPr>
              <a:t>No early stop  </a:t>
            </a:r>
            <a:r>
              <a:rPr sz="900" b="0" i="0">
                <a:solidFill>
                  <a:srgbClr val="6B6F76"/>
                </a:solidFill>
                <a:latin typeface="Calibri"/>
              </a:rPr>
              <a:t>chosen on validation, then frozen</a:t>
            </a:r>
          </a:p>
          <a:p>
            <a:pPr algn="l">
              <a:lnSpc>
                <a:spcPct val="120000"/>
              </a:lnSpc>
              <a:spcBef>
                <a:spcPts val="0"/>
              </a:spcBef>
              <a:spcAft>
                <a:spcPts val="500"/>
              </a:spcAft>
            </a:pPr>
            <a:r>
              <a:rPr sz="900" b="1" i="0">
                <a:solidFill>
                  <a:srgbClr val="14181D"/>
                </a:solidFill>
                <a:latin typeface="Calibri"/>
              </a:rPr>
              <a:t>Paired test  </a:t>
            </a:r>
            <a:r>
              <a:rPr sz="900" b="0" i="0">
                <a:solidFill>
                  <a:srgbClr val="6B6F76"/>
                </a:solidFill>
                <a:latin typeface="Calibri"/>
              </a:rPr>
              <a:t>McNemar, because the arms are not independent</a:t>
            </a:r>
          </a:p>
          <a:p>
            <a:pPr algn="l">
              <a:lnSpc>
                <a:spcPct val="120000"/>
              </a:lnSpc>
              <a:spcBef>
                <a:spcPts val="0"/>
              </a:spcBef>
              <a:spcAft>
                <a:spcPts val="500"/>
              </a:spcAft>
            </a:pPr>
            <a:r>
              <a:rPr sz="900" b="1" i="0">
                <a:solidFill>
                  <a:srgbClr val="14181D"/>
                </a:solidFill>
                <a:latin typeface="Calibri"/>
              </a:rPr>
              <a:t>Reporting  </a:t>
            </a:r>
            <a:r>
              <a:rPr sz="900" b="0" i="0">
                <a:solidFill>
                  <a:srgbClr val="6B6F76"/>
                </a:solidFill>
                <a:latin typeface="Calibri"/>
              </a:rPr>
              <a:t>accuracy AND macro-F1 AND ECE, never one alone</a:t>
            </a:r>
          </a:p>
          <a:p>
            <a:pPr algn="l">
              <a:lnSpc>
                <a:spcPct val="120000"/>
              </a:lnSpc>
              <a:spcBef>
                <a:spcPts val="0"/>
              </a:spcBef>
              <a:spcAft>
                <a:spcPts val="500"/>
              </a:spcAft>
            </a:pPr>
            <a:r>
              <a:rPr sz="900" b="1" i="0">
                <a:solidFill>
                  <a:srgbClr val="14181D"/>
                </a:solidFill>
                <a:latin typeface="Calibri"/>
              </a:rPr>
              <a:t>Reproducibility  </a:t>
            </a:r>
            <a:r>
              <a:rPr sz="900" b="0" i="0">
                <a:solidFill>
                  <a:srgbClr val="6B6F76"/>
                </a:solidFill>
                <a:latin typeface="Calibri"/>
              </a:rPr>
              <a:t>8 experiments → 9 JSON artifacts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515600" cy="201168"/>
          </a:xfrm>
          <a:prstGeom prst="rect">
            <a:avLst/>
          </a:prstGeom>
          <a:noFill/>
        </p:spPr>
        <p:txBody>
          <a:bodyPr wrap="square" lIns="0" rIns="0" tIns="0" bIns="0" anchor="t">
            <a:spAutoFit/>
          </a:bodyPr>
          <a:lstStyle/>
          <a:p>
            <a:pPr algn="l">
              <a:spcBef>
                <a:spcPts val="0"/>
              </a:spcBef>
              <a:spcAft>
                <a:spcPts val="0"/>
              </a:spcAft>
            </a:pPr>
            <a:r>
              <a:rPr sz="950" b="1" i="0">
                <a:solidFill>
                  <a:srgbClr val="0B6E63"/>
                </a:solidFill>
                <a:latin typeface="Calibri"/>
              </a:rPr>
              <a:t>SYSTEM ARCHITECTURE</a:t>
            </a:r>
          </a:p>
        </p:txBody>
      </p:sp>
      <p:sp>
        <p:nvSpPr>
          <p:cNvPr id="4" name="TextBox 3"/>
          <p:cNvSpPr txBox="1"/>
          <p:nvPr/>
        </p:nvSpPr>
        <p:spPr>
          <a:xfrm>
            <a:off x="685800" y="548640"/>
            <a:ext cx="10820095" cy="585216"/>
          </a:xfrm>
          <a:prstGeom prst="rect">
            <a:avLst/>
          </a:prstGeom>
          <a:noFill/>
        </p:spPr>
        <p:txBody>
          <a:bodyPr wrap="square" lIns="0" rIns="0" tIns="0" bIns="0" anchor="t">
            <a:spAutoFit/>
          </a:bodyPr>
          <a:lstStyle/>
          <a:p>
            <a:pPr algn="l">
              <a:lnSpc>
                <a:spcPct val="104000"/>
              </a:lnSpc>
              <a:spcBef>
                <a:spcPts val="0"/>
              </a:spcBef>
              <a:spcAft>
                <a:spcPts val="0"/>
              </a:spcAft>
            </a:pPr>
            <a:r>
              <a:rPr sz="2100" b="0" i="0">
                <a:solidFill>
                  <a:srgbClr val="14181D"/>
                </a:solidFill>
                <a:latin typeface="Georgia"/>
              </a:rPr>
              <a:t>A retriever, a linear head, a fusion, and a gate. The transformer is not in this diagram.</a:t>
            </a:r>
          </a:p>
        </p:txBody>
      </p:sp>
      <p:sp>
        <p:nvSpPr>
          <p:cNvPr id="5" name="TextBox 4"/>
          <p:cNvSpPr txBox="1"/>
          <p:nvPr/>
        </p:nvSpPr>
        <p:spPr>
          <a:xfrm>
            <a:off x="685800" y="1170432"/>
            <a:ext cx="10820095" cy="256032"/>
          </a:xfrm>
          <a:prstGeom prst="rect">
            <a:avLst/>
          </a:prstGeom>
          <a:noFill/>
        </p:spPr>
        <p:txBody>
          <a:bodyPr wrap="square" lIns="0" rIns="0" tIns="0" bIns="0" anchor="t">
            <a:spAutoFit/>
          </a:bodyPr>
          <a:lstStyle/>
          <a:p>
            <a:pPr algn="l">
              <a:lnSpc>
                <a:spcPct val="112000"/>
              </a:lnSpc>
              <a:spcBef>
                <a:spcPts val="0"/>
              </a:spcBef>
              <a:spcAft>
                <a:spcPts val="0"/>
              </a:spcAft>
            </a:pPr>
            <a:r>
              <a:rPr sz="1150" b="0" i="0">
                <a:solidFill>
                  <a:srgbClr val="6B6F76"/>
                </a:solidFill>
                <a:latin typeface="Calibri"/>
              </a:rPr>
              <a:t>One ticket in, one routed and prioritised ticket out. No network call, no model download, no API key at any point in the path.</a:t>
            </a:r>
          </a:p>
        </p:txBody>
      </p:sp>
      <p:sp>
        <p:nvSpPr>
          <p:cNvPr id="6" name="Rectangle 5"/>
          <p:cNvSpPr/>
          <p:nvPr/>
        </p:nvSpPr>
        <p:spPr>
          <a:xfrm>
            <a:off x="685800" y="1463040"/>
            <a:ext cx="10820095" cy="1143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55664"/>
            <a:ext cx="5486400" cy="201168"/>
          </a:xfrm>
          <a:prstGeom prst="rect">
            <a:avLst/>
          </a:prstGeom>
          <a:noFill/>
        </p:spPr>
        <p:txBody>
          <a:bodyPr wrap="square" lIns="0" rIns="0" tIns="0" bIns="0" anchor="t">
            <a:spAutoFit/>
          </a:bodyPr>
          <a:lstStyle/>
          <a:p>
            <a:pPr algn="l">
              <a:spcBef>
                <a:spcPts val="0"/>
              </a:spcBef>
              <a:spcAft>
                <a:spcPts val="0"/>
              </a:spcAft>
            </a:pPr>
            <a:r>
              <a:rPr sz="850" b="0" i="0">
                <a:solidFill>
                  <a:srgbClr val="9C978E"/>
                </a:solidFill>
                <a:latin typeface="Calibri"/>
              </a:rPr>
              <a:t>DRONA · Banking77 ticket triage · all figures from artifacts/reports/</a:t>
            </a:r>
          </a:p>
        </p:txBody>
      </p:sp>
      <p:sp>
        <p:nvSpPr>
          <p:cNvPr id="8" name="TextBox 7"/>
          <p:cNvSpPr txBox="1"/>
          <p:nvPr/>
        </p:nvSpPr>
        <p:spPr>
          <a:xfrm>
            <a:off x="9144000" y="6455664"/>
            <a:ext cx="2361895" cy="201168"/>
          </a:xfrm>
          <a:prstGeom prst="rect">
            <a:avLst/>
          </a:prstGeom>
          <a:noFill/>
        </p:spPr>
        <p:txBody>
          <a:bodyPr wrap="square" lIns="0" rIns="0" tIns="0" bIns="0" anchor="t">
            <a:spAutoFit/>
          </a:bodyPr>
          <a:lstStyle/>
          <a:p>
            <a:pPr algn="r">
              <a:spcBef>
                <a:spcPts val="0"/>
              </a:spcBef>
              <a:spcAft>
                <a:spcPts val="0"/>
              </a:spcAft>
            </a:pPr>
            <a:r>
              <a:rPr sz="850" b="0" i="0">
                <a:solidFill>
                  <a:srgbClr val="9C978E"/>
                </a:solidFill>
                <a:latin typeface="Calibri"/>
              </a:rPr>
              <a:t>7</a:t>
            </a:r>
          </a:p>
        </p:txBody>
      </p:sp>
      <p:sp>
        <p:nvSpPr>
          <p:cNvPr id="9" name="Rounded Rectangle 8"/>
          <p:cNvSpPr/>
          <p:nvPr/>
        </p:nvSpPr>
        <p:spPr>
          <a:xfrm>
            <a:off x="685800" y="1627632"/>
            <a:ext cx="3387242" cy="2889504"/>
          </a:xfrm>
          <a:prstGeom prst="roundRect">
            <a:avLst>
              <a:gd name="adj" fmla="val 5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0" name="Rounded Rectangle 9"/>
          <p:cNvSpPr/>
          <p:nvPr/>
        </p:nvSpPr>
        <p:spPr>
          <a:xfrm>
            <a:off x="685800" y="1627632"/>
            <a:ext cx="3387242" cy="274320"/>
          </a:xfrm>
          <a:prstGeom prst="roundRect">
            <a:avLst>
              <a:gd name="adj" fmla="val 5000"/>
            </a:avLst>
          </a:prstGeom>
          <a:solidFill>
            <a:srgbClr val="7A88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1" name="TextBox 10"/>
          <p:cNvSpPr txBox="1"/>
          <p:nvPr/>
        </p:nvSpPr>
        <p:spPr>
          <a:xfrm>
            <a:off x="886968" y="1677924"/>
            <a:ext cx="2984906" cy="201168"/>
          </a:xfrm>
          <a:prstGeom prst="rect">
            <a:avLst/>
          </a:prstGeom>
          <a:noFill/>
        </p:spPr>
        <p:txBody>
          <a:bodyPr wrap="square" lIns="0" rIns="0" tIns="0" bIns="0" anchor="t">
            <a:spAutoFit/>
          </a:bodyPr>
          <a:lstStyle/>
          <a:p>
            <a:pPr algn="l">
              <a:spcBef>
                <a:spcPts val="0"/>
              </a:spcBef>
              <a:spcAft>
                <a:spcPts val="0"/>
              </a:spcAft>
            </a:pPr>
            <a:r>
              <a:rPr sz="950" b="1" i="0">
                <a:solidFill>
                  <a:srgbClr val="FFFFFF"/>
                </a:solidFill>
                <a:latin typeface="Calibri"/>
              </a:rPr>
              <a:t>INPUT</a:t>
            </a:r>
          </a:p>
        </p:txBody>
      </p:sp>
      <p:sp>
        <p:nvSpPr>
          <p:cNvPr id="12" name="TextBox 11"/>
          <p:cNvSpPr txBox="1"/>
          <p:nvPr/>
        </p:nvSpPr>
        <p:spPr>
          <a:xfrm>
            <a:off x="886968" y="2011680"/>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Raw ticket text</a:t>
            </a:r>
          </a:p>
        </p:txBody>
      </p:sp>
      <p:sp>
        <p:nvSpPr>
          <p:cNvPr id="13" name="TextBox 12"/>
          <p:cNvSpPr txBox="1"/>
          <p:nvPr/>
        </p:nvSpPr>
        <p:spPr>
          <a:xfrm>
            <a:off x="886968" y="2203704"/>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what the customer wrote</a:t>
            </a:r>
          </a:p>
        </p:txBody>
      </p:sp>
      <p:sp>
        <p:nvSpPr>
          <p:cNvPr id="14" name="Rectangle 13"/>
          <p:cNvSpPr/>
          <p:nvPr/>
        </p:nvSpPr>
        <p:spPr>
          <a:xfrm>
            <a:off x="886968" y="2441448"/>
            <a:ext cx="2984906" cy="889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500884"/>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Two sparse views</a:t>
            </a:r>
          </a:p>
        </p:txBody>
      </p:sp>
      <p:sp>
        <p:nvSpPr>
          <p:cNvPr id="16" name="TextBox 15"/>
          <p:cNvSpPr txBox="1"/>
          <p:nvPr/>
        </p:nvSpPr>
        <p:spPr>
          <a:xfrm>
            <a:off x="886968" y="2692908"/>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char_wb 3–5 + word 1–2 → 34,901 dims</a:t>
            </a:r>
          </a:p>
        </p:txBody>
      </p:sp>
      <p:sp>
        <p:nvSpPr>
          <p:cNvPr id="17" name="Rectangle 16"/>
          <p:cNvSpPr/>
          <p:nvPr/>
        </p:nvSpPr>
        <p:spPr>
          <a:xfrm>
            <a:off x="886968" y="2930652"/>
            <a:ext cx="2984906" cy="889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2990088"/>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kNN neighbours</a:t>
            </a:r>
          </a:p>
        </p:txBody>
      </p:sp>
      <p:sp>
        <p:nvSpPr>
          <p:cNvPr id="19" name="TextBox 18"/>
          <p:cNvSpPr txBox="1"/>
          <p:nvPr/>
        </p:nvSpPr>
        <p:spPr>
          <a:xfrm>
            <a:off x="886968" y="3182112"/>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k=5 served; oracle ceiling 99.75% at k=15</a:t>
            </a:r>
          </a:p>
        </p:txBody>
      </p:sp>
      <p:sp>
        <p:nvSpPr>
          <p:cNvPr id="20" name="Rounded Rectangle 19"/>
          <p:cNvSpPr/>
          <p:nvPr/>
        </p:nvSpPr>
        <p:spPr>
          <a:xfrm>
            <a:off x="4402226" y="1627632"/>
            <a:ext cx="3387242" cy="2889504"/>
          </a:xfrm>
          <a:prstGeom prst="roundRect">
            <a:avLst>
              <a:gd name="adj" fmla="val 5000"/>
            </a:avLst>
          </a:prstGeom>
          <a:solidFill>
            <a:srgbClr val="DD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1" name="Rounded Rectangle 20"/>
          <p:cNvSpPr/>
          <p:nvPr/>
        </p:nvSpPr>
        <p:spPr>
          <a:xfrm>
            <a:off x="4402226" y="1627632"/>
            <a:ext cx="3387242" cy="274320"/>
          </a:xfrm>
          <a:prstGeom prst="roundRect">
            <a:avLst>
              <a:gd name="adj" fmla="val 5000"/>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2" name="TextBox 21"/>
          <p:cNvSpPr txBox="1"/>
          <p:nvPr/>
        </p:nvSpPr>
        <p:spPr>
          <a:xfrm>
            <a:off x="4603394" y="1677924"/>
            <a:ext cx="2984906" cy="201168"/>
          </a:xfrm>
          <a:prstGeom prst="rect">
            <a:avLst/>
          </a:prstGeom>
          <a:noFill/>
        </p:spPr>
        <p:txBody>
          <a:bodyPr wrap="square" lIns="0" rIns="0" tIns="0" bIns="0" anchor="t">
            <a:spAutoFit/>
          </a:bodyPr>
          <a:lstStyle/>
          <a:p>
            <a:pPr algn="l">
              <a:spcBef>
                <a:spcPts val="0"/>
              </a:spcBef>
              <a:spcAft>
                <a:spcPts val="0"/>
              </a:spcAft>
            </a:pPr>
            <a:r>
              <a:rPr sz="950" b="1" i="0">
                <a:solidFill>
                  <a:srgbClr val="FFFFFF"/>
                </a:solidFill>
                <a:latin typeface="Calibri"/>
              </a:rPr>
              <a:t>DECIDE</a:t>
            </a:r>
          </a:p>
        </p:txBody>
      </p:sp>
      <p:sp>
        <p:nvSpPr>
          <p:cNvPr id="23" name="TextBox 22"/>
          <p:cNvSpPr txBox="1"/>
          <p:nvPr/>
        </p:nvSpPr>
        <p:spPr>
          <a:xfrm>
            <a:off x="4603394" y="2011680"/>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LinearSVC head</a:t>
            </a:r>
          </a:p>
        </p:txBody>
      </p:sp>
      <p:sp>
        <p:nvSpPr>
          <p:cNvPr id="24" name="TextBox 23"/>
          <p:cNvSpPr txBox="1"/>
          <p:nvPr/>
        </p:nvSpPr>
        <p:spPr>
          <a:xfrm>
            <a:off x="4603394" y="2203704"/>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one weight row per coarse class</a:t>
            </a:r>
          </a:p>
        </p:txBody>
      </p:sp>
      <p:sp>
        <p:nvSpPr>
          <p:cNvPr id="25" name="Rectangle 24"/>
          <p:cNvSpPr/>
          <p:nvPr/>
        </p:nvSpPr>
        <p:spPr>
          <a:xfrm>
            <a:off x="4603394" y="2441448"/>
            <a:ext cx="2984906" cy="889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03394" y="2500884"/>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kNN head</a:t>
            </a:r>
          </a:p>
        </p:txBody>
      </p:sp>
      <p:sp>
        <p:nvSpPr>
          <p:cNvPr id="27" name="TextBox 26"/>
          <p:cNvSpPr txBox="1"/>
          <p:nvPr/>
        </p:nvSpPr>
        <p:spPr>
          <a:xfrm>
            <a:off x="4603394" y="2692908"/>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15 neighbours vote, distance-weighted</a:t>
            </a:r>
          </a:p>
        </p:txBody>
      </p:sp>
      <p:sp>
        <p:nvSpPr>
          <p:cNvPr id="28" name="Rectangle 27"/>
          <p:cNvSpPr/>
          <p:nvPr/>
        </p:nvSpPr>
        <p:spPr>
          <a:xfrm>
            <a:off x="4603394" y="2930652"/>
            <a:ext cx="2984906" cy="889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03394" y="2990088"/>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Fusion</a:t>
            </a:r>
          </a:p>
        </p:txBody>
      </p:sp>
      <p:sp>
        <p:nvSpPr>
          <p:cNvPr id="30" name="TextBox 29"/>
          <p:cNvSpPr txBox="1"/>
          <p:nvPr/>
        </p:nvSpPr>
        <p:spPr>
          <a:xfrm>
            <a:off x="4603394" y="3182112"/>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α=0.6 mix, then T=0.75 temperature</a:t>
            </a:r>
          </a:p>
        </p:txBody>
      </p:sp>
      <p:sp>
        <p:nvSpPr>
          <p:cNvPr id="31" name="Rectangle 30"/>
          <p:cNvSpPr/>
          <p:nvPr/>
        </p:nvSpPr>
        <p:spPr>
          <a:xfrm>
            <a:off x="4603394" y="3419856"/>
            <a:ext cx="2984906" cy="889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3394" y="3479292"/>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Vector scaling</a:t>
            </a:r>
          </a:p>
        </p:txBody>
      </p:sp>
      <p:sp>
        <p:nvSpPr>
          <p:cNvPr id="33" name="TextBox 32"/>
          <p:cNvSpPr txBox="1"/>
          <p:nvPr/>
        </p:nvSpPr>
        <p:spPr>
          <a:xfrm>
            <a:off x="4603394" y="3671316"/>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fitted on validation; ECE on test below</a:t>
            </a:r>
          </a:p>
        </p:txBody>
      </p:sp>
      <p:sp>
        <p:nvSpPr>
          <p:cNvPr id="34" name="Rectangle 33"/>
          <p:cNvSpPr/>
          <p:nvPr/>
        </p:nvSpPr>
        <p:spPr>
          <a:xfrm>
            <a:off x="4603394" y="3909060"/>
            <a:ext cx="2984906" cy="889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03394" y="3968496"/>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Conformal gate</a:t>
            </a:r>
          </a:p>
        </p:txBody>
      </p:sp>
      <p:sp>
        <p:nvSpPr>
          <p:cNvPr id="36" name="TextBox 35"/>
          <p:cNvSpPr txBox="1"/>
          <p:nvPr/>
        </p:nvSpPr>
        <p:spPr>
          <a:xfrm>
            <a:off x="4603394" y="4160520"/>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α=0.1 split-conformal on the val split</a:t>
            </a:r>
          </a:p>
        </p:txBody>
      </p:sp>
      <p:sp>
        <p:nvSpPr>
          <p:cNvPr id="37" name="Rounded Rectangle 36"/>
          <p:cNvSpPr/>
          <p:nvPr/>
        </p:nvSpPr>
        <p:spPr>
          <a:xfrm>
            <a:off x="8118652" y="1627632"/>
            <a:ext cx="3387242" cy="2889504"/>
          </a:xfrm>
          <a:prstGeom prst="roundRect">
            <a:avLst>
              <a:gd name="adj" fmla="val 5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8" name="Rounded Rectangle 37"/>
          <p:cNvSpPr/>
          <p:nvPr/>
        </p:nvSpPr>
        <p:spPr>
          <a:xfrm>
            <a:off x="8118652" y="1627632"/>
            <a:ext cx="3387242" cy="274320"/>
          </a:xfrm>
          <a:prstGeom prst="roundRect">
            <a:avLst>
              <a:gd name="adj" fmla="val 5000"/>
            </a:avLst>
          </a:prstGeom>
          <a:solidFill>
            <a:srgbClr val="B04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9" name="TextBox 38"/>
          <p:cNvSpPr txBox="1"/>
          <p:nvPr/>
        </p:nvSpPr>
        <p:spPr>
          <a:xfrm>
            <a:off x="8319820" y="1677924"/>
            <a:ext cx="2984906" cy="201168"/>
          </a:xfrm>
          <a:prstGeom prst="rect">
            <a:avLst/>
          </a:prstGeom>
          <a:noFill/>
        </p:spPr>
        <p:txBody>
          <a:bodyPr wrap="square" lIns="0" rIns="0" tIns="0" bIns="0" anchor="t">
            <a:spAutoFit/>
          </a:bodyPr>
          <a:lstStyle/>
          <a:p>
            <a:pPr algn="l">
              <a:spcBef>
                <a:spcPts val="0"/>
              </a:spcBef>
              <a:spcAft>
                <a:spcPts val="0"/>
              </a:spcAft>
            </a:pPr>
            <a:r>
              <a:rPr sz="950" b="1" i="0">
                <a:solidFill>
                  <a:srgbClr val="FFFFFF"/>
                </a:solidFill>
                <a:latin typeface="Calibri"/>
              </a:rPr>
              <a:t>ACT</a:t>
            </a:r>
          </a:p>
        </p:txBody>
      </p:sp>
      <p:sp>
        <p:nvSpPr>
          <p:cNvPr id="40" name="TextBox 39"/>
          <p:cNvSpPr txBox="1"/>
          <p:nvPr/>
        </p:nvSpPr>
        <p:spPr>
          <a:xfrm>
            <a:off x="8319820" y="2011680"/>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Auto-answer</a:t>
            </a:r>
          </a:p>
        </p:txBody>
      </p:sp>
      <p:sp>
        <p:nvSpPr>
          <p:cNvPr id="41" name="TextBox 40"/>
          <p:cNvSpPr txBox="1"/>
          <p:nvPr/>
        </p:nvSpPr>
        <p:spPr>
          <a:xfrm>
            <a:off x="8319820" y="2203704"/>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above 0.7635 — 98.24% accurate</a:t>
            </a:r>
          </a:p>
        </p:txBody>
      </p:sp>
      <p:sp>
        <p:nvSpPr>
          <p:cNvPr id="42" name="Rectangle 41"/>
          <p:cNvSpPr/>
          <p:nvPr/>
        </p:nvSpPr>
        <p:spPr>
          <a:xfrm>
            <a:off x="8319820" y="2441448"/>
            <a:ext cx="2984906" cy="889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19820" y="2500884"/>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Escalate</a:t>
            </a:r>
          </a:p>
        </p:txBody>
      </p:sp>
      <p:sp>
        <p:nvSpPr>
          <p:cNvPr id="44" name="TextBox 43"/>
          <p:cNvSpPr txBox="1"/>
          <p:nvPr/>
        </p:nvSpPr>
        <p:spPr>
          <a:xfrm>
            <a:off x="8319820" y="2692908"/>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below threshold → a human decides</a:t>
            </a:r>
          </a:p>
        </p:txBody>
      </p:sp>
      <p:sp>
        <p:nvSpPr>
          <p:cNvPr id="45" name="Rectangle 44"/>
          <p:cNvSpPr/>
          <p:nvPr/>
        </p:nvSpPr>
        <p:spPr>
          <a:xfrm>
            <a:off x="8319820" y="2930652"/>
            <a:ext cx="2984906" cy="889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19820" y="2990088"/>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Priority</a:t>
            </a:r>
          </a:p>
        </p:txBody>
      </p:sp>
      <p:sp>
        <p:nvSpPr>
          <p:cNvPr id="47" name="TextBox 46"/>
          <p:cNvSpPr txBox="1"/>
          <p:nvPr/>
        </p:nvSpPr>
        <p:spPr>
          <a:xfrm>
            <a:off x="8319820" y="3182112"/>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category impact floor + amount at risk → P0…P3</a:t>
            </a:r>
          </a:p>
        </p:txBody>
      </p:sp>
      <p:sp>
        <p:nvSpPr>
          <p:cNvPr id="48" name="Rectangle 47"/>
          <p:cNvSpPr/>
          <p:nvPr/>
        </p:nvSpPr>
        <p:spPr>
          <a:xfrm>
            <a:off x="8319820" y="3419856"/>
            <a:ext cx="2984906" cy="889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19820" y="3479292"/>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Route</a:t>
            </a:r>
          </a:p>
        </p:txBody>
      </p:sp>
      <p:sp>
        <p:nvSpPr>
          <p:cNvPr id="50" name="TextBox 49"/>
          <p:cNvSpPr txBox="1"/>
          <p:nvPr/>
        </p:nvSpPr>
        <p:spPr>
          <a:xfrm>
            <a:off x="8319820" y="3671316"/>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SLA queue, from the category and the priority</a:t>
            </a:r>
          </a:p>
        </p:txBody>
      </p:sp>
      <p:sp>
        <p:nvSpPr>
          <p:cNvPr id="51" name="Rectangle 50"/>
          <p:cNvSpPr/>
          <p:nvPr/>
        </p:nvSpPr>
        <p:spPr>
          <a:xfrm>
            <a:off x="8319820" y="3909060"/>
            <a:ext cx="2984906" cy="889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19820" y="3968496"/>
            <a:ext cx="2984906" cy="201168"/>
          </a:xfrm>
          <a:prstGeom prst="rect">
            <a:avLst/>
          </a:prstGeom>
          <a:noFill/>
        </p:spPr>
        <p:txBody>
          <a:bodyPr wrap="square" lIns="0" rIns="0" tIns="0" bIns="0" anchor="t">
            <a:spAutoFit/>
          </a:bodyPr>
          <a:lstStyle/>
          <a:p>
            <a:pPr algn="l">
              <a:spcBef>
                <a:spcPts val="0"/>
              </a:spcBef>
              <a:spcAft>
                <a:spcPts val="0"/>
              </a:spcAft>
            </a:pPr>
            <a:r>
              <a:rPr sz="1050" b="1" i="0">
                <a:solidFill>
                  <a:srgbClr val="14181D"/>
                </a:solidFill>
                <a:latin typeface="Calibri"/>
              </a:rPr>
              <a:t>Draft</a:t>
            </a:r>
          </a:p>
        </p:txBody>
      </p:sp>
      <p:sp>
        <p:nvSpPr>
          <p:cNvPr id="53" name="TextBox 52"/>
          <p:cNvSpPr txBox="1"/>
          <p:nvPr/>
        </p:nvSpPr>
        <p:spPr>
          <a:xfrm>
            <a:off x="8319820" y="4160520"/>
            <a:ext cx="2984906"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6F76"/>
                </a:solidFill>
                <a:latin typeface="Calibri"/>
              </a:rPr>
              <a:t>agent writes, human sends — never the reverse</a:t>
            </a:r>
          </a:p>
        </p:txBody>
      </p:sp>
      <p:sp>
        <p:nvSpPr>
          <p:cNvPr id="54" name="TextBox 53"/>
          <p:cNvSpPr txBox="1"/>
          <p:nvPr/>
        </p:nvSpPr>
        <p:spPr>
          <a:xfrm>
            <a:off x="4100474" y="2926080"/>
            <a:ext cx="274320" cy="256032"/>
          </a:xfrm>
          <a:prstGeom prst="rect">
            <a:avLst/>
          </a:prstGeom>
          <a:noFill/>
        </p:spPr>
        <p:txBody>
          <a:bodyPr wrap="square" lIns="0" rIns="0" tIns="0" bIns="0" anchor="t">
            <a:spAutoFit/>
          </a:bodyPr>
          <a:lstStyle/>
          <a:p>
            <a:pPr algn="ctr">
              <a:spcBef>
                <a:spcPts val="0"/>
              </a:spcBef>
              <a:spcAft>
                <a:spcPts val="0"/>
              </a:spcAft>
            </a:pPr>
            <a:r>
              <a:rPr sz="1300" b="0" i="0">
                <a:solidFill>
                  <a:srgbClr val="9C978E"/>
                </a:solidFill>
                <a:latin typeface="Calibri"/>
              </a:rPr>
              <a:t>▶</a:t>
            </a:r>
          </a:p>
        </p:txBody>
      </p:sp>
      <p:sp>
        <p:nvSpPr>
          <p:cNvPr id="55" name="TextBox 54"/>
          <p:cNvSpPr txBox="1"/>
          <p:nvPr/>
        </p:nvSpPr>
        <p:spPr>
          <a:xfrm>
            <a:off x="7816900" y="2926080"/>
            <a:ext cx="274320" cy="256032"/>
          </a:xfrm>
          <a:prstGeom prst="rect">
            <a:avLst/>
          </a:prstGeom>
          <a:noFill/>
        </p:spPr>
        <p:txBody>
          <a:bodyPr wrap="square" lIns="0" rIns="0" tIns="0" bIns="0" anchor="t">
            <a:spAutoFit/>
          </a:bodyPr>
          <a:lstStyle/>
          <a:p>
            <a:pPr algn="ctr">
              <a:spcBef>
                <a:spcPts val="0"/>
              </a:spcBef>
              <a:spcAft>
                <a:spcPts val="0"/>
              </a:spcAft>
            </a:pPr>
            <a:r>
              <a:rPr sz="1300" b="0" i="0">
                <a:solidFill>
                  <a:srgbClr val="9C978E"/>
                </a:solidFill>
                <a:latin typeface="Calibri"/>
              </a:rPr>
              <a:t>▶</a:t>
            </a:r>
          </a:p>
        </p:txBody>
      </p:sp>
      <p:sp>
        <p:nvSpPr>
          <p:cNvPr id="56" name="Rounded Rectangle 55"/>
          <p:cNvSpPr/>
          <p:nvPr/>
        </p:nvSpPr>
        <p:spPr>
          <a:xfrm>
            <a:off x="685800" y="4663440"/>
            <a:ext cx="10820095" cy="960120"/>
          </a:xfrm>
          <a:prstGeom prst="roundRect">
            <a:avLst>
              <a:gd name="adj" fmla="val 5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57" name="TextBox 56"/>
          <p:cNvSpPr txBox="1"/>
          <p:nvPr/>
        </p:nvSpPr>
        <p:spPr>
          <a:xfrm>
            <a:off x="996696" y="4773168"/>
            <a:ext cx="3108960" cy="201168"/>
          </a:xfrm>
          <a:prstGeom prst="rect">
            <a:avLst/>
          </a:prstGeom>
          <a:noFill/>
        </p:spPr>
        <p:txBody>
          <a:bodyPr wrap="square" lIns="0" rIns="0" tIns="0" bIns="0" anchor="t">
            <a:spAutoFit/>
          </a:bodyPr>
          <a:lstStyle/>
          <a:p>
            <a:pPr algn="l">
              <a:spcBef>
                <a:spcPts val="0"/>
              </a:spcBef>
              <a:spcAft>
                <a:spcPts val="0"/>
              </a:spcAft>
            </a:pPr>
            <a:r>
              <a:rPr sz="900" b="1" i="0">
                <a:solidFill>
                  <a:srgbClr val="F7E6DC"/>
                </a:solidFill>
                <a:latin typeface="Calibri"/>
              </a:rPr>
              <a:t>WHAT THIS DIAGRAM EXCLUDES</a:t>
            </a:r>
          </a:p>
        </p:txBody>
      </p:sp>
      <p:sp>
        <p:nvSpPr>
          <p:cNvPr id="58" name="TextBox 57"/>
          <p:cNvSpPr txBox="1"/>
          <p:nvPr/>
        </p:nvSpPr>
        <p:spPr>
          <a:xfrm>
            <a:off x="996696" y="4992624"/>
            <a:ext cx="10198303" cy="54864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FFFFFF"/>
                </a:solidFill>
                <a:latin typeface="Calibri"/>
              </a:rPr>
              <a:t>No transformer. No LLM in the decision path. </a:t>
            </a:r>
            <a:r>
              <a:rPr sz="1000" b="0" i="0">
                <a:solidFill>
                  <a:srgbClr val="9C978E"/>
                </a:solidFill>
                <a:latin typeface="Calibri"/>
              </a:rPr>
              <a:t>The fine-tuned DistilBERT is a measured arm of the experiment — 94.91% accuracy, 106 ms, 268 MB, 47 min to train — and it lost on p = 0.6061. The generative agent is in the diagram as a drafter, never as a decider: given decision authority on the 129 escalated tickets it moved end-to-end accuracy 94.70% → 94.40%.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515600" cy="201168"/>
          </a:xfrm>
          <a:prstGeom prst="rect">
            <a:avLst/>
          </a:prstGeom>
          <a:noFill/>
        </p:spPr>
        <p:txBody>
          <a:bodyPr wrap="square" lIns="0" rIns="0" tIns="0" bIns="0" anchor="t">
            <a:spAutoFit/>
          </a:bodyPr>
          <a:lstStyle/>
          <a:p>
            <a:pPr algn="l">
              <a:spcBef>
                <a:spcPts val="0"/>
              </a:spcBef>
              <a:spcAft>
                <a:spcPts val="0"/>
              </a:spcAft>
            </a:pPr>
            <a:r>
              <a:rPr sz="950" b="1" i="0">
                <a:solidFill>
                  <a:srgbClr val="0B6E63"/>
                </a:solidFill>
                <a:latin typeface="Calibri"/>
              </a:rPr>
              <a:t>PROJECT DESIGN</a:t>
            </a:r>
          </a:p>
        </p:txBody>
      </p:sp>
      <p:sp>
        <p:nvSpPr>
          <p:cNvPr id="4" name="TextBox 3"/>
          <p:cNvSpPr txBox="1"/>
          <p:nvPr/>
        </p:nvSpPr>
        <p:spPr>
          <a:xfrm>
            <a:off x="685800" y="548640"/>
            <a:ext cx="10820095" cy="585216"/>
          </a:xfrm>
          <a:prstGeom prst="rect">
            <a:avLst/>
          </a:prstGeom>
          <a:noFill/>
        </p:spPr>
        <p:txBody>
          <a:bodyPr wrap="square" lIns="0" rIns="0" tIns="0" bIns="0" anchor="t">
            <a:spAutoFit/>
          </a:bodyPr>
          <a:lstStyle/>
          <a:p>
            <a:pPr algn="l">
              <a:lnSpc>
                <a:spcPct val="104000"/>
              </a:lnSpc>
              <a:spcBef>
                <a:spcPts val="0"/>
              </a:spcBef>
              <a:spcAft>
                <a:spcPts val="0"/>
              </a:spcAft>
            </a:pPr>
            <a:r>
              <a:rPr sz="2100" b="0" i="0">
                <a:solidFill>
                  <a:srgbClr val="14181D"/>
                </a:solidFill>
                <a:latin typeface="Georgia"/>
              </a:rPr>
              <a:t>Four decisions that shaped everything else. Each one is a trade we made on purpose.</a:t>
            </a:r>
          </a:p>
        </p:txBody>
      </p:sp>
      <p:sp>
        <p:nvSpPr>
          <p:cNvPr id="5" name="TextBox 4"/>
          <p:cNvSpPr txBox="1"/>
          <p:nvPr/>
        </p:nvSpPr>
        <p:spPr>
          <a:xfrm>
            <a:off x="685800" y="1170432"/>
            <a:ext cx="10820095" cy="256032"/>
          </a:xfrm>
          <a:prstGeom prst="rect">
            <a:avLst/>
          </a:prstGeom>
          <a:noFill/>
        </p:spPr>
        <p:txBody>
          <a:bodyPr wrap="square" lIns="0" rIns="0" tIns="0" bIns="0" anchor="t">
            <a:spAutoFit/>
          </a:bodyPr>
          <a:lstStyle/>
          <a:p>
            <a:pPr algn="l">
              <a:lnSpc>
                <a:spcPct val="112000"/>
              </a:lnSpc>
              <a:spcBef>
                <a:spcPts val="0"/>
              </a:spcBef>
              <a:spcAft>
                <a:spcPts val="0"/>
              </a:spcAft>
            </a:pPr>
            <a:r>
              <a:rPr sz="1150" b="0" i="0">
                <a:solidFill>
                  <a:srgbClr val="6B6F76"/>
                </a:solidFill>
                <a:latin typeface="Calibri"/>
              </a:rPr>
              <a:t>Design is what you removed. Each row is a choice we could have gone the other way on, and what it cost.</a:t>
            </a:r>
          </a:p>
        </p:txBody>
      </p:sp>
      <p:sp>
        <p:nvSpPr>
          <p:cNvPr id="6" name="Rectangle 5"/>
          <p:cNvSpPr/>
          <p:nvPr/>
        </p:nvSpPr>
        <p:spPr>
          <a:xfrm>
            <a:off x="685800" y="1463040"/>
            <a:ext cx="10820095" cy="1143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55664"/>
            <a:ext cx="5486400" cy="201168"/>
          </a:xfrm>
          <a:prstGeom prst="rect">
            <a:avLst/>
          </a:prstGeom>
          <a:noFill/>
        </p:spPr>
        <p:txBody>
          <a:bodyPr wrap="square" lIns="0" rIns="0" tIns="0" bIns="0" anchor="t">
            <a:spAutoFit/>
          </a:bodyPr>
          <a:lstStyle/>
          <a:p>
            <a:pPr algn="l">
              <a:spcBef>
                <a:spcPts val="0"/>
              </a:spcBef>
              <a:spcAft>
                <a:spcPts val="0"/>
              </a:spcAft>
            </a:pPr>
            <a:r>
              <a:rPr sz="850" b="0" i="0">
                <a:solidFill>
                  <a:srgbClr val="9C978E"/>
                </a:solidFill>
                <a:latin typeface="Calibri"/>
              </a:rPr>
              <a:t>DRONA · Banking77 ticket triage · all figures from artifacts/reports/</a:t>
            </a:r>
          </a:p>
        </p:txBody>
      </p:sp>
      <p:sp>
        <p:nvSpPr>
          <p:cNvPr id="8" name="TextBox 7"/>
          <p:cNvSpPr txBox="1"/>
          <p:nvPr/>
        </p:nvSpPr>
        <p:spPr>
          <a:xfrm>
            <a:off x="9144000" y="6455664"/>
            <a:ext cx="2361895" cy="201168"/>
          </a:xfrm>
          <a:prstGeom prst="rect">
            <a:avLst/>
          </a:prstGeom>
          <a:noFill/>
        </p:spPr>
        <p:txBody>
          <a:bodyPr wrap="square" lIns="0" rIns="0" tIns="0" bIns="0" anchor="t">
            <a:spAutoFit/>
          </a:bodyPr>
          <a:lstStyle/>
          <a:p>
            <a:pPr algn="r">
              <a:spcBef>
                <a:spcPts val="0"/>
              </a:spcBef>
              <a:spcAft>
                <a:spcPts val="0"/>
              </a:spcAft>
            </a:pPr>
            <a:r>
              <a:rPr sz="850" b="0" i="0">
                <a:solidFill>
                  <a:srgbClr val="9C978E"/>
                </a:solidFill>
                <a:latin typeface="Calibri"/>
              </a:rPr>
              <a:t>8</a:t>
            </a:r>
          </a:p>
        </p:txBody>
      </p:sp>
      <p:graphicFrame>
        <p:nvGraphicFramePr>
          <p:cNvPr id="9" name="Table 8"/>
          <p:cNvGraphicFramePr>
            <a:graphicFrameLocks noGrp="1"/>
          </p:cNvGraphicFramePr>
          <p:nvPr/>
        </p:nvGraphicFramePr>
        <p:xfrm>
          <a:off x="685800" y="1627632"/>
          <a:ext cx="10820093" cy="3886200"/>
        </p:xfrm>
        <a:graphic>
          <a:graphicData uri="http://schemas.openxmlformats.org/drawingml/2006/table">
            <a:tbl>
              <a:tblPr>
                <a:tableStyleId>{5C22544A-7EE6-4342-B048-85BDC9FD1C3A}</a:tableStyleId>
              </a:tblPr>
              <a:tblGrid>
                <a:gridCol w="2103653"/>
                <a:gridCol w="2332311"/>
                <a:gridCol w="3978648"/>
                <a:gridCol w="2405481"/>
              </a:tblGrid>
              <a:tr h="292608">
                <a:tc>
                  <a:txBody>
                    <a:bodyPr wrap="square"/>
                    <a:lstStyle/>
                    <a:p>
                      <a:pPr algn="l">
                        <a:spcBef>
                          <a:spcPts val="0"/>
                        </a:spcBef>
                        <a:spcAft>
                          <a:spcPts val="0"/>
                        </a:spcAft>
                      </a:pPr>
                      <a:r>
                        <a:rPr sz="900" b="1" i="0">
                          <a:solidFill>
                            <a:srgbClr val="0B6E63"/>
                          </a:solidFill>
                          <a:latin typeface="Calibri"/>
                        </a:rPr>
                        <a:t>DECISION</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THE ALTERNATIVE</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WHY WE CHOSE THIS</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WHAT IT COST US</a:t>
                      </a:r>
                    </a:p>
                  </a:txBody>
                  <a:tcPr marL="82296" marR="82296" marT="18288" marB="18288" anchor="ctr">
                    <a:lnB w="15240" cap="flat" cmpd="sng" algn="ctr">
                      <a:solidFill>
                        <a:srgbClr val="0B6E63"/>
                      </a:solidFill>
                    </a:lnB>
                    <a:noFill/>
                  </a:tcPr>
                </a:tc>
              </a:tr>
              <a:tr h="598932">
                <a:tc>
                  <a:txBody>
                    <a:bodyPr wrap="square"/>
                    <a:lstStyle/>
                    <a:p>
                      <a:pPr algn="l">
                        <a:spcBef>
                          <a:spcPts val="0"/>
                        </a:spcBef>
                        <a:spcAft>
                          <a:spcPts val="0"/>
                        </a:spcAft>
                      </a:pPr>
                      <a:r>
                        <a:rPr sz="1100" b="1" i="0">
                          <a:solidFill>
                            <a:srgbClr val="14181D"/>
                          </a:solidFill>
                          <a:latin typeface="Calibri"/>
                        </a:rPr>
                        <a:t>Sparse views, not embeddings</a:t>
                      </a:r>
                    </a:p>
                  </a:txBody>
                  <a:tcPr marL="82296" marR="82296" marT="18288" marB="18288" anchor="ctr">
                    <a:noFill/>
                  </a:tcPr>
                </a:tc>
                <a:tc>
                  <a:txBody>
                    <a:bodyPr wrap="square"/>
                    <a:lstStyle/>
                    <a:p>
                      <a:pPr algn="l">
                        <a:spcBef>
                          <a:spcPts val="0"/>
                        </a:spcBef>
                        <a:spcAft>
                          <a:spcPts val="0"/>
                        </a:spcAft>
                      </a:pPr>
                      <a:r>
                        <a:rPr sz="950" b="0" i="0">
                          <a:solidFill>
                            <a:srgbClr val="9C978E"/>
                          </a:solidFill>
                          <a:latin typeface="Calibri"/>
                        </a:rPr>
                        <a:t>Sentence-transformers or fine-tuned embeddings</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char_wb 3–5 grams catch the misspellings and the code-switching that actually appear in support tickets; a static vocabulary also means nothing to download at serving time.</a:t>
                      </a:r>
                    </a:p>
                  </a:txBody>
                  <a:tcPr marL="82296" marR="82296" marT="18288" marB="18288" anchor="ctr">
                    <a:noFill/>
                  </a:tcPr>
                </a:tc>
                <a:tc>
                  <a:txBody>
                    <a:bodyPr wrap="square"/>
                    <a:lstStyle/>
                    <a:p>
                      <a:pPr algn="l">
                        <a:spcBef>
                          <a:spcPts val="0"/>
                        </a:spcBef>
                        <a:spcAft>
                          <a:spcPts val="0"/>
                        </a:spcAft>
                      </a:pPr>
                      <a:r>
                        <a:rPr sz="950" b="0" i="0">
                          <a:solidFill>
                            <a:srgbClr val="B04A1F"/>
                          </a:solidFill>
                          <a:latin typeface="Calibri"/>
                        </a:rPr>
                        <a:t>No semantic generalisation to a phrasing we never saw.</a:t>
                      </a:r>
                    </a:p>
                  </a:txBody>
                  <a:tcPr marL="82296" marR="82296" marT="18288" marB="18288" anchor="ctr">
                    <a:noFill/>
                  </a:tcPr>
                </a:tc>
              </a:tr>
              <a:tr h="598932">
                <a:tc>
                  <a:txBody>
                    <a:bodyPr wrap="square"/>
                    <a:lstStyle/>
                    <a:p>
                      <a:pPr algn="l">
                        <a:spcBef>
                          <a:spcPts val="0"/>
                        </a:spcBef>
                        <a:spcAft>
                          <a:spcPts val="0"/>
                        </a:spcAft>
                      </a:pPr>
                      <a:r>
                        <a:rPr sz="1100" b="1" i="0">
                          <a:solidFill>
                            <a:srgbClr val="14181D"/>
                          </a:solidFill>
                          <a:latin typeface="Calibri"/>
                        </a:rPr>
                        <a:t>A linear head, not a neural classifier</a:t>
                      </a:r>
                    </a:p>
                  </a:txBody>
                  <a:tcPr marL="82296" marR="82296" marT="18288" marB="18288" anchor="ctr">
                    <a:noFill/>
                  </a:tcPr>
                </a:tc>
                <a:tc>
                  <a:txBody>
                    <a:bodyPr wrap="square"/>
                    <a:lstStyle/>
                    <a:p>
                      <a:pPr algn="l">
                        <a:spcBef>
                          <a:spcPts val="0"/>
                        </a:spcBef>
                        <a:spcAft>
                          <a:spcPts val="0"/>
                        </a:spcAft>
                      </a:pPr>
                      <a:r>
                        <a:rPr sz="950" b="0" i="0">
                          <a:solidFill>
                            <a:srgbClr val="9C978E"/>
                          </a:solidFill>
                          <a:latin typeface="Calibri"/>
                        </a:rPr>
                        <a:t>Fine-tuned DistilBERT as the primary classifier</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It matched a 268 MB transformer to within 0.31 points, and a paired test put that margin at chance.</a:t>
                      </a:r>
                    </a:p>
                  </a:txBody>
                  <a:tcPr marL="82296" marR="82296" marT="18288" marB="18288" anchor="ctr">
                    <a:noFill/>
                  </a:tcPr>
                </a:tc>
                <a:tc>
                  <a:txBody>
                    <a:bodyPr wrap="square"/>
                    <a:lstStyle/>
                    <a:p>
                      <a:pPr algn="l">
                        <a:spcBef>
                          <a:spcPts val="0"/>
                        </a:spcBef>
                        <a:spcAft>
                          <a:spcPts val="0"/>
                        </a:spcAft>
                      </a:pPr>
                      <a:r>
                        <a:rPr sz="950" b="0" i="0">
                          <a:solidFill>
                            <a:srgbClr val="B04A1F"/>
                          </a:solidFill>
                          <a:latin typeface="Calibri"/>
                        </a:rPr>
                        <a:t>Linear models cannot represent word order — see the sentiment limitation.</a:t>
                      </a:r>
                    </a:p>
                  </a:txBody>
                  <a:tcPr marL="82296" marR="82296" marT="18288" marB="18288" anchor="ctr">
                    <a:noFill/>
                  </a:tcPr>
                </a:tc>
              </a:tr>
              <a:tr h="598932">
                <a:tc>
                  <a:txBody>
                    <a:bodyPr wrap="square"/>
                    <a:lstStyle/>
                    <a:p>
                      <a:pPr algn="l">
                        <a:spcBef>
                          <a:spcPts val="0"/>
                        </a:spcBef>
                        <a:spcAft>
                          <a:spcPts val="0"/>
                        </a:spcAft>
                      </a:pPr>
                      <a:r>
                        <a:rPr sz="1100" b="1" i="0">
                          <a:solidFill>
                            <a:srgbClr val="14181D"/>
                          </a:solidFill>
                          <a:latin typeface="Calibri"/>
                        </a:rPr>
                        <a:t>Fusion, then calibration, then a gate</a:t>
                      </a:r>
                    </a:p>
                  </a:txBody>
                  <a:tcPr marL="82296" marR="82296" marT="18288" marB="18288" anchor="ctr">
                    <a:noFill/>
                  </a:tcPr>
                </a:tc>
                <a:tc>
                  <a:txBody>
                    <a:bodyPr wrap="square"/>
                    <a:lstStyle/>
                    <a:p>
                      <a:pPr algn="l">
                        <a:spcBef>
                          <a:spcPts val="0"/>
                        </a:spcBef>
                        <a:spcAft>
                          <a:spcPts val="0"/>
                        </a:spcAft>
                      </a:pPr>
                      <a:r>
                        <a:rPr sz="950" b="0" i="0">
                          <a:solidFill>
                            <a:srgbClr val="9C978E"/>
                          </a:solidFill>
                          <a:latin typeface="Calibri"/>
                        </a:rPr>
                        <a:t>One classifier at one threshold</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Fusing two decorrelated errors raised macro-F1, and calibration is what turns a probability into something an operator can act on.</a:t>
                      </a:r>
                    </a:p>
                  </a:txBody>
                  <a:tcPr marL="82296" marR="82296" marT="18288" marB="18288" anchor="ctr">
                    <a:noFill/>
                  </a:tcPr>
                </a:tc>
                <a:tc>
                  <a:txBody>
                    <a:bodyPr wrap="square"/>
                    <a:lstStyle/>
                    <a:p>
                      <a:pPr algn="l">
                        <a:spcBef>
                          <a:spcPts val="0"/>
                        </a:spcBef>
                        <a:spcAft>
                          <a:spcPts val="0"/>
                        </a:spcAft>
                      </a:pPr>
                      <a:r>
                        <a:rPr sz="950" b="0" i="0">
                          <a:solidFill>
                            <a:srgbClr val="B04A1F"/>
                          </a:solidFill>
                          <a:latin typeface="Calibri"/>
                        </a:rPr>
                        <a:t>Two more fitted stages between the text and the answer.</a:t>
                      </a:r>
                    </a:p>
                  </a:txBody>
                  <a:tcPr marL="82296" marR="82296" marT="18288" marB="18288" anchor="ctr">
                    <a:noFill/>
                  </a:tcPr>
                </a:tc>
              </a:tr>
              <a:tr h="598932">
                <a:tc>
                  <a:txBody>
                    <a:bodyPr wrap="square"/>
                    <a:lstStyle/>
                    <a:p>
                      <a:pPr algn="l">
                        <a:spcBef>
                          <a:spcPts val="0"/>
                        </a:spcBef>
                        <a:spcAft>
                          <a:spcPts val="0"/>
                        </a:spcAft>
                      </a:pPr>
                      <a:r>
                        <a:rPr sz="1100" b="1" i="0">
                          <a:solidFill>
                            <a:srgbClr val="14181D"/>
                          </a:solidFill>
                          <a:latin typeface="Calibri"/>
                        </a:rPr>
                        <a:t>Conformal gate on the validation split</a:t>
                      </a:r>
                    </a:p>
                  </a:txBody>
                  <a:tcPr marL="82296" marR="82296" marT="18288" marB="18288" anchor="ctr">
                    <a:noFill/>
                  </a:tcPr>
                </a:tc>
                <a:tc>
                  <a:txBody>
                    <a:bodyPr wrap="square"/>
                    <a:lstStyle/>
                    <a:p>
                      <a:pPr algn="l">
                        <a:spcBef>
                          <a:spcPts val="0"/>
                        </a:spcBef>
                        <a:spcAft>
                          <a:spcPts val="0"/>
                        </a:spcAft>
                      </a:pPr>
                      <a:r>
                        <a:rPr sz="950" b="0" i="0">
                          <a:solidFill>
                            <a:srgbClr val="9C978E"/>
                          </a:solidFill>
                          <a:latin typeface="Calibri"/>
                        </a:rPr>
                        <a:t>Pick a threshold on the test curve</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A threshold tuned on test is a number that cannot survive contact with new data; split conformal gives a bound that holds on fresh exchangeable tickets.</a:t>
                      </a:r>
                    </a:p>
                  </a:txBody>
                  <a:tcPr marL="82296" marR="82296" marT="18288" marB="18288" anchor="ctr">
                    <a:noFill/>
                  </a:tcPr>
                </a:tc>
                <a:tc>
                  <a:txBody>
                    <a:bodyPr wrap="square"/>
                    <a:lstStyle/>
                    <a:p>
                      <a:pPr algn="l">
                        <a:spcBef>
                          <a:spcPts val="0"/>
                        </a:spcBef>
                        <a:spcAft>
                          <a:spcPts val="0"/>
                        </a:spcAft>
                      </a:pPr>
                      <a:r>
                        <a:rPr sz="950" b="0" i="0">
                          <a:solidFill>
                            <a:srgbClr val="B04A1F"/>
                          </a:solidFill>
                          <a:latin typeface="Calibri"/>
                        </a:rPr>
                        <a:t>Coverage is 90.32% rather than exactly 90%.</a:t>
                      </a:r>
                    </a:p>
                  </a:txBody>
                  <a:tcPr marL="82296" marR="82296" marT="18288" marB="18288" anchor="ctr">
                    <a:noFill/>
                  </a:tcPr>
                </a:tc>
              </a:tr>
              <a:tr h="598932">
                <a:tc>
                  <a:txBody>
                    <a:bodyPr wrap="square"/>
                    <a:lstStyle/>
                    <a:p>
                      <a:pPr algn="l">
                        <a:spcBef>
                          <a:spcPts val="0"/>
                        </a:spcBef>
                        <a:spcAft>
                          <a:spcPts val="0"/>
                        </a:spcAft>
                      </a:pPr>
                      <a:r>
                        <a:rPr sz="1100" b="1" i="0">
                          <a:solidFill>
                            <a:srgbClr val="14181D"/>
                          </a:solidFill>
                          <a:latin typeface="Calibri"/>
                        </a:rPr>
                        <a:t>Agent drafts, humans decide</a:t>
                      </a:r>
                    </a:p>
                  </a:txBody>
                  <a:tcPr marL="82296" marR="82296" marT="18288" marB="18288" anchor="ctr">
                    <a:noFill/>
                  </a:tcPr>
                </a:tc>
                <a:tc>
                  <a:txBody>
                    <a:bodyPr wrap="square"/>
                    <a:lstStyle/>
                    <a:p>
                      <a:pPr algn="l">
                        <a:spcBef>
                          <a:spcPts val="0"/>
                        </a:spcBef>
                        <a:spcAft>
                          <a:spcPts val="0"/>
                        </a:spcAft>
                      </a:pPr>
                      <a:r>
                        <a:rPr sz="950" b="0" i="0">
                          <a:solidFill>
                            <a:srgbClr val="9C978E"/>
                          </a:solidFill>
                          <a:latin typeface="Calibri"/>
                        </a:rPr>
                        <a:t>Let the agent overrule the classifier</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On the 129 escalated tickets the agent's own accuracy was lower than the cascade it was asked to override.</a:t>
                      </a:r>
                    </a:p>
                  </a:txBody>
                  <a:tcPr marL="82296" marR="82296" marT="18288" marB="18288" anchor="ctr">
                    <a:noFill/>
                  </a:tcPr>
                </a:tc>
                <a:tc>
                  <a:txBody>
                    <a:bodyPr wrap="square"/>
                    <a:lstStyle/>
                    <a:p>
                      <a:pPr algn="l">
                        <a:spcBef>
                          <a:spcPts val="0"/>
                        </a:spcBef>
                        <a:spcAft>
                          <a:spcPts val="0"/>
                        </a:spcAft>
                      </a:pPr>
                      <a:r>
                        <a:rPr sz="950" b="0" i="0">
                          <a:solidFill>
                            <a:srgbClr val="B04A1F"/>
                          </a:solidFill>
                          <a:latin typeface="Calibri"/>
                        </a:rPr>
                        <a:t>None of the drafting speed-up reaches the customer.</a:t>
                      </a:r>
                    </a:p>
                  </a:txBody>
                  <a:tcPr marL="82296" marR="82296" marT="18288" marB="18288" anchor="ctr">
                    <a:noFill/>
                  </a:tcPr>
                </a:tc>
              </a:tr>
              <a:tr h="598932">
                <a:tc>
                  <a:txBody>
                    <a:bodyPr wrap="square"/>
                    <a:lstStyle/>
                    <a:p>
                      <a:pPr algn="l">
                        <a:spcBef>
                          <a:spcPts val="0"/>
                        </a:spcBef>
                        <a:spcAft>
                          <a:spcPts val="0"/>
                        </a:spcAft>
                      </a:pPr>
                      <a:r>
                        <a:rPr sz="1100" b="1" i="0">
                          <a:solidFill>
                            <a:srgbClr val="14181D"/>
                          </a:solidFill>
                          <a:latin typeface="Calibri"/>
                        </a:rPr>
                        <a:t>Report ECE and macro-F1 next to accuracy</a:t>
                      </a:r>
                    </a:p>
                  </a:txBody>
                  <a:tcPr marL="82296" marR="82296" marT="18288" marB="18288" anchor="ctr">
                    <a:noFill/>
                  </a:tcPr>
                </a:tc>
                <a:tc>
                  <a:txBody>
                    <a:bodyPr wrap="square"/>
                    <a:lstStyle/>
                    <a:p>
                      <a:pPr algn="l">
                        <a:spcBef>
                          <a:spcPts val="0"/>
                        </a:spcBef>
                        <a:spcAft>
                          <a:spcPts val="0"/>
                        </a:spcAft>
                      </a:pPr>
                      <a:r>
                        <a:rPr sz="950" b="0" i="0">
                          <a:solidFill>
                            <a:srgbClr val="9C978E"/>
                          </a:solidFill>
                          <a:latin typeface="Calibri"/>
                        </a:rPr>
                        <a:t>Report accuracy</a:t>
                      </a:r>
                    </a:p>
                  </a:txBody>
                  <a:tcPr marL="82296" marR="82296" marT="18288" marB="18288" anchor="ctr">
                    <a:noFill/>
                  </a:tcPr>
                </a:tc>
                <a:tc>
                  <a:txBody>
                    <a:bodyPr wrap="square"/>
                    <a:lstStyle/>
                    <a:p>
                      <a:pPr algn="l">
                        <a:spcBef>
                          <a:spcPts val="0"/>
                        </a:spcBef>
                        <a:spcAft>
                          <a:spcPts val="0"/>
                        </a:spcAft>
                      </a:pPr>
                      <a:r>
                        <a:rPr sz="950" b="0" i="0">
                          <a:solidFill>
                            <a:srgbClr val="6B6F76"/>
                          </a:solidFill>
                          <a:latin typeface="Calibri"/>
                        </a:rPr>
                        <a:t>Under 18.7:1 imbalance the two disagree, and a model can be well-ranked and badly calibrated at the same time.</a:t>
                      </a:r>
                    </a:p>
                  </a:txBody>
                  <a:tcPr marL="82296" marR="82296" marT="18288" marB="18288" anchor="ctr">
                    <a:noFill/>
                  </a:tcPr>
                </a:tc>
                <a:tc>
                  <a:txBody>
                    <a:bodyPr wrap="square"/>
                    <a:lstStyle/>
                    <a:p>
                      <a:pPr algn="l">
                        <a:spcBef>
                          <a:spcPts val="0"/>
                        </a:spcBef>
                        <a:spcAft>
                          <a:spcPts val="0"/>
                        </a:spcAft>
                      </a:pPr>
                      <a:r>
                        <a:rPr sz="950" b="0" i="0">
                          <a:solidFill>
                            <a:srgbClr val="B04A1F"/>
                          </a:solidFill>
                          <a:latin typeface="Calibri"/>
                        </a:rPr>
                        <a:t>More numbers to read before you can compare two systems.</a:t>
                      </a:r>
                    </a:p>
                  </a:txBody>
                  <a:tcPr marL="82296" marR="82296" marT="18288" marB="18288" anchor="ctr">
                    <a:noFill/>
                  </a:tcPr>
                </a:tc>
              </a:tr>
            </a:tbl>
          </a:graphicData>
        </a:graphic>
      </p:graphicFrame>
      <p:sp>
        <p:nvSpPr>
          <p:cNvPr id="10" name="TextBox 9"/>
          <p:cNvSpPr txBox="1"/>
          <p:nvPr/>
        </p:nvSpPr>
        <p:spPr>
          <a:xfrm>
            <a:off x="685800" y="5733288"/>
            <a:ext cx="10820095" cy="420624"/>
          </a:xfrm>
          <a:prstGeom prst="rect">
            <a:avLst/>
          </a:prstGeom>
          <a:noFill/>
        </p:spPr>
        <p:txBody>
          <a:bodyPr wrap="square" lIns="0" rIns="0" tIns="0" bIns="0" anchor="t">
            <a:spAutoFit/>
          </a:bodyPr>
          <a:lstStyle/>
          <a:p>
            <a:pPr algn="l">
              <a:lnSpc>
                <a:spcPct val="130000"/>
              </a:lnSpc>
              <a:spcBef>
                <a:spcPts val="0"/>
              </a:spcBef>
              <a:spcAft>
                <a:spcPts val="0"/>
              </a:spcAft>
            </a:pPr>
            <a:r>
              <a:rPr sz="1050" b="1" i="0">
                <a:solidFill>
                  <a:srgbClr val="6B6F76"/>
                </a:solidFill>
                <a:latin typeface="Calibri"/>
              </a:rPr>
              <a:t>And one non-decision we want on the record: </a:t>
            </a:r>
            <a:r>
              <a:rPr sz="1050" b="0" i="0">
                <a:solidFill>
                  <a:srgbClr val="6B6F76"/>
                </a:solidFill>
                <a:latin typeface="Calibri"/>
              </a:rPr>
              <a:t>77 intents map to 11 categories, and loan_emi has no examples in the dataset. We left the class in the taxonomy rather than deleting it, because a routing table that quietly drops a category is worse than one that admits the gap.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515600" cy="201168"/>
          </a:xfrm>
          <a:prstGeom prst="rect">
            <a:avLst/>
          </a:prstGeom>
          <a:noFill/>
        </p:spPr>
        <p:txBody>
          <a:bodyPr wrap="square" lIns="0" rIns="0" tIns="0" bIns="0" anchor="t">
            <a:spAutoFit/>
          </a:bodyPr>
          <a:lstStyle/>
          <a:p>
            <a:pPr algn="l">
              <a:spcBef>
                <a:spcPts val="0"/>
              </a:spcBef>
              <a:spcAft>
                <a:spcPts val="0"/>
              </a:spcAft>
            </a:pPr>
            <a:r>
              <a:rPr sz="950" b="1" i="0">
                <a:solidFill>
                  <a:srgbClr val="0B6E63"/>
                </a:solidFill>
                <a:latin typeface="Calibri"/>
              </a:rPr>
              <a:t>EXPECTED OUTCOMES</a:t>
            </a:r>
          </a:p>
        </p:txBody>
      </p:sp>
      <p:sp>
        <p:nvSpPr>
          <p:cNvPr id="4" name="TextBox 3"/>
          <p:cNvSpPr txBox="1"/>
          <p:nvPr/>
        </p:nvSpPr>
        <p:spPr>
          <a:xfrm>
            <a:off x="685800" y="548640"/>
            <a:ext cx="10820095" cy="585216"/>
          </a:xfrm>
          <a:prstGeom prst="rect">
            <a:avLst/>
          </a:prstGeom>
          <a:noFill/>
        </p:spPr>
        <p:txBody>
          <a:bodyPr wrap="square" lIns="0" rIns="0" tIns="0" bIns="0" anchor="t">
            <a:spAutoFit/>
          </a:bodyPr>
          <a:lstStyle/>
          <a:p>
            <a:pPr algn="l">
              <a:lnSpc>
                <a:spcPct val="104000"/>
              </a:lnSpc>
              <a:spcBef>
                <a:spcPts val="0"/>
              </a:spcBef>
              <a:spcAft>
                <a:spcPts val="0"/>
              </a:spcAft>
            </a:pPr>
            <a:r>
              <a:rPr sz="2100" b="0" i="0">
                <a:solidFill>
                  <a:srgbClr val="14181D"/>
                </a:solidFill>
                <a:latin typeface="Georgia"/>
              </a:rPr>
              <a:t>We expected the transformer to win. It won by a margin that does not survive a significance test.</a:t>
            </a:r>
          </a:p>
        </p:txBody>
      </p:sp>
      <p:sp>
        <p:nvSpPr>
          <p:cNvPr id="5" name="TextBox 4"/>
          <p:cNvSpPr txBox="1"/>
          <p:nvPr/>
        </p:nvSpPr>
        <p:spPr>
          <a:xfrm>
            <a:off x="685800" y="1170432"/>
            <a:ext cx="10820095" cy="256032"/>
          </a:xfrm>
          <a:prstGeom prst="rect">
            <a:avLst/>
          </a:prstGeom>
          <a:noFill/>
        </p:spPr>
        <p:txBody>
          <a:bodyPr wrap="square" lIns="0" rIns="0" tIns="0" bIns="0" anchor="t">
            <a:spAutoFit/>
          </a:bodyPr>
          <a:lstStyle/>
          <a:p>
            <a:pPr algn="l">
              <a:lnSpc>
                <a:spcPct val="112000"/>
              </a:lnSpc>
              <a:spcBef>
                <a:spcPts val="0"/>
              </a:spcBef>
              <a:spcAft>
                <a:spcPts val="0"/>
              </a:spcAft>
            </a:pPr>
            <a:r>
              <a:rPr sz="1150" b="0" i="0">
                <a:solidFill>
                  <a:srgbClr val="6B6F76"/>
                </a:solidFill>
                <a:latin typeface="Calibri"/>
              </a:rPr>
              <a:t>Four systems, one held-out split of 1,963 tickets, one test applied to the pair that disagreed.</a:t>
            </a:r>
          </a:p>
        </p:txBody>
      </p:sp>
      <p:sp>
        <p:nvSpPr>
          <p:cNvPr id="6" name="Rectangle 5"/>
          <p:cNvSpPr/>
          <p:nvPr/>
        </p:nvSpPr>
        <p:spPr>
          <a:xfrm>
            <a:off x="685800" y="1463040"/>
            <a:ext cx="10820095" cy="11430"/>
          </a:xfrm>
          <a:prstGeom prst="rect">
            <a:avLst/>
          </a:prstGeom>
          <a:solidFill>
            <a:srgbClr val="DE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55664"/>
            <a:ext cx="5486400" cy="201168"/>
          </a:xfrm>
          <a:prstGeom prst="rect">
            <a:avLst/>
          </a:prstGeom>
          <a:noFill/>
        </p:spPr>
        <p:txBody>
          <a:bodyPr wrap="square" lIns="0" rIns="0" tIns="0" bIns="0" anchor="t">
            <a:spAutoFit/>
          </a:bodyPr>
          <a:lstStyle/>
          <a:p>
            <a:pPr algn="l">
              <a:spcBef>
                <a:spcPts val="0"/>
              </a:spcBef>
              <a:spcAft>
                <a:spcPts val="0"/>
              </a:spcAft>
            </a:pPr>
            <a:r>
              <a:rPr sz="850" b="0" i="0">
                <a:solidFill>
                  <a:srgbClr val="9C978E"/>
                </a:solidFill>
                <a:latin typeface="Calibri"/>
              </a:rPr>
              <a:t>DRONA · Banking77 ticket triage · all figures from artifacts/reports/</a:t>
            </a:r>
          </a:p>
        </p:txBody>
      </p:sp>
      <p:sp>
        <p:nvSpPr>
          <p:cNvPr id="8" name="TextBox 7"/>
          <p:cNvSpPr txBox="1"/>
          <p:nvPr/>
        </p:nvSpPr>
        <p:spPr>
          <a:xfrm>
            <a:off x="9144000" y="6455664"/>
            <a:ext cx="2361895" cy="201168"/>
          </a:xfrm>
          <a:prstGeom prst="rect">
            <a:avLst/>
          </a:prstGeom>
          <a:noFill/>
        </p:spPr>
        <p:txBody>
          <a:bodyPr wrap="square" lIns="0" rIns="0" tIns="0" bIns="0" anchor="t">
            <a:spAutoFit/>
          </a:bodyPr>
          <a:lstStyle/>
          <a:p>
            <a:pPr algn="r">
              <a:spcBef>
                <a:spcPts val="0"/>
              </a:spcBef>
              <a:spcAft>
                <a:spcPts val="0"/>
              </a:spcAft>
            </a:pPr>
            <a:r>
              <a:rPr sz="850" b="0" i="0">
                <a:solidFill>
                  <a:srgbClr val="9C978E"/>
                </a:solidFill>
                <a:latin typeface="Calibri"/>
              </a:rPr>
              <a:t>9</a:t>
            </a:r>
          </a:p>
        </p:txBody>
      </p:sp>
      <p:graphicFrame>
        <p:nvGraphicFramePr>
          <p:cNvPr id="9" name="Table 8"/>
          <p:cNvGraphicFramePr>
            <a:graphicFrameLocks noGrp="1"/>
          </p:cNvGraphicFramePr>
          <p:nvPr/>
        </p:nvGraphicFramePr>
        <p:xfrm>
          <a:off x="685800" y="1627632"/>
          <a:ext cx="10820091" cy="1609344"/>
        </p:xfrm>
        <a:graphic>
          <a:graphicData uri="http://schemas.openxmlformats.org/drawingml/2006/table">
            <a:tbl>
              <a:tblPr>
                <a:tableStyleId>{5C22544A-7EE6-4342-B048-85BDC9FD1C3A}</a:tableStyleId>
              </a:tblPr>
              <a:tblGrid>
                <a:gridCol w="2799091"/>
                <a:gridCol w="1303183"/>
                <a:gridCol w="1303183"/>
                <a:gridCol w="1174700"/>
                <a:gridCol w="1303183"/>
                <a:gridCol w="1174700"/>
                <a:gridCol w="1762051"/>
              </a:tblGrid>
              <a:tr h="292608">
                <a:tc>
                  <a:txBody>
                    <a:bodyPr wrap="square"/>
                    <a:lstStyle/>
                    <a:p>
                      <a:pPr algn="l">
                        <a:spcBef>
                          <a:spcPts val="0"/>
                        </a:spcBef>
                        <a:spcAft>
                          <a:spcPts val="0"/>
                        </a:spcAft>
                      </a:pPr>
                      <a:r>
                        <a:rPr sz="900" b="1" i="0">
                          <a:solidFill>
                            <a:srgbClr val="0B6E63"/>
                          </a:solidFill>
                          <a:latin typeface="Calibri"/>
                        </a:rPr>
                        <a:t>SYSTEM</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ACCURACY</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MACRO-F1</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ECE</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LATENCY</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SIZE</a:t>
                      </a:r>
                    </a:p>
                  </a:txBody>
                  <a:tcPr marL="82296" marR="82296" marT="18288" marB="18288" anchor="ctr">
                    <a:lnB w="15240" cap="flat" cmpd="sng" algn="ctr">
                      <a:solidFill>
                        <a:srgbClr val="0B6E63"/>
                      </a:solidFill>
                    </a:lnB>
                    <a:noFill/>
                  </a:tcPr>
                </a:tc>
                <a:tc>
                  <a:txBody>
                    <a:bodyPr wrap="square"/>
                    <a:lstStyle/>
                    <a:p>
                      <a:pPr algn="l">
                        <a:spcBef>
                          <a:spcPts val="0"/>
                        </a:spcBef>
                        <a:spcAft>
                          <a:spcPts val="0"/>
                        </a:spcAft>
                      </a:pPr>
                      <a:r>
                        <a:rPr sz="900" b="1" i="0">
                          <a:solidFill>
                            <a:srgbClr val="0B6E63"/>
                          </a:solidFill>
                          <a:latin typeface="Calibri"/>
                        </a:rPr>
                        <a:t>BUILD</a:t>
                      </a:r>
                    </a:p>
                  </a:txBody>
                  <a:tcPr marL="82296" marR="82296" marT="18288" marB="18288" anchor="ctr">
                    <a:lnB w="15240" cap="flat" cmpd="sng" algn="ctr">
                      <a:solidFill>
                        <a:srgbClr val="0B6E63"/>
                      </a:solidFill>
                    </a:lnB>
                    <a:noFill/>
                  </a:tcPr>
                </a:tc>
              </a:tr>
              <a:tr h="329184">
                <a:tc>
                  <a:txBody>
                    <a:bodyPr wrap="square"/>
                    <a:lstStyle/>
                    <a:p>
                      <a:pPr algn="l">
                        <a:spcBef>
                          <a:spcPts val="0"/>
                        </a:spcBef>
                        <a:spcAft>
                          <a:spcPts val="0"/>
                        </a:spcAft>
                      </a:pPr>
                      <a:r>
                        <a:rPr sz="1050" b="1" i="0">
                          <a:solidFill>
                            <a:srgbClr val="14181D"/>
                          </a:solidFill>
                          <a:latin typeface="Calibri"/>
                        </a:rPr>
                        <a:t>kNN retrieval only</a:t>
                      </a:r>
                    </a:p>
                  </a:txBody>
                  <a:tcPr marL="82296" marR="82296" marT="18288" marB="18288" anchor="ctr">
                    <a:noFill/>
                  </a:tcPr>
                </a:tc>
                <a:tc>
                  <a:txBody>
                    <a:bodyPr wrap="square"/>
                    <a:lstStyle/>
                    <a:p>
                      <a:pPr algn="ctr">
                        <a:spcBef>
                          <a:spcPts val="0"/>
                        </a:spcBef>
                        <a:spcAft>
                          <a:spcPts val="0"/>
                        </a:spcAft>
                      </a:pPr>
                      <a:r>
                        <a:rPr sz="1000" b="0" i="0">
                          <a:solidFill>
                            <a:srgbClr val="7A8894"/>
                          </a:solidFill>
                          <a:latin typeface="Calibri"/>
                        </a:rPr>
                        <a:t>92.56%</a:t>
                      </a:r>
                    </a:p>
                  </a:txBody>
                  <a:tcPr marL="82296" marR="82296" marT="18288" marB="18288" anchor="ctr">
                    <a:noFill/>
                  </a:tcPr>
                </a:tc>
                <a:tc>
                  <a:txBody>
                    <a:bodyPr wrap="square"/>
                    <a:lstStyle/>
                    <a:p>
                      <a:pPr algn="ctr">
                        <a:spcBef>
                          <a:spcPts val="0"/>
                        </a:spcBef>
                        <a:spcAft>
                          <a:spcPts val="0"/>
                        </a:spcAft>
                      </a:pPr>
                      <a:r>
                        <a:rPr sz="1000" b="0" i="0">
                          <a:solidFill>
                            <a:srgbClr val="7A8894"/>
                          </a:solidFill>
                          <a:latin typeface="Calibri"/>
                        </a:rPr>
                        <a:t>91.75%</a:t>
                      </a:r>
                    </a:p>
                  </a:txBody>
                  <a:tcPr marL="82296" marR="82296" marT="18288" marB="18288" anchor="ctr">
                    <a:noFill/>
                  </a:tcPr>
                </a:tc>
                <a:tc>
                  <a:txBody>
                    <a:bodyPr wrap="square"/>
                    <a:lstStyle/>
                    <a:p>
                      <a:pPr algn="ctr">
                        <a:spcBef>
                          <a:spcPts val="0"/>
                        </a:spcBef>
                        <a:spcAft>
                          <a:spcPts val="0"/>
                        </a:spcAft>
                      </a:pPr>
                      <a:r>
                        <a:rPr sz="1000" b="0" i="0">
                          <a:solidFill>
                            <a:srgbClr val="6B6F76"/>
                          </a:solidFill>
                          <a:latin typeface="Calibri"/>
                        </a:rPr>
                        <a:t>0.0785</a:t>
                      </a:r>
                    </a:p>
                  </a:txBody>
                  <a:tcPr marL="82296" marR="82296" marT="18288" marB="18288" anchor="ctr">
                    <a:noFill/>
                  </a:tcPr>
                </a:tc>
                <a:tc>
                  <a:txBody>
                    <a:bodyPr wrap="square"/>
                    <a:lstStyle/>
                    <a:p>
                      <a:pPr algn="ctr">
                        <a:spcBef>
                          <a:spcPts val="0"/>
                        </a:spcBef>
                        <a:spcAft>
                          <a:spcPts val="0"/>
                        </a:spcAft>
                      </a:pPr>
                      <a:r>
                        <a:rPr sz="1000" b="0" i="0">
                          <a:solidFill>
                            <a:srgbClr val="6B6F76"/>
                          </a:solidFill>
                          <a:latin typeface="Calibri"/>
                        </a:rPr>
                        <a:t>27.4 ms</a:t>
                      </a:r>
                    </a:p>
                  </a:txBody>
                  <a:tcPr marL="82296" marR="82296" marT="18288" marB="18288" anchor="ctr">
                    <a:noFill/>
                  </a:tcPr>
                </a:tc>
                <a:tc>
                  <a:txBody>
                    <a:bodyPr wrap="square"/>
                    <a:lstStyle/>
                    <a:p>
                      <a:pPr algn="ctr">
                        <a:spcBef>
                          <a:spcPts val="0"/>
                        </a:spcBef>
                        <a:spcAft>
                          <a:spcPts val="0"/>
                        </a:spcAft>
                      </a:pPr>
                      <a:r>
                        <a:rPr sz="1000" b="0" i="0">
                          <a:solidFill>
                            <a:srgbClr val="6B6F76"/>
                          </a:solidFill>
                          <a:latin typeface="Calibri"/>
                        </a:rPr>
                        <a:t>—</a:t>
                      </a:r>
                    </a:p>
                  </a:txBody>
                  <a:tcPr marL="82296" marR="82296" marT="18288" marB="18288" anchor="ctr">
                    <a:noFill/>
                  </a:tcPr>
                </a:tc>
                <a:tc>
                  <a:txBody>
                    <a:bodyPr wrap="square"/>
                    <a:lstStyle/>
                    <a:p>
                      <a:pPr algn="ctr">
                        <a:spcBef>
                          <a:spcPts val="0"/>
                        </a:spcBef>
                        <a:spcAft>
                          <a:spcPts val="0"/>
                        </a:spcAft>
                      </a:pPr>
                      <a:r>
                        <a:rPr sz="1000" b="0" i="0">
                          <a:solidFill>
                            <a:srgbClr val="6B6F76"/>
                          </a:solidFill>
                          <a:latin typeface="Calibri"/>
                        </a:rPr>
                        <a:t>none</a:t>
                      </a:r>
                    </a:p>
                  </a:txBody>
                  <a:tcPr marL="82296" marR="82296" marT="18288" marB="18288" anchor="ctr">
                    <a:noFill/>
                  </a:tcPr>
                </a:tc>
              </a:tr>
              <a:tr h="329184">
                <a:tc>
                  <a:txBody>
                    <a:bodyPr wrap="square"/>
                    <a:lstStyle/>
                    <a:p>
                      <a:pPr algn="l">
                        <a:spcBef>
                          <a:spcPts val="0"/>
                        </a:spcBef>
                        <a:spcAft>
                          <a:spcPts val="0"/>
                        </a:spcAft>
                      </a:pPr>
                      <a:r>
                        <a:rPr sz="1050" b="1" i="0">
                          <a:solidFill>
                            <a:srgbClr val="14181D"/>
                          </a:solidFill>
                          <a:latin typeface="Calibri"/>
                        </a:rPr>
                        <a:t>TF-IDF + LinearSVC</a:t>
                      </a:r>
                    </a:p>
                  </a:txBody>
                  <a:tcPr marL="82296" marR="82296" marT="18288" marB="18288" anchor="ctr">
                    <a:noFill/>
                  </a:tcPr>
                </a:tc>
                <a:tc>
                  <a:txBody>
                    <a:bodyPr wrap="square"/>
                    <a:lstStyle/>
                    <a:p>
                      <a:pPr algn="ctr">
                        <a:spcBef>
                          <a:spcPts val="0"/>
                        </a:spcBef>
                        <a:spcAft>
                          <a:spcPts val="0"/>
                        </a:spcAft>
                      </a:pPr>
                      <a:r>
                        <a:rPr sz="1000" b="0" i="0">
                          <a:solidFill>
                            <a:srgbClr val="7A8894"/>
                          </a:solidFill>
                          <a:latin typeface="Calibri"/>
                        </a:rPr>
                        <a:t>94.50%</a:t>
                      </a:r>
                    </a:p>
                  </a:txBody>
                  <a:tcPr marL="82296" marR="82296" marT="18288" marB="18288" anchor="ctr">
                    <a:noFill/>
                  </a:tcPr>
                </a:tc>
                <a:tc>
                  <a:txBody>
                    <a:bodyPr wrap="square"/>
                    <a:lstStyle/>
                    <a:p>
                      <a:pPr algn="ctr">
                        <a:spcBef>
                          <a:spcPts val="0"/>
                        </a:spcBef>
                        <a:spcAft>
                          <a:spcPts val="0"/>
                        </a:spcAft>
                      </a:pPr>
                      <a:r>
                        <a:rPr sz="1000" b="0" i="0">
                          <a:solidFill>
                            <a:srgbClr val="7A8894"/>
                          </a:solidFill>
                          <a:latin typeface="Calibri"/>
                        </a:rPr>
                        <a:t>94.31%</a:t>
                      </a:r>
                    </a:p>
                  </a:txBody>
                  <a:tcPr marL="82296" marR="82296" marT="18288" marB="18288" anchor="ctr">
                    <a:noFill/>
                  </a:tcPr>
                </a:tc>
                <a:tc>
                  <a:txBody>
                    <a:bodyPr wrap="square"/>
                    <a:lstStyle/>
                    <a:p>
                      <a:pPr algn="ctr">
                        <a:spcBef>
                          <a:spcPts val="0"/>
                        </a:spcBef>
                        <a:spcAft>
                          <a:spcPts val="0"/>
                        </a:spcAft>
                      </a:pPr>
                      <a:r>
                        <a:rPr sz="1000" b="0" i="0">
                          <a:solidFill>
                            <a:srgbClr val="6B6F76"/>
                          </a:solidFill>
                          <a:latin typeface="Calibri"/>
                        </a:rPr>
                        <a:t>uncalibrated</a:t>
                      </a:r>
                    </a:p>
                  </a:txBody>
                  <a:tcPr marL="82296" marR="82296" marT="18288" marB="18288" anchor="ctr">
                    <a:noFill/>
                  </a:tcPr>
                </a:tc>
                <a:tc>
                  <a:txBody>
                    <a:bodyPr wrap="square"/>
                    <a:lstStyle/>
                    <a:p>
                      <a:pPr algn="ctr">
                        <a:spcBef>
                          <a:spcPts val="0"/>
                        </a:spcBef>
                        <a:spcAft>
                          <a:spcPts val="0"/>
                        </a:spcAft>
                      </a:pPr>
                      <a:r>
                        <a:rPr sz="1000" b="0" i="0">
                          <a:solidFill>
                            <a:srgbClr val="6B6F76"/>
                          </a:solidFill>
                          <a:latin typeface="Calibri"/>
                        </a:rPr>
                        <a:t>&lt;0.01 s</a:t>
                      </a:r>
                    </a:p>
                  </a:txBody>
                  <a:tcPr marL="82296" marR="82296" marT="18288" marB="18288" anchor="ctr">
                    <a:noFill/>
                  </a:tcPr>
                </a:tc>
                <a:tc>
                  <a:txBody>
                    <a:bodyPr wrap="square"/>
                    <a:lstStyle/>
                    <a:p>
                      <a:pPr algn="ctr">
                        <a:spcBef>
                          <a:spcPts val="0"/>
                        </a:spcBef>
                        <a:spcAft>
                          <a:spcPts val="0"/>
                        </a:spcAft>
                      </a:pPr>
                      <a:r>
                        <a:rPr sz="1000" b="0" i="0">
                          <a:solidFill>
                            <a:srgbClr val="6B6F76"/>
                          </a:solidFill>
                          <a:latin typeface="Calibri"/>
                        </a:rPr>
                        <a:t>—</a:t>
                      </a:r>
                    </a:p>
                  </a:txBody>
                  <a:tcPr marL="82296" marR="82296" marT="18288" marB="18288" anchor="ctr">
                    <a:noFill/>
                  </a:tcPr>
                </a:tc>
                <a:tc>
                  <a:txBody>
                    <a:bodyPr wrap="square"/>
                    <a:lstStyle/>
                    <a:p>
                      <a:pPr algn="ctr">
                        <a:spcBef>
                          <a:spcPts val="0"/>
                        </a:spcBef>
                        <a:spcAft>
                          <a:spcPts val="0"/>
                        </a:spcAft>
                      </a:pPr>
                      <a:r>
                        <a:rPr sz="1000" b="0" i="0">
                          <a:solidFill>
                            <a:srgbClr val="6B6F76"/>
                          </a:solidFill>
                          <a:latin typeface="Calibri"/>
                        </a:rPr>
                        <a:t>2.8 s fit</a:t>
                      </a:r>
                    </a:p>
                  </a:txBody>
                  <a:tcPr marL="82296" marR="82296" marT="18288" marB="18288" anchor="ctr">
                    <a:noFill/>
                  </a:tcPr>
                </a:tc>
              </a:tr>
              <a:tr h="329184">
                <a:tc>
                  <a:txBody>
                    <a:bodyPr wrap="square"/>
                    <a:lstStyle/>
                    <a:p>
                      <a:pPr algn="l">
                        <a:spcBef>
                          <a:spcPts val="0"/>
                        </a:spcBef>
                        <a:spcAft>
                          <a:spcPts val="0"/>
                        </a:spcAft>
                      </a:pPr>
                      <a:r>
                        <a:rPr sz="1050" b="1" i="0">
                          <a:solidFill>
                            <a:srgbClr val="14181D"/>
                          </a:solidFill>
                          <a:latin typeface="Calibri"/>
                        </a:rPr>
                        <a:t>Cascade — retrieval + linear</a:t>
                      </a:r>
                    </a:p>
                  </a:txBody>
                  <a:tcPr marL="82296" marR="82296" marT="18288" marB="18288" anchor="ctr">
                    <a:solidFill>
                      <a:srgbClr val="DDECE9"/>
                    </a:solidFill>
                  </a:tcPr>
                </a:tc>
                <a:tc>
                  <a:txBody>
                    <a:bodyPr wrap="square"/>
                    <a:lstStyle/>
                    <a:p>
                      <a:pPr algn="ctr">
                        <a:spcBef>
                          <a:spcPts val="0"/>
                        </a:spcBef>
                        <a:spcAft>
                          <a:spcPts val="0"/>
                        </a:spcAft>
                      </a:pPr>
                      <a:r>
                        <a:rPr sz="1000" b="1" i="0">
                          <a:solidFill>
                            <a:srgbClr val="0B6E63"/>
                          </a:solidFill>
                          <a:latin typeface="Calibri"/>
                        </a:rPr>
                        <a:t>94.60%</a:t>
                      </a:r>
                    </a:p>
                  </a:txBody>
                  <a:tcPr marL="82296" marR="82296" marT="18288" marB="18288" anchor="ctr">
                    <a:solidFill>
                      <a:srgbClr val="DDECE9"/>
                    </a:solidFill>
                  </a:tcPr>
                </a:tc>
                <a:tc>
                  <a:txBody>
                    <a:bodyPr wrap="square"/>
                    <a:lstStyle/>
                    <a:p>
                      <a:pPr algn="ctr">
                        <a:spcBef>
                          <a:spcPts val="0"/>
                        </a:spcBef>
                        <a:spcAft>
                          <a:spcPts val="0"/>
                        </a:spcAft>
                      </a:pPr>
                      <a:r>
                        <a:rPr sz="1000" b="0" i="0">
                          <a:solidFill>
                            <a:srgbClr val="0B6E63"/>
                          </a:solidFill>
                          <a:latin typeface="Calibri"/>
                        </a:rPr>
                        <a:t>94.43%</a:t>
                      </a:r>
                    </a:p>
                  </a:txBody>
                  <a:tcPr marL="82296" marR="82296" marT="18288" marB="18288" anchor="ctr">
                    <a:solidFill>
                      <a:srgbClr val="DDECE9"/>
                    </a:solidFill>
                  </a:tcPr>
                </a:tc>
                <a:tc>
                  <a:txBody>
                    <a:bodyPr wrap="square"/>
                    <a:lstStyle/>
                    <a:p>
                      <a:pPr algn="ctr">
                        <a:spcBef>
                          <a:spcPts val="0"/>
                        </a:spcBef>
                        <a:spcAft>
                          <a:spcPts val="0"/>
                        </a:spcAft>
                      </a:pPr>
                      <a:r>
                        <a:rPr sz="1000" b="0" i="0">
                          <a:solidFill>
                            <a:srgbClr val="6B6F76"/>
                          </a:solidFill>
                          <a:latin typeface="Calibri"/>
                        </a:rPr>
                        <a:t>0.0170</a:t>
                      </a:r>
                    </a:p>
                  </a:txBody>
                  <a:tcPr marL="82296" marR="82296" marT="18288" marB="18288" anchor="ctr">
                    <a:solidFill>
                      <a:srgbClr val="DDECE9"/>
                    </a:solidFill>
                  </a:tcPr>
                </a:tc>
                <a:tc>
                  <a:txBody>
                    <a:bodyPr wrap="square"/>
                    <a:lstStyle/>
                    <a:p>
                      <a:pPr algn="ctr">
                        <a:spcBef>
                          <a:spcPts val="0"/>
                        </a:spcBef>
                        <a:spcAft>
                          <a:spcPts val="0"/>
                        </a:spcAft>
                      </a:pPr>
                      <a:r>
                        <a:rPr sz="1000" b="0" i="0">
                          <a:solidFill>
                            <a:srgbClr val="6B6F76"/>
                          </a:solidFill>
                          <a:latin typeface="Calibri"/>
                        </a:rPr>
                        <a:t>33.3 ms</a:t>
                      </a:r>
                    </a:p>
                  </a:txBody>
                  <a:tcPr marL="82296" marR="82296" marT="18288" marB="18288" anchor="ctr">
                    <a:solidFill>
                      <a:srgbClr val="DDECE9"/>
                    </a:solidFill>
                  </a:tcPr>
                </a:tc>
                <a:tc>
                  <a:txBody>
                    <a:bodyPr wrap="square"/>
                    <a:lstStyle/>
                    <a:p>
                      <a:pPr algn="ctr">
                        <a:spcBef>
                          <a:spcPts val="0"/>
                        </a:spcBef>
                        <a:spcAft>
                          <a:spcPts val="0"/>
                        </a:spcAft>
                      </a:pPr>
                      <a:r>
                        <a:rPr sz="1000" b="0" i="0">
                          <a:solidFill>
                            <a:srgbClr val="6B6F76"/>
                          </a:solidFill>
                          <a:latin typeface="Calibri"/>
                        </a:rPr>
                        <a:t>1.6 MB</a:t>
                      </a:r>
                    </a:p>
                  </a:txBody>
                  <a:tcPr marL="82296" marR="82296" marT="18288" marB="18288" anchor="ctr">
                    <a:solidFill>
                      <a:srgbClr val="DDECE9"/>
                    </a:solidFill>
                  </a:tcPr>
                </a:tc>
                <a:tc>
                  <a:txBody>
                    <a:bodyPr wrap="square"/>
                    <a:lstStyle/>
                    <a:p>
                      <a:pPr algn="ctr">
                        <a:spcBef>
                          <a:spcPts val="0"/>
                        </a:spcBef>
                        <a:spcAft>
                          <a:spcPts val="0"/>
                        </a:spcAft>
                      </a:pPr>
                      <a:r>
                        <a:rPr sz="1000" b="0" i="0">
                          <a:solidFill>
                            <a:srgbClr val="6B6F76"/>
                          </a:solidFill>
                          <a:latin typeface="Calibri"/>
                        </a:rPr>
                        <a:t>not timed</a:t>
                      </a:r>
                    </a:p>
                  </a:txBody>
                  <a:tcPr marL="82296" marR="82296" marT="18288" marB="18288" anchor="ctr">
                    <a:solidFill>
                      <a:srgbClr val="DDECE9"/>
                    </a:solidFill>
                  </a:tcPr>
                </a:tc>
              </a:tr>
              <a:tr h="329184">
                <a:tc>
                  <a:txBody>
                    <a:bodyPr wrap="square"/>
                    <a:lstStyle/>
                    <a:p>
                      <a:pPr algn="l">
                        <a:spcBef>
                          <a:spcPts val="0"/>
                        </a:spcBef>
                        <a:spcAft>
                          <a:spcPts val="0"/>
                        </a:spcAft>
                      </a:pPr>
                      <a:r>
                        <a:rPr sz="1050" b="1" i="0">
                          <a:solidFill>
                            <a:srgbClr val="14181D"/>
                          </a:solidFill>
                          <a:latin typeface="Calibri"/>
                        </a:rPr>
                        <a:t>DistilBERT fine-tuned</a:t>
                      </a:r>
                    </a:p>
                  </a:txBody>
                  <a:tcPr marL="82296" marR="82296" marT="18288" marB="18288" anchor="ctr">
                    <a:noFill/>
                  </a:tcPr>
                </a:tc>
                <a:tc>
                  <a:txBody>
                    <a:bodyPr wrap="square"/>
                    <a:lstStyle/>
                    <a:p>
                      <a:pPr algn="ctr">
                        <a:spcBef>
                          <a:spcPts val="0"/>
                        </a:spcBef>
                        <a:spcAft>
                          <a:spcPts val="0"/>
                        </a:spcAft>
                      </a:pPr>
                      <a:r>
                        <a:rPr sz="1000" b="0" i="0">
                          <a:solidFill>
                            <a:srgbClr val="B04A1F"/>
                          </a:solidFill>
                          <a:latin typeface="Calibri"/>
                        </a:rPr>
                        <a:t>94.91%</a:t>
                      </a:r>
                    </a:p>
                  </a:txBody>
                  <a:tcPr marL="82296" marR="82296" marT="18288" marB="18288" anchor="ctr">
                    <a:noFill/>
                  </a:tcPr>
                </a:tc>
                <a:tc>
                  <a:txBody>
                    <a:bodyPr wrap="square"/>
                    <a:lstStyle/>
                    <a:p>
                      <a:pPr algn="ctr">
                        <a:spcBef>
                          <a:spcPts val="0"/>
                        </a:spcBef>
                        <a:spcAft>
                          <a:spcPts val="0"/>
                        </a:spcAft>
                      </a:pPr>
                      <a:r>
                        <a:rPr sz="1000" b="0" i="0">
                          <a:solidFill>
                            <a:srgbClr val="B04A1F"/>
                          </a:solidFill>
                          <a:latin typeface="Calibri"/>
                        </a:rPr>
                        <a:t>94.07%</a:t>
                      </a:r>
                    </a:p>
                  </a:txBody>
                  <a:tcPr marL="82296" marR="82296" marT="18288" marB="18288" anchor="ctr">
                    <a:noFill/>
                  </a:tcPr>
                </a:tc>
                <a:tc>
                  <a:txBody>
                    <a:bodyPr wrap="square"/>
                    <a:lstStyle/>
                    <a:p>
                      <a:pPr algn="ctr">
                        <a:spcBef>
                          <a:spcPts val="0"/>
                        </a:spcBef>
                        <a:spcAft>
                          <a:spcPts val="0"/>
                        </a:spcAft>
                      </a:pPr>
                      <a:r>
                        <a:rPr sz="1000" b="0" i="0">
                          <a:solidFill>
                            <a:srgbClr val="6B6F76"/>
                          </a:solidFill>
                          <a:latin typeface="Calibri"/>
                        </a:rPr>
                        <a:t>0.0252</a:t>
                      </a:r>
                    </a:p>
                  </a:txBody>
                  <a:tcPr marL="82296" marR="82296" marT="18288" marB="18288" anchor="ctr">
                    <a:noFill/>
                  </a:tcPr>
                </a:tc>
                <a:tc>
                  <a:txBody>
                    <a:bodyPr wrap="square"/>
                    <a:lstStyle/>
                    <a:p>
                      <a:pPr algn="ctr">
                        <a:spcBef>
                          <a:spcPts val="0"/>
                        </a:spcBef>
                        <a:spcAft>
                          <a:spcPts val="0"/>
                        </a:spcAft>
                      </a:pPr>
                      <a:r>
                        <a:rPr sz="1000" b="0" i="0">
                          <a:solidFill>
                            <a:srgbClr val="6B6F76"/>
                          </a:solidFill>
                          <a:latin typeface="Calibri"/>
                        </a:rPr>
                        <a:t>105.5 ms</a:t>
                      </a:r>
                    </a:p>
                  </a:txBody>
                  <a:tcPr marL="82296" marR="82296" marT="18288" marB="18288" anchor="ctr">
                    <a:noFill/>
                  </a:tcPr>
                </a:tc>
                <a:tc>
                  <a:txBody>
                    <a:bodyPr wrap="square"/>
                    <a:lstStyle/>
                    <a:p>
                      <a:pPr algn="ctr">
                        <a:spcBef>
                          <a:spcPts val="0"/>
                        </a:spcBef>
                        <a:spcAft>
                          <a:spcPts val="0"/>
                        </a:spcAft>
                      </a:pPr>
                      <a:r>
                        <a:rPr sz="1000" b="0" i="0">
                          <a:solidFill>
                            <a:srgbClr val="6B6F76"/>
                          </a:solidFill>
                          <a:latin typeface="Calibri"/>
                        </a:rPr>
                        <a:t>268 MB</a:t>
                      </a:r>
                    </a:p>
                  </a:txBody>
                  <a:tcPr marL="82296" marR="82296" marT="18288" marB="18288" anchor="ctr">
                    <a:noFill/>
                  </a:tcPr>
                </a:tc>
                <a:tc>
                  <a:txBody>
                    <a:bodyPr wrap="square"/>
                    <a:lstStyle/>
                    <a:p>
                      <a:pPr algn="ctr">
                        <a:spcBef>
                          <a:spcPts val="0"/>
                        </a:spcBef>
                        <a:spcAft>
                          <a:spcPts val="0"/>
                        </a:spcAft>
                      </a:pPr>
                      <a:r>
                        <a:rPr sz="1000" b="0" i="0">
                          <a:solidFill>
                            <a:srgbClr val="6B6F76"/>
                          </a:solidFill>
                          <a:latin typeface="Calibri"/>
                        </a:rPr>
                        <a:t>47 min</a:t>
                      </a:r>
                    </a:p>
                  </a:txBody>
                  <a:tcPr marL="82296" marR="82296" marT="18288" marB="18288" anchor="ctr">
                    <a:noFill/>
                  </a:tcPr>
                </a:tc>
              </a:tr>
            </a:tbl>
          </a:graphicData>
        </a:graphic>
      </p:graphicFrame>
      <p:sp>
        <p:nvSpPr>
          <p:cNvPr id="10" name="TextBox 9"/>
          <p:cNvSpPr txBox="1"/>
          <p:nvPr/>
        </p:nvSpPr>
        <p:spPr>
          <a:xfrm>
            <a:off x="685800" y="3474720"/>
            <a:ext cx="5760720" cy="237744"/>
          </a:xfrm>
          <a:prstGeom prst="rect">
            <a:avLst/>
          </a:prstGeom>
          <a:noFill/>
        </p:spPr>
        <p:txBody>
          <a:bodyPr wrap="square" lIns="0" rIns="0" tIns="0" bIns="0" anchor="t">
            <a:spAutoFit/>
          </a:bodyPr>
          <a:lstStyle/>
          <a:p>
            <a:pPr algn="l">
              <a:spcBef>
                <a:spcPts val="0"/>
              </a:spcBef>
              <a:spcAft>
                <a:spcPts val="0"/>
              </a:spcAft>
            </a:pPr>
            <a:r>
              <a:rPr sz="950" b="1" i="0">
                <a:solidFill>
                  <a:srgbClr val="0B6E63"/>
                </a:solidFill>
                <a:latin typeface="Calibri"/>
              </a:rPr>
              <a:t>McNemar, ON THE 100 TICKETS WHERE THEY DISAGREE</a:t>
            </a:r>
          </a:p>
        </p:txBody>
      </p:sp>
      <p:graphicFrame>
        <p:nvGraphicFramePr>
          <p:cNvPr id="11" name="Table 10"/>
          <p:cNvGraphicFramePr>
            <a:graphicFrameLocks noGrp="1"/>
          </p:cNvGraphicFramePr>
          <p:nvPr/>
        </p:nvGraphicFramePr>
        <p:xfrm>
          <a:off x="685800" y="3767328"/>
          <a:ext cx="5760720" cy="1225296"/>
        </p:xfrm>
        <a:graphic>
          <a:graphicData uri="http://schemas.openxmlformats.org/drawingml/2006/table">
            <a:tbl>
              <a:tblPr>
                <a:tableStyleId>{5C22544A-7EE6-4342-B048-85BDC9FD1C3A}</a:tableStyleId>
              </a:tblPr>
              <a:tblGrid>
                <a:gridCol w="1508760"/>
                <a:gridCol w="1508760"/>
                <a:gridCol w="1600200"/>
                <a:gridCol w="1143000"/>
              </a:tblGrid>
              <a:tr h="292608">
                <a:tc>
                  <a:txBody>
                    <a:bodyPr wrap="square"/>
                    <a:lstStyle/>
                    <a:p>
                      <a:pPr algn="ctr">
                        <a:spcBef>
                          <a:spcPts val="0"/>
                        </a:spcBef>
                        <a:spcAft>
                          <a:spcPts val="0"/>
                        </a:spcAft>
                      </a:pPr>
                      <a:r>
                        <a:rPr sz="850" b="1" i="0">
                          <a:solidFill>
                            <a:srgbClr val="6B6F76"/>
                          </a:solidFill>
                          <a:latin typeface="Calibri"/>
                        </a:rPr>
                        <a:t/>
                      </a:r>
                    </a:p>
                  </a:txBody>
                  <a:tcPr marL="82296" marR="82296" marT="18288" marB="18288" anchor="ctr">
                    <a:noFill/>
                  </a:tcPr>
                </a:tc>
                <a:tc>
                  <a:txBody>
                    <a:bodyPr wrap="square"/>
                    <a:lstStyle/>
                    <a:p>
                      <a:pPr algn="ctr">
                        <a:spcBef>
                          <a:spcPts val="0"/>
                        </a:spcBef>
                        <a:spcAft>
                          <a:spcPts val="0"/>
                        </a:spcAft>
                      </a:pPr>
                      <a:r>
                        <a:rPr sz="850" b="1" i="0">
                          <a:solidFill>
                            <a:srgbClr val="6B6F76"/>
                          </a:solidFill>
                          <a:latin typeface="Calibri"/>
                        </a:rPr>
                        <a:t>Cascade right</a:t>
                      </a:r>
                    </a:p>
                  </a:txBody>
                  <a:tcPr marL="82296" marR="82296" marT="18288" marB="18288" anchor="ctr">
                    <a:noFill/>
                  </a:tcPr>
                </a:tc>
                <a:tc>
                  <a:txBody>
                    <a:bodyPr wrap="square"/>
                    <a:lstStyle/>
                    <a:p>
                      <a:pPr algn="ctr">
                        <a:spcBef>
                          <a:spcPts val="0"/>
                        </a:spcBef>
                        <a:spcAft>
                          <a:spcPts val="0"/>
                        </a:spcAft>
                      </a:pPr>
                      <a:r>
                        <a:rPr sz="850" b="1" i="0">
                          <a:solidFill>
                            <a:srgbClr val="6B6F76"/>
                          </a:solidFill>
                          <a:latin typeface="Calibri"/>
                        </a:rPr>
                        <a:t>DistilBERT right</a:t>
                      </a:r>
                    </a:p>
                  </a:txBody>
                  <a:tcPr marL="82296" marR="82296" marT="18288" marB="18288" anchor="ctr">
                    <a:noFill/>
                  </a:tcPr>
                </a:tc>
                <a:tc>
                  <a:txBody>
                    <a:bodyPr wrap="square"/>
                    <a:lstStyle/>
                    <a:p>
                      <a:pPr algn="ctr">
                        <a:spcBef>
                          <a:spcPts val="0"/>
                        </a:spcBef>
                        <a:spcAft>
                          <a:spcPts val="0"/>
                        </a:spcAft>
                      </a:pPr>
                      <a:r>
                        <a:rPr sz="850" b="1" i="0">
                          <a:solidFill>
                            <a:srgbClr val="6B6F76"/>
                          </a:solidFill>
                          <a:latin typeface="Calibri"/>
                        </a:rPr>
                        <a:t>Total</a:t>
                      </a:r>
                    </a:p>
                  </a:txBody>
                  <a:tcPr marL="82296" marR="82296" marT="18288" marB="18288" anchor="ctr">
                    <a:noFill/>
                  </a:tcPr>
                </a:tc>
              </a:tr>
              <a:tr h="310896">
                <a:tc>
                  <a:txBody>
                    <a:bodyPr wrap="square"/>
                    <a:lstStyle/>
                    <a:p>
                      <a:pPr algn="ctr">
                        <a:spcBef>
                          <a:spcPts val="0"/>
                        </a:spcBef>
                        <a:spcAft>
                          <a:spcPts val="0"/>
                        </a:spcAft>
                      </a:pPr>
                      <a:r>
                        <a:rPr sz="1050" b="0" i="0">
                          <a:solidFill>
                            <a:srgbClr val="14181D"/>
                          </a:solidFill>
                          <a:latin typeface="Calibri"/>
                        </a:rPr>
                        <a:t>Cascade right</a:t>
                      </a:r>
                    </a:p>
                  </a:txBody>
                  <a:tcPr marL="82296" marR="82296" marT="18288" marB="18288" anchor="ctr">
                    <a:noFill/>
                  </a:tcPr>
                </a:tc>
                <a:tc>
                  <a:txBody>
                    <a:bodyPr wrap="square"/>
                    <a:lstStyle/>
                    <a:p>
                      <a:pPr algn="ctr">
                        <a:spcBef>
                          <a:spcPts val="0"/>
                        </a:spcBef>
                        <a:spcAft>
                          <a:spcPts val="0"/>
                        </a:spcAft>
                      </a:pPr>
                      <a:r>
                        <a:rPr sz="1050" b="0" i="0">
                          <a:solidFill>
                            <a:srgbClr val="14181D"/>
                          </a:solidFill>
                          <a:latin typeface="Calibri"/>
                        </a:rPr>
                        <a:t>1,813</a:t>
                      </a:r>
                    </a:p>
                  </a:txBody>
                  <a:tcPr marL="82296" marR="82296" marT="18288" marB="18288" anchor="ctr">
                    <a:noFill/>
                  </a:tcPr>
                </a:tc>
                <a:tc>
                  <a:txBody>
                    <a:bodyPr wrap="square"/>
                    <a:lstStyle/>
                    <a:p>
                      <a:pPr algn="ctr">
                        <a:spcBef>
                          <a:spcPts val="0"/>
                        </a:spcBef>
                        <a:spcAft>
                          <a:spcPts val="0"/>
                        </a:spcAft>
                      </a:pPr>
                      <a:r>
                        <a:rPr sz="1050" b="1" i="0">
                          <a:solidFill>
                            <a:srgbClr val="B04A1F"/>
                          </a:solidFill>
                          <a:latin typeface="Calibri"/>
                        </a:rPr>
                        <a:t>50</a:t>
                      </a:r>
                    </a:p>
                  </a:txBody>
                  <a:tcPr marL="82296" marR="82296" marT="18288" marB="18288" anchor="ctr">
                    <a:solidFill>
                      <a:srgbClr val="F7E6DC"/>
                    </a:solidFill>
                  </a:tcPr>
                </a:tc>
                <a:tc>
                  <a:txBody>
                    <a:bodyPr wrap="square"/>
                    <a:lstStyle/>
                    <a:p>
                      <a:pPr algn="ctr">
                        <a:spcBef>
                          <a:spcPts val="0"/>
                        </a:spcBef>
                        <a:spcAft>
                          <a:spcPts val="0"/>
                        </a:spcAft>
                      </a:pPr>
                      <a:r>
                        <a:rPr sz="1050" b="0" i="0">
                          <a:solidFill>
                            <a:srgbClr val="6B6F76"/>
                          </a:solidFill>
                          <a:latin typeface="Calibri"/>
                        </a:rPr>
                        <a:t>1,863</a:t>
                      </a:r>
                    </a:p>
                  </a:txBody>
                  <a:tcPr marL="82296" marR="82296" marT="18288" marB="18288" anchor="ctr">
                    <a:noFill/>
                  </a:tcPr>
                </a:tc>
              </a:tr>
              <a:tr h="310896">
                <a:tc>
                  <a:txBody>
                    <a:bodyPr wrap="square"/>
                    <a:lstStyle/>
                    <a:p>
                      <a:pPr algn="ctr">
                        <a:spcBef>
                          <a:spcPts val="0"/>
                        </a:spcBef>
                        <a:spcAft>
                          <a:spcPts val="0"/>
                        </a:spcAft>
                      </a:pPr>
                      <a:r>
                        <a:rPr sz="1050" b="0" i="0">
                          <a:solidFill>
                            <a:srgbClr val="14181D"/>
                          </a:solidFill>
                          <a:latin typeface="Calibri"/>
                        </a:rPr>
                        <a:t>DistilBERT right</a:t>
                      </a:r>
                    </a:p>
                  </a:txBody>
                  <a:tcPr marL="82296" marR="82296" marT="18288" marB="18288" anchor="ctr">
                    <a:noFill/>
                  </a:tcPr>
                </a:tc>
                <a:tc>
                  <a:txBody>
                    <a:bodyPr wrap="square"/>
                    <a:lstStyle/>
                    <a:p>
                      <a:pPr algn="ctr">
                        <a:spcBef>
                          <a:spcPts val="0"/>
                        </a:spcBef>
                        <a:spcAft>
                          <a:spcPts val="0"/>
                        </a:spcAft>
                      </a:pPr>
                      <a:r>
                        <a:rPr sz="1050" b="1" i="0">
                          <a:solidFill>
                            <a:srgbClr val="0B6E63"/>
                          </a:solidFill>
                          <a:latin typeface="Calibri"/>
                        </a:rPr>
                        <a:t>44</a:t>
                      </a:r>
                    </a:p>
                  </a:txBody>
                  <a:tcPr marL="82296" marR="82296" marT="18288" marB="18288" anchor="ctr">
                    <a:solidFill>
                      <a:srgbClr val="DDECE9"/>
                    </a:solidFill>
                  </a:tcPr>
                </a:tc>
                <a:tc>
                  <a:txBody>
                    <a:bodyPr wrap="square"/>
                    <a:lstStyle/>
                    <a:p>
                      <a:pPr algn="ctr">
                        <a:spcBef>
                          <a:spcPts val="0"/>
                        </a:spcBef>
                        <a:spcAft>
                          <a:spcPts val="0"/>
                        </a:spcAft>
                      </a:pPr>
                      <a:r>
                        <a:rPr sz="1050" b="0" i="0">
                          <a:solidFill>
                            <a:srgbClr val="14181D"/>
                          </a:solidFill>
                          <a:latin typeface="Calibri"/>
                        </a:rPr>
                        <a:t>56</a:t>
                      </a:r>
                    </a:p>
                  </a:txBody>
                  <a:tcPr marL="82296" marR="82296" marT="18288" marB="18288" anchor="ctr">
                    <a:noFill/>
                  </a:tcPr>
                </a:tc>
                <a:tc>
                  <a:txBody>
                    <a:bodyPr wrap="square"/>
                    <a:lstStyle/>
                    <a:p>
                      <a:pPr algn="ctr">
                        <a:spcBef>
                          <a:spcPts val="0"/>
                        </a:spcBef>
                        <a:spcAft>
                          <a:spcPts val="0"/>
                        </a:spcAft>
                      </a:pPr>
                      <a:r>
                        <a:rPr sz="1050" b="0" i="0">
                          <a:solidFill>
                            <a:srgbClr val="6B6F76"/>
                          </a:solidFill>
                          <a:latin typeface="Calibri"/>
                        </a:rPr>
                        <a:t>100</a:t>
                      </a:r>
                    </a:p>
                  </a:txBody>
                  <a:tcPr marL="82296" marR="82296" marT="18288" marB="18288" anchor="ctr">
                    <a:noFill/>
                  </a:tcPr>
                </a:tc>
              </a:tr>
              <a:tr h="310896">
                <a:tc>
                  <a:txBody>
                    <a:bodyPr wrap="square"/>
                    <a:lstStyle/>
                    <a:p>
                      <a:pPr algn="ctr">
                        <a:spcBef>
                          <a:spcPts val="0"/>
                        </a:spcBef>
                        <a:spcAft>
                          <a:spcPts val="0"/>
                        </a:spcAft>
                      </a:pPr>
                      <a:r>
                        <a:rPr sz="1050" b="0" i="0">
                          <a:solidFill>
                            <a:srgbClr val="6B6F76"/>
                          </a:solidFill>
                          <a:latin typeface="Calibri"/>
                        </a:rPr>
                        <a:t>Total</a:t>
                      </a:r>
                    </a:p>
                  </a:txBody>
                  <a:tcPr marL="82296" marR="82296" marT="18288" marB="18288" anchor="ctr">
                    <a:noFill/>
                  </a:tcPr>
                </a:tc>
                <a:tc>
                  <a:txBody>
                    <a:bodyPr wrap="square"/>
                    <a:lstStyle/>
                    <a:p>
                      <a:pPr algn="ctr">
                        <a:spcBef>
                          <a:spcPts val="0"/>
                        </a:spcBef>
                        <a:spcAft>
                          <a:spcPts val="0"/>
                        </a:spcAft>
                      </a:pPr>
                      <a:r>
                        <a:rPr sz="1050" b="0" i="0">
                          <a:solidFill>
                            <a:srgbClr val="6B6F76"/>
                          </a:solidFill>
                          <a:latin typeface="Calibri"/>
                        </a:rPr>
                        <a:t>1,857</a:t>
                      </a:r>
                    </a:p>
                  </a:txBody>
                  <a:tcPr marL="82296" marR="82296" marT="18288" marB="18288" anchor="ctr">
                    <a:noFill/>
                  </a:tcPr>
                </a:tc>
                <a:tc>
                  <a:txBody>
                    <a:bodyPr wrap="square"/>
                    <a:lstStyle/>
                    <a:p>
                      <a:pPr algn="ctr">
                        <a:spcBef>
                          <a:spcPts val="0"/>
                        </a:spcBef>
                        <a:spcAft>
                          <a:spcPts val="0"/>
                        </a:spcAft>
                      </a:pPr>
                      <a:r>
                        <a:rPr sz="1050" b="0" i="0">
                          <a:solidFill>
                            <a:srgbClr val="6B6F76"/>
                          </a:solidFill>
                          <a:latin typeface="Calibri"/>
                        </a:rPr>
                        <a:t>106</a:t>
                      </a:r>
                    </a:p>
                  </a:txBody>
                  <a:tcPr marL="82296" marR="82296" marT="18288" marB="18288" anchor="ctr">
                    <a:noFill/>
                  </a:tcPr>
                </a:tc>
                <a:tc>
                  <a:txBody>
                    <a:bodyPr wrap="square"/>
                    <a:lstStyle/>
                    <a:p>
                      <a:pPr algn="ctr">
                        <a:spcBef>
                          <a:spcPts val="0"/>
                        </a:spcBef>
                        <a:spcAft>
                          <a:spcPts val="0"/>
                        </a:spcAft>
                      </a:pPr>
                      <a:r>
                        <a:rPr sz="1050" b="0" i="0">
                          <a:solidFill>
                            <a:srgbClr val="6B6F76"/>
                          </a:solidFill>
                          <a:latin typeface="Calibri"/>
                        </a:rPr>
                        <a:t>1,963</a:t>
                      </a:r>
                    </a:p>
                  </a:txBody>
                  <a:tcPr marL="82296" marR="82296" marT="18288" marB="18288" anchor="ctr">
                    <a:noFill/>
                  </a:tcPr>
                </a:tc>
              </a:tr>
            </a:tbl>
          </a:graphicData>
        </a:graphic>
      </p:graphicFrame>
      <p:sp>
        <p:nvSpPr>
          <p:cNvPr id="12" name="TextBox 11"/>
          <p:cNvSpPr txBox="1"/>
          <p:nvPr/>
        </p:nvSpPr>
        <p:spPr>
          <a:xfrm>
            <a:off x="685800" y="5120640"/>
            <a:ext cx="5760720" cy="566928"/>
          </a:xfrm>
          <a:prstGeom prst="rect">
            <a:avLst/>
          </a:prstGeom>
          <a:noFill/>
        </p:spPr>
        <p:txBody>
          <a:bodyPr wrap="square" lIns="0" rIns="0" tIns="0" bIns="0" anchor="t">
            <a:spAutoFit/>
          </a:bodyPr>
          <a:lstStyle/>
          <a:p>
            <a:pPr algn="l">
              <a:lnSpc>
                <a:spcPct val="130000"/>
              </a:lnSpc>
              <a:spcBef>
                <a:spcPts val="0"/>
              </a:spcBef>
              <a:spcAft>
                <a:spcPts val="0"/>
              </a:spcAft>
            </a:pPr>
            <a:r>
              <a:rPr sz="1050" b="1" i="0">
                <a:solidFill>
                  <a:srgbClr val="14181D"/>
                </a:solidFill>
                <a:latin typeface="Calibri"/>
              </a:rPr>
              <a:t>DistilBERT wins 50 tickets and loses 44. </a:t>
            </a:r>
            <a:r>
              <a:rPr sz="1050" b="0" i="0">
                <a:solidFill>
                  <a:srgbClr val="6B6F76"/>
                </a:solidFill>
                <a:latin typeface="Calibri"/>
              </a:rPr>
              <a:t>χ² = 0.266, p = 0.6061, exact paired test. That is the entire basis for preferring a transformer.</a:t>
            </a:r>
          </a:p>
        </p:txBody>
      </p:sp>
      <p:sp>
        <p:nvSpPr>
          <p:cNvPr id="13" name="TextBox 12"/>
          <p:cNvSpPr txBox="1"/>
          <p:nvPr/>
        </p:nvSpPr>
        <p:spPr>
          <a:xfrm>
            <a:off x="685800" y="5980176"/>
            <a:ext cx="5760720" cy="384048"/>
          </a:xfrm>
          <a:prstGeom prst="rect">
            <a:avLst/>
          </a:prstGeom>
          <a:noFill/>
        </p:spPr>
        <p:txBody>
          <a:bodyPr wrap="square" lIns="0" rIns="0" tIns="0" bIns="0" anchor="t">
            <a:spAutoFit/>
          </a:bodyPr>
          <a:lstStyle/>
          <a:p>
            <a:pPr algn="l">
              <a:lnSpc>
                <a:spcPct val="125000"/>
              </a:lnSpc>
              <a:spcBef>
                <a:spcPts val="0"/>
              </a:spcBef>
              <a:spcAft>
                <a:spcPts val="0"/>
              </a:spcAft>
            </a:pPr>
            <a:r>
              <a:rPr sz="950" b="1" i="0">
                <a:solidFill>
                  <a:srgbClr val="14181D"/>
                </a:solidFill>
                <a:latin typeface="Calibri"/>
              </a:rPr>
              <a:t>And on the rare classes the two arms tie exactly: </a:t>
            </a:r>
            <a:r>
              <a:rPr sz="950" b="0" i="0">
                <a:solidFill>
                  <a:srgbClr val="6B6F76"/>
                </a:solidFill>
                <a:latin typeface="Calibri"/>
              </a:rPr>
              <a:t>tail recall 90.38% for the cascade and 90.38% for the transformer. It is not better on the intents that are hard to predict -- on that slice it is the same model, for 3.2× the latency.</a:t>
            </a:r>
          </a:p>
        </p:txBody>
      </p:sp>
      <p:sp>
        <p:nvSpPr>
          <p:cNvPr id="14" name="Rounded Rectangle 13"/>
          <p:cNvSpPr/>
          <p:nvPr/>
        </p:nvSpPr>
        <p:spPr>
          <a:xfrm>
            <a:off x="6793992" y="3419856"/>
            <a:ext cx="4711903" cy="2889504"/>
          </a:xfrm>
          <a:prstGeom prst="roundRect">
            <a:avLst>
              <a:gd name="adj" fmla="val 5000"/>
            </a:avLst>
          </a:prstGeom>
          <a:solidFill>
            <a:srgbClr val="DDEC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5" name="TextBox 14"/>
          <p:cNvSpPr txBox="1"/>
          <p:nvPr/>
        </p:nvSpPr>
        <p:spPr>
          <a:xfrm>
            <a:off x="7068312" y="3602736"/>
            <a:ext cx="4163263" cy="237744"/>
          </a:xfrm>
          <a:prstGeom prst="rect">
            <a:avLst/>
          </a:prstGeom>
          <a:noFill/>
        </p:spPr>
        <p:txBody>
          <a:bodyPr wrap="square" lIns="0" rIns="0" tIns="0" bIns="0" anchor="t">
            <a:spAutoFit/>
          </a:bodyPr>
          <a:lstStyle/>
          <a:p>
            <a:pPr algn="l">
              <a:spcBef>
                <a:spcPts val="0"/>
              </a:spcBef>
              <a:spcAft>
                <a:spcPts val="0"/>
              </a:spcAft>
            </a:pPr>
            <a:r>
              <a:rPr sz="950" b="1" i="0">
                <a:solidFill>
                  <a:srgbClr val="0B6E63"/>
                </a:solidFill>
                <a:latin typeface="Calibri"/>
              </a:rPr>
              <a:t>SO WE SHIPPED THIS INSTEAD</a:t>
            </a:r>
          </a:p>
        </p:txBody>
      </p:sp>
      <p:sp>
        <p:nvSpPr>
          <p:cNvPr id="16" name="TextBox 15"/>
          <p:cNvSpPr txBox="1"/>
          <p:nvPr/>
        </p:nvSpPr>
        <p:spPr>
          <a:xfrm>
            <a:off x="7068312" y="3803904"/>
            <a:ext cx="2148840" cy="274320"/>
          </a:xfrm>
          <a:prstGeom prst="rect">
            <a:avLst/>
          </a:prstGeom>
          <a:noFill/>
        </p:spPr>
        <p:txBody>
          <a:bodyPr wrap="square" lIns="0" rIns="0" tIns="0" bIns="0" anchor="t">
            <a:spAutoFit/>
          </a:bodyPr>
          <a:lstStyle/>
          <a:p>
            <a:pPr algn="l">
              <a:spcBef>
                <a:spcPts val="0"/>
              </a:spcBef>
              <a:spcAft>
                <a:spcPts val="0"/>
              </a:spcAft>
            </a:pPr>
            <a:r>
              <a:rPr sz="1700" b="1" i="0">
                <a:solidFill>
                  <a:srgbClr val="14181D"/>
                </a:solidFill>
                <a:latin typeface="Georgia"/>
              </a:rPr>
              <a:t>98.24%</a:t>
            </a:r>
          </a:p>
        </p:txBody>
      </p:sp>
      <p:sp>
        <p:nvSpPr>
          <p:cNvPr id="17" name="TextBox 16"/>
          <p:cNvSpPr txBox="1"/>
          <p:nvPr/>
        </p:nvSpPr>
        <p:spPr>
          <a:xfrm>
            <a:off x="9281160" y="3858768"/>
            <a:ext cx="1950415" cy="365760"/>
          </a:xfrm>
          <a:prstGeom prst="rect">
            <a:avLst/>
          </a:prstGeom>
          <a:noFill/>
        </p:spPr>
        <p:txBody>
          <a:bodyPr wrap="square" lIns="0" rIns="0" tIns="0" bIns="0" anchor="t">
            <a:spAutoFit/>
          </a:bodyPr>
          <a:lstStyle/>
          <a:p>
            <a:pPr algn="l">
              <a:lnSpc>
                <a:spcPct val="120000"/>
              </a:lnSpc>
              <a:spcBef>
                <a:spcPts val="0"/>
              </a:spcBef>
              <a:spcAft>
                <a:spcPts val="0"/>
              </a:spcAft>
            </a:pPr>
            <a:r>
              <a:rPr sz="950" b="0" i="0">
                <a:solidFill>
                  <a:srgbClr val="6B6F76"/>
                </a:solidFill>
                <a:latin typeface="Calibri"/>
              </a:rPr>
              <a:t>accuracy on the tickets it auto-answers</a:t>
            </a:r>
          </a:p>
        </p:txBody>
      </p:sp>
      <p:sp>
        <p:nvSpPr>
          <p:cNvPr id="18" name="TextBox 17"/>
          <p:cNvSpPr txBox="1"/>
          <p:nvPr/>
        </p:nvSpPr>
        <p:spPr>
          <a:xfrm>
            <a:off x="7068312" y="4169664"/>
            <a:ext cx="2148840" cy="274320"/>
          </a:xfrm>
          <a:prstGeom prst="rect">
            <a:avLst/>
          </a:prstGeom>
          <a:noFill/>
        </p:spPr>
        <p:txBody>
          <a:bodyPr wrap="square" lIns="0" rIns="0" tIns="0" bIns="0" anchor="t">
            <a:spAutoFit/>
          </a:bodyPr>
          <a:lstStyle/>
          <a:p>
            <a:pPr algn="l">
              <a:spcBef>
                <a:spcPts val="0"/>
              </a:spcBef>
              <a:spcAft>
                <a:spcPts val="0"/>
              </a:spcAft>
            </a:pPr>
            <a:r>
              <a:rPr sz="1700" b="1" i="0">
                <a:solidFill>
                  <a:srgbClr val="14181D"/>
                </a:solidFill>
                <a:latin typeface="Georgia"/>
              </a:rPr>
              <a:t>96.84%</a:t>
            </a:r>
          </a:p>
        </p:txBody>
      </p:sp>
      <p:sp>
        <p:nvSpPr>
          <p:cNvPr id="19" name="TextBox 18"/>
          <p:cNvSpPr txBox="1"/>
          <p:nvPr/>
        </p:nvSpPr>
        <p:spPr>
          <a:xfrm>
            <a:off x="9281160" y="4224528"/>
            <a:ext cx="1950415" cy="365760"/>
          </a:xfrm>
          <a:prstGeom prst="rect">
            <a:avLst/>
          </a:prstGeom>
          <a:noFill/>
        </p:spPr>
        <p:txBody>
          <a:bodyPr wrap="square" lIns="0" rIns="0" tIns="0" bIns="0" anchor="t">
            <a:spAutoFit/>
          </a:bodyPr>
          <a:lstStyle/>
          <a:p>
            <a:pPr algn="l">
              <a:lnSpc>
                <a:spcPct val="120000"/>
              </a:lnSpc>
              <a:spcBef>
                <a:spcPts val="0"/>
              </a:spcBef>
              <a:spcAft>
                <a:spcPts val="0"/>
              </a:spcAft>
            </a:pPr>
            <a:r>
              <a:rPr sz="950" b="0" i="0">
                <a:solidFill>
                  <a:srgbClr val="6B6F76"/>
                </a:solidFill>
                <a:latin typeface="Calibri"/>
              </a:rPr>
              <a:t>accuracy where the two heads agree</a:t>
            </a:r>
          </a:p>
        </p:txBody>
      </p:sp>
      <p:sp>
        <p:nvSpPr>
          <p:cNvPr id="20" name="TextBox 19"/>
          <p:cNvSpPr txBox="1"/>
          <p:nvPr/>
        </p:nvSpPr>
        <p:spPr>
          <a:xfrm>
            <a:off x="7068312" y="4535424"/>
            <a:ext cx="2148840" cy="274320"/>
          </a:xfrm>
          <a:prstGeom prst="rect">
            <a:avLst/>
          </a:prstGeom>
          <a:noFill/>
        </p:spPr>
        <p:txBody>
          <a:bodyPr wrap="square" lIns="0" rIns="0" tIns="0" bIns="0" anchor="t">
            <a:spAutoFit/>
          </a:bodyPr>
          <a:lstStyle/>
          <a:p>
            <a:pPr algn="l">
              <a:spcBef>
                <a:spcPts val="0"/>
              </a:spcBef>
              <a:spcAft>
                <a:spcPts val="0"/>
              </a:spcAft>
            </a:pPr>
            <a:r>
              <a:rPr sz="1700" b="1" i="0">
                <a:solidFill>
                  <a:srgbClr val="14181D"/>
                </a:solidFill>
                <a:latin typeface="Georgia"/>
              </a:rPr>
              <a:t>90.32%</a:t>
            </a:r>
          </a:p>
        </p:txBody>
      </p:sp>
      <p:sp>
        <p:nvSpPr>
          <p:cNvPr id="21" name="TextBox 20"/>
          <p:cNvSpPr txBox="1"/>
          <p:nvPr/>
        </p:nvSpPr>
        <p:spPr>
          <a:xfrm>
            <a:off x="9281160" y="4590288"/>
            <a:ext cx="1950415" cy="365760"/>
          </a:xfrm>
          <a:prstGeom prst="rect">
            <a:avLst/>
          </a:prstGeom>
          <a:noFill/>
        </p:spPr>
        <p:txBody>
          <a:bodyPr wrap="square" lIns="0" rIns="0" tIns="0" bIns="0" anchor="t">
            <a:spAutoFit/>
          </a:bodyPr>
          <a:lstStyle/>
          <a:p>
            <a:pPr algn="l">
              <a:lnSpc>
                <a:spcPct val="120000"/>
              </a:lnSpc>
              <a:spcBef>
                <a:spcPts val="0"/>
              </a:spcBef>
              <a:spcAft>
                <a:spcPts val="0"/>
              </a:spcAft>
            </a:pPr>
            <a:r>
              <a:rPr sz="950" b="0" i="0">
                <a:solidFill>
                  <a:srgbClr val="6B6F76"/>
                </a:solidFill>
                <a:latin typeface="Calibri"/>
              </a:rPr>
              <a:t>coverage actually delivered at α = 0.10</a:t>
            </a:r>
          </a:p>
        </p:txBody>
      </p:sp>
      <p:sp>
        <p:nvSpPr>
          <p:cNvPr id="22" name="TextBox 21"/>
          <p:cNvSpPr txBox="1"/>
          <p:nvPr/>
        </p:nvSpPr>
        <p:spPr>
          <a:xfrm>
            <a:off x="7068312" y="4901184"/>
            <a:ext cx="2148840" cy="274320"/>
          </a:xfrm>
          <a:prstGeom prst="rect">
            <a:avLst/>
          </a:prstGeom>
          <a:noFill/>
        </p:spPr>
        <p:txBody>
          <a:bodyPr wrap="square" lIns="0" rIns="0" tIns="0" bIns="0" anchor="t">
            <a:spAutoFit/>
          </a:bodyPr>
          <a:lstStyle/>
          <a:p>
            <a:pPr algn="l">
              <a:spcBef>
                <a:spcPts val="0"/>
              </a:spcBef>
              <a:spcAft>
                <a:spcPts val="0"/>
              </a:spcAft>
            </a:pPr>
            <a:r>
              <a:rPr sz="1700" b="1" i="0">
                <a:solidFill>
                  <a:srgbClr val="14181D"/>
                </a:solidFill>
                <a:latin typeface="Georgia"/>
              </a:rPr>
              <a:t>100.00%</a:t>
            </a:r>
          </a:p>
        </p:txBody>
      </p:sp>
      <p:sp>
        <p:nvSpPr>
          <p:cNvPr id="23" name="TextBox 22"/>
          <p:cNvSpPr txBox="1"/>
          <p:nvPr/>
        </p:nvSpPr>
        <p:spPr>
          <a:xfrm>
            <a:off x="9281160" y="4956048"/>
            <a:ext cx="1950415" cy="365760"/>
          </a:xfrm>
          <a:prstGeom prst="rect">
            <a:avLst/>
          </a:prstGeom>
          <a:noFill/>
        </p:spPr>
        <p:txBody>
          <a:bodyPr wrap="square" lIns="0" rIns="0" tIns="0" bIns="0" anchor="t">
            <a:spAutoFit/>
          </a:bodyPr>
          <a:lstStyle/>
          <a:p>
            <a:pPr algn="l">
              <a:lnSpc>
                <a:spcPct val="120000"/>
              </a:lnSpc>
              <a:spcBef>
                <a:spcPts val="0"/>
              </a:spcBef>
              <a:spcAft>
                <a:spcPts val="0"/>
              </a:spcAft>
            </a:pPr>
            <a:r>
              <a:rPr sz="950" b="0" i="0">
                <a:solidFill>
                  <a:srgbClr val="6B6F76"/>
                </a:solidFill>
                <a:latin typeface="Calibri"/>
              </a:rPr>
              <a:t>accuracy on those accepted tickets</a:t>
            </a:r>
          </a:p>
        </p:txBody>
      </p:sp>
      <p:sp>
        <p:nvSpPr>
          <p:cNvPr id="24" name="Rectangle 23"/>
          <p:cNvSpPr/>
          <p:nvPr/>
        </p:nvSpPr>
        <p:spPr>
          <a:xfrm>
            <a:off x="7068312" y="5285232"/>
            <a:ext cx="4163263" cy="11430"/>
          </a:xfrm>
          <a:prstGeom prst="rect">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68312" y="5358384"/>
            <a:ext cx="4163263" cy="804672"/>
          </a:xfrm>
          <a:prstGeom prst="rect">
            <a:avLst/>
          </a:prstGeom>
          <a:noFill/>
        </p:spPr>
        <p:txBody>
          <a:bodyPr wrap="square" lIns="0" rIns="0" tIns="0" bIns="0" anchor="t">
            <a:spAutoFit/>
          </a:bodyPr>
          <a:lstStyle/>
          <a:p>
            <a:pPr algn="l">
              <a:lnSpc>
                <a:spcPct val="120000"/>
              </a:lnSpc>
              <a:spcBef>
                <a:spcPts val="0"/>
              </a:spcBef>
              <a:spcAft>
                <a:spcPts val="0"/>
              </a:spcAft>
            </a:pPr>
            <a:r>
              <a:rPr sz="900" b="1" i="0">
                <a:solidFill>
                  <a:srgbClr val="14181D"/>
                </a:solidFill>
                <a:latin typeface="Calibri"/>
              </a:rPr>
              <a:t>Expected outcome, restated honestly: </a:t>
            </a:r>
            <a:r>
              <a:rPr sz="900" b="0" i="0">
                <a:solidFill>
                  <a:srgbClr val="6B6F76"/>
                </a:solidFill>
                <a:latin typeface="Calibri"/>
              </a:rPr>
              <a:t>not "higher accuracy", but a system whose accuracy we can promise, on the subset it acts on, at a coverage rate we chose deliberately. The guarantee held at every α we tested. It cost 3.2× less latency and 168× less disk than the arm we rejected.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6858000"/>
          </a:xfrm>
          <a:prstGeom prst="roundRect">
            <a:avLst>
              <a:gd name="adj" fmla="val 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4" name="Rounded Rectangle 3"/>
          <p:cNvSpPr/>
          <p:nvPr/>
        </p:nvSpPr>
        <p:spPr>
          <a:xfrm>
            <a:off x="0" y="0"/>
            <a:ext cx="146304" cy="6858000"/>
          </a:xfrm>
          <a:prstGeom prst="roundRect">
            <a:avLst>
              <a:gd name="adj" fmla="val 0"/>
            </a:avLst>
          </a:prstGeom>
          <a:solidFill>
            <a:srgbClr val="0B6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5" name="TextBox 4"/>
          <p:cNvSpPr txBox="1"/>
          <p:nvPr/>
        </p:nvSpPr>
        <p:spPr>
          <a:xfrm>
            <a:off x="1005840" y="475488"/>
            <a:ext cx="10271455" cy="237744"/>
          </a:xfrm>
          <a:prstGeom prst="rect">
            <a:avLst/>
          </a:prstGeom>
          <a:noFill/>
        </p:spPr>
        <p:txBody>
          <a:bodyPr wrap="square" lIns="0" rIns="0" tIns="0" bIns="0" anchor="t">
            <a:spAutoFit/>
          </a:bodyPr>
          <a:lstStyle/>
          <a:p>
            <a:pPr algn="l">
              <a:spcBef>
                <a:spcPts val="0"/>
              </a:spcBef>
              <a:spcAft>
                <a:spcPts val="0"/>
              </a:spcAft>
            </a:pPr>
            <a:r>
              <a:rPr sz="1000" b="1" i="0">
                <a:solidFill>
                  <a:srgbClr val="DDECE9"/>
                </a:solidFill>
                <a:latin typeface="Calibri"/>
              </a:rPr>
              <a:t>FUTURE PLAN</a:t>
            </a:r>
          </a:p>
        </p:txBody>
      </p:sp>
      <p:sp>
        <p:nvSpPr>
          <p:cNvPr id="6" name="TextBox 5"/>
          <p:cNvSpPr txBox="1"/>
          <p:nvPr/>
        </p:nvSpPr>
        <p:spPr>
          <a:xfrm>
            <a:off x="1005840" y="731520"/>
            <a:ext cx="9722815" cy="548640"/>
          </a:xfrm>
          <a:prstGeom prst="rect">
            <a:avLst/>
          </a:prstGeom>
          <a:noFill/>
        </p:spPr>
        <p:txBody>
          <a:bodyPr wrap="square" lIns="0" rIns="0" tIns="0" bIns="0" anchor="t">
            <a:spAutoFit/>
          </a:bodyPr>
          <a:lstStyle/>
          <a:p>
            <a:pPr algn="l">
              <a:spcBef>
                <a:spcPts val="0"/>
              </a:spcBef>
              <a:spcAft>
                <a:spcPts val="0"/>
              </a:spcAft>
            </a:pPr>
            <a:r>
              <a:rPr sz="2700" b="0" i="0">
                <a:solidFill>
                  <a:srgbClr val="FFFFFF"/>
                </a:solidFill>
                <a:latin typeface="Georgia"/>
              </a:rPr>
              <a:t>What we would do next, and what we would not.</a:t>
            </a:r>
          </a:p>
        </p:txBody>
      </p:sp>
      <p:sp>
        <p:nvSpPr>
          <p:cNvPr id="7" name="Rectangle 6"/>
          <p:cNvSpPr/>
          <p:nvPr/>
        </p:nvSpPr>
        <p:spPr>
          <a:xfrm>
            <a:off x="1005840" y="1371600"/>
            <a:ext cx="9997135" cy="12700"/>
          </a:xfrm>
          <a:prstGeom prst="rect">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36192"/>
            <a:ext cx="3265322" cy="237744"/>
          </a:xfrm>
          <a:prstGeom prst="rect">
            <a:avLst/>
          </a:prstGeom>
          <a:noFill/>
        </p:spPr>
        <p:txBody>
          <a:bodyPr wrap="square" lIns="0" rIns="0" tIns="0" bIns="0" anchor="t">
            <a:spAutoFit/>
          </a:bodyPr>
          <a:lstStyle/>
          <a:p>
            <a:pPr algn="l">
              <a:spcBef>
                <a:spcPts val="0"/>
              </a:spcBef>
              <a:spcAft>
                <a:spcPts val="0"/>
              </a:spcAft>
            </a:pPr>
            <a:r>
              <a:rPr sz="950" b="1" i="0">
                <a:solidFill>
                  <a:srgbClr val="F7E6DC"/>
                </a:solidFill>
                <a:latin typeface="Calibri"/>
              </a:rPr>
              <a:t>WE WOULD FIX FIRST</a:t>
            </a:r>
          </a:p>
        </p:txBody>
      </p:sp>
      <p:sp>
        <p:nvSpPr>
          <p:cNvPr id="9" name="Rounded Rectangle 8"/>
          <p:cNvSpPr/>
          <p:nvPr/>
        </p:nvSpPr>
        <p:spPr>
          <a:xfrm>
            <a:off x="1005840" y="1828800"/>
            <a:ext cx="3265322" cy="1097280"/>
          </a:xfrm>
          <a:prstGeom prst="roundRect">
            <a:avLst>
              <a:gd name="adj" fmla="val 5000"/>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0" name="TextBox 9"/>
          <p:cNvSpPr txBox="1"/>
          <p:nvPr/>
        </p:nvSpPr>
        <p:spPr>
          <a:xfrm>
            <a:off x="1207008" y="1938528"/>
            <a:ext cx="2862986" cy="219456"/>
          </a:xfrm>
          <a:prstGeom prst="rect">
            <a:avLst/>
          </a:prstGeom>
          <a:noFill/>
        </p:spPr>
        <p:txBody>
          <a:bodyPr wrap="square" lIns="0" rIns="0" tIns="0" bIns="0" anchor="t">
            <a:spAutoFit/>
          </a:bodyPr>
          <a:lstStyle/>
          <a:p>
            <a:pPr algn="l">
              <a:spcBef>
                <a:spcPts val="0"/>
              </a:spcBef>
              <a:spcAft>
                <a:spcPts val="0"/>
              </a:spcAft>
            </a:pPr>
            <a:r>
              <a:rPr sz="1050" b="1" i="0">
                <a:solidFill>
                  <a:srgbClr val="FFFFFF"/>
                </a:solidFill>
                <a:latin typeface="Calibri"/>
              </a:rPr>
              <a:t>Sentiment is the weakest link</a:t>
            </a:r>
          </a:p>
        </p:txBody>
      </p:sp>
      <p:sp>
        <p:nvSpPr>
          <p:cNvPr id="11" name="TextBox 10"/>
          <p:cNvSpPr txBox="1"/>
          <p:nvPr/>
        </p:nvSpPr>
        <p:spPr>
          <a:xfrm>
            <a:off x="1207008" y="2139696"/>
            <a:ext cx="2862986" cy="731520"/>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9C978E"/>
                </a:solidFill>
                <a:latin typeface="Calibri"/>
              </a:rPr>
              <a:t>It is a lexicon, and lexicons invert on negation ("not working" scores positive). A small supervised head on the same features would fix it.</a:t>
            </a:r>
          </a:p>
        </p:txBody>
      </p:sp>
      <p:sp>
        <p:nvSpPr>
          <p:cNvPr id="12" name="Rounded Rectangle 11"/>
          <p:cNvSpPr/>
          <p:nvPr/>
        </p:nvSpPr>
        <p:spPr>
          <a:xfrm>
            <a:off x="1005840" y="2999232"/>
            <a:ext cx="3265322" cy="1097280"/>
          </a:xfrm>
          <a:prstGeom prst="roundRect">
            <a:avLst>
              <a:gd name="adj" fmla="val 5000"/>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3" name="TextBox 12"/>
          <p:cNvSpPr txBox="1"/>
          <p:nvPr/>
        </p:nvSpPr>
        <p:spPr>
          <a:xfrm>
            <a:off x="1207008" y="3108960"/>
            <a:ext cx="2862986" cy="219456"/>
          </a:xfrm>
          <a:prstGeom prst="rect">
            <a:avLst/>
          </a:prstGeom>
          <a:noFill/>
        </p:spPr>
        <p:txBody>
          <a:bodyPr wrap="square" lIns="0" rIns="0" tIns="0" bIns="0" anchor="t">
            <a:spAutoFit/>
          </a:bodyPr>
          <a:lstStyle/>
          <a:p>
            <a:pPr algn="l">
              <a:spcBef>
                <a:spcPts val="0"/>
              </a:spcBef>
              <a:spcAft>
                <a:spcPts val="0"/>
              </a:spcAft>
            </a:pPr>
            <a:r>
              <a:rPr sz="1050" b="1" i="0">
                <a:solidFill>
                  <a:srgbClr val="FFFFFF"/>
                </a:solidFill>
                <a:latin typeface="Calibri"/>
              </a:rPr>
              <a:t>BiLSTM was never built</a:t>
            </a:r>
          </a:p>
        </p:txBody>
      </p:sp>
      <p:sp>
        <p:nvSpPr>
          <p:cNvPr id="14" name="TextBox 13"/>
          <p:cNvSpPr txBox="1"/>
          <p:nvPr/>
        </p:nvSpPr>
        <p:spPr>
          <a:xfrm>
            <a:off x="1207008" y="3310128"/>
            <a:ext cx="2862986" cy="731520"/>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9C978E"/>
                </a:solidFill>
                <a:latin typeface="Calibri"/>
              </a:rPr>
              <a:t>It sits between a bag-of-words and DistilBERT. The comparison in the synopsis is incomplete and we should say so plainly.</a:t>
            </a:r>
          </a:p>
        </p:txBody>
      </p:sp>
      <p:sp>
        <p:nvSpPr>
          <p:cNvPr id="15" name="Rounded Rectangle 14"/>
          <p:cNvSpPr/>
          <p:nvPr/>
        </p:nvSpPr>
        <p:spPr>
          <a:xfrm>
            <a:off x="1005840" y="4169664"/>
            <a:ext cx="3265322" cy="1097280"/>
          </a:xfrm>
          <a:prstGeom prst="roundRect">
            <a:avLst>
              <a:gd name="adj" fmla="val 5000"/>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6" name="TextBox 15"/>
          <p:cNvSpPr txBox="1"/>
          <p:nvPr/>
        </p:nvSpPr>
        <p:spPr>
          <a:xfrm>
            <a:off x="1207008" y="4279392"/>
            <a:ext cx="2862986" cy="219456"/>
          </a:xfrm>
          <a:prstGeom prst="rect">
            <a:avLst/>
          </a:prstGeom>
          <a:noFill/>
        </p:spPr>
        <p:txBody>
          <a:bodyPr wrap="square" lIns="0" rIns="0" tIns="0" bIns="0" anchor="t">
            <a:spAutoFit/>
          </a:bodyPr>
          <a:lstStyle/>
          <a:p>
            <a:pPr algn="l">
              <a:spcBef>
                <a:spcPts val="0"/>
              </a:spcBef>
              <a:spcAft>
                <a:spcPts val="0"/>
              </a:spcAft>
            </a:pPr>
            <a:r>
              <a:rPr sz="1050" b="1" i="0">
                <a:solidFill>
                  <a:srgbClr val="FFFFFF"/>
                </a:solidFill>
                <a:latin typeface="Calibri"/>
              </a:rPr>
              <a:t>The label space is still wrong</a:t>
            </a:r>
          </a:p>
        </p:txBody>
      </p:sp>
      <p:sp>
        <p:nvSpPr>
          <p:cNvPr id="17" name="TextBox 16"/>
          <p:cNvSpPr txBox="1"/>
          <p:nvPr/>
        </p:nvSpPr>
        <p:spPr>
          <a:xfrm>
            <a:off x="1207008" y="4480560"/>
            <a:ext cx="2862986" cy="731520"/>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9C978E"/>
                </a:solidFill>
                <a:latin typeface="Calibri"/>
              </a:rPr>
              <a:t>Real desks do not have 11 categories. Mapping the taxonomy to an actual bank's queue structure needs their input, not ours.</a:t>
            </a:r>
          </a:p>
        </p:txBody>
      </p:sp>
      <p:sp>
        <p:nvSpPr>
          <p:cNvPr id="18" name="TextBox 17"/>
          <p:cNvSpPr txBox="1"/>
          <p:nvPr/>
        </p:nvSpPr>
        <p:spPr>
          <a:xfrm>
            <a:off x="4600346" y="1536192"/>
            <a:ext cx="3265322" cy="237744"/>
          </a:xfrm>
          <a:prstGeom prst="rect">
            <a:avLst/>
          </a:prstGeom>
          <a:noFill/>
        </p:spPr>
        <p:txBody>
          <a:bodyPr wrap="square" lIns="0" rIns="0" tIns="0" bIns="0" anchor="t">
            <a:spAutoFit/>
          </a:bodyPr>
          <a:lstStyle/>
          <a:p>
            <a:pPr algn="l">
              <a:spcBef>
                <a:spcPts val="0"/>
              </a:spcBef>
              <a:spcAft>
                <a:spcPts val="0"/>
              </a:spcAft>
            </a:pPr>
            <a:r>
              <a:rPr sz="950" b="1" i="0">
                <a:solidFill>
                  <a:srgbClr val="DDECE9"/>
                </a:solidFill>
                <a:latin typeface="Calibri"/>
              </a:rPr>
              <a:t>WE WOULD ADD NEXT</a:t>
            </a:r>
          </a:p>
        </p:txBody>
      </p:sp>
      <p:sp>
        <p:nvSpPr>
          <p:cNvPr id="19" name="Rounded Rectangle 18"/>
          <p:cNvSpPr/>
          <p:nvPr/>
        </p:nvSpPr>
        <p:spPr>
          <a:xfrm>
            <a:off x="4600346" y="1828800"/>
            <a:ext cx="3265322" cy="1097280"/>
          </a:xfrm>
          <a:prstGeom prst="roundRect">
            <a:avLst>
              <a:gd name="adj" fmla="val 5000"/>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0" name="TextBox 19"/>
          <p:cNvSpPr txBox="1"/>
          <p:nvPr/>
        </p:nvSpPr>
        <p:spPr>
          <a:xfrm>
            <a:off x="4801514" y="1938528"/>
            <a:ext cx="2862986" cy="219456"/>
          </a:xfrm>
          <a:prstGeom prst="rect">
            <a:avLst/>
          </a:prstGeom>
          <a:noFill/>
        </p:spPr>
        <p:txBody>
          <a:bodyPr wrap="square" lIns="0" rIns="0" tIns="0" bIns="0" anchor="t">
            <a:spAutoFit/>
          </a:bodyPr>
          <a:lstStyle/>
          <a:p>
            <a:pPr algn="l">
              <a:spcBef>
                <a:spcPts val="0"/>
              </a:spcBef>
              <a:spcAft>
                <a:spcPts val="0"/>
              </a:spcAft>
            </a:pPr>
            <a:r>
              <a:rPr sz="1050" b="1" i="0">
                <a:solidFill>
                  <a:srgbClr val="FFFFFF"/>
                </a:solidFill>
                <a:latin typeface="Calibri"/>
              </a:rPr>
              <a:t>A real abstention interface</a:t>
            </a:r>
          </a:p>
        </p:txBody>
      </p:sp>
      <p:sp>
        <p:nvSpPr>
          <p:cNvPr id="21" name="TextBox 20"/>
          <p:cNvSpPr txBox="1"/>
          <p:nvPr/>
        </p:nvSpPr>
        <p:spPr>
          <a:xfrm>
            <a:off x="4801514" y="2139696"/>
            <a:ext cx="2862986" cy="731520"/>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9C978E"/>
                </a:solidFill>
                <a:latin typeface="Calibri"/>
              </a:rPr>
              <a:t>The conformal gate works; nothing yet tells an agent *why* a ticket was escalated. Retrieval evidence is already computed — we just do not show it.</a:t>
            </a:r>
          </a:p>
        </p:txBody>
      </p:sp>
      <p:sp>
        <p:nvSpPr>
          <p:cNvPr id="22" name="Rounded Rectangle 21"/>
          <p:cNvSpPr/>
          <p:nvPr/>
        </p:nvSpPr>
        <p:spPr>
          <a:xfrm>
            <a:off x="4600346" y="2999232"/>
            <a:ext cx="3265322" cy="1097280"/>
          </a:xfrm>
          <a:prstGeom prst="roundRect">
            <a:avLst>
              <a:gd name="adj" fmla="val 5000"/>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3" name="TextBox 22"/>
          <p:cNvSpPr txBox="1"/>
          <p:nvPr/>
        </p:nvSpPr>
        <p:spPr>
          <a:xfrm>
            <a:off x="4801514" y="3108960"/>
            <a:ext cx="2862986" cy="219456"/>
          </a:xfrm>
          <a:prstGeom prst="rect">
            <a:avLst/>
          </a:prstGeom>
          <a:noFill/>
        </p:spPr>
        <p:txBody>
          <a:bodyPr wrap="square" lIns="0" rIns="0" tIns="0" bIns="0" anchor="t">
            <a:spAutoFit/>
          </a:bodyPr>
          <a:lstStyle/>
          <a:p>
            <a:pPr algn="l">
              <a:spcBef>
                <a:spcPts val="0"/>
              </a:spcBef>
              <a:spcAft>
                <a:spcPts val="0"/>
              </a:spcAft>
            </a:pPr>
            <a:r>
              <a:rPr sz="1050" b="1" i="0">
                <a:solidFill>
                  <a:srgbClr val="FFFFFF"/>
                </a:solidFill>
                <a:latin typeface="Calibri"/>
              </a:rPr>
              <a:t>Drift monitoring on text, not just labels</a:t>
            </a:r>
          </a:p>
        </p:txBody>
      </p:sp>
      <p:sp>
        <p:nvSpPr>
          <p:cNvPr id="24" name="TextBox 23"/>
          <p:cNvSpPr txBox="1"/>
          <p:nvPr/>
        </p:nvSpPr>
        <p:spPr>
          <a:xfrm>
            <a:off x="4801514" y="3310128"/>
            <a:ext cx="2862986" cy="731520"/>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9C978E"/>
                </a:solidFill>
                <a:latin typeface="Calibri"/>
              </a:rPr>
              <a:t>The monitor watches category mix. It should watch embedding drift too; the current reference is drawn from train, so it can only fire on mix.</a:t>
            </a:r>
          </a:p>
        </p:txBody>
      </p:sp>
      <p:sp>
        <p:nvSpPr>
          <p:cNvPr id="25" name="Rounded Rectangle 24"/>
          <p:cNvSpPr/>
          <p:nvPr/>
        </p:nvSpPr>
        <p:spPr>
          <a:xfrm>
            <a:off x="4600346" y="4169664"/>
            <a:ext cx="3265322" cy="1097280"/>
          </a:xfrm>
          <a:prstGeom prst="roundRect">
            <a:avLst>
              <a:gd name="adj" fmla="val 5000"/>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6" name="TextBox 25"/>
          <p:cNvSpPr txBox="1"/>
          <p:nvPr/>
        </p:nvSpPr>
        <p:spPr>
          <a:xfrm>
            <a:off x="4801514" y="4279392"/>
            <a:ext cx="2862986" cy="219456"/>
          </a:xfrm>
          <a:prstGeom prst="rect">
            <a:avLst/>
          </a:prstGeom>
          <a:noFill/>
        </p:spPr>
        <p:txBody>
          <a:bodyPr wrap="square" lIns="0" rIns="0" tIns="0" bIns="0" anchor="t">
            <a:spAutoFit/>
          </a:bodyPr>
          <a:lstStyle/>
          <a:p>
            <a:pPr algn="l">
              <a:spcBef>
                <a:spcPts val="0"/>
              </a:spcBef>
              <a:spcAft>
                <a:spcPts val="0"/>
              </a:spcAft>
            </a:pPr>
            <a:r>
              <a:rPr sz="1050" b="1" i="0">
                <a:solidFill>
                  <a:srgbClr val="FFFFFF"/>
                </a:solidFill>
                <a:latin typeface="Calibri"/>
              </a:rPr>
              <a:t>Per-class thresholds</a:t>
            </a:r>
          </a:p>
        </p:txBody>
      </p:sp>
      <p:sp>
        <p:nvSpPr>
          <p:cNvPr id="27" name="TextBox 26"/>
          <p:cNvSpPr txBox="1"/>
          <p:nvPr/>
        </p:nvSpPr>
        <p:spPr>
          <a:xfrm>
            <a:off x="4801514" y="4480560"/>
            <a:ext cx="2862986" cy="731520"/>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9C978E"/>
                </a:solidFill>
                <a:latin typeface="Calibri"/>
              </a:rPr>
              <a:t>Conformal gives one global q. P0 is worth a stricter gate than P3, and the sweep says the margin matters more than the score.</a:t>
            </a:r>
          </a:p>
        </p:txBody>
      </p:sp>
      <p:sp>
        <p:nvSpPr>
          <p:cNvPr id="28" name="TextBox 27"/>
          <p:cNvSpPr txBox="1"/>
          <p:nvPr/>
        </p:nvSpPr>
        <p:spPr>
          <a:xfrm>
            <a:off x="8194852" y="1536192"/>
            <a:ext cx="3265322" cy="237744"/>
          </a:xfrm>
          <a:prstGeom prst="rect">
            <a:avLst/>
          </a:prstGeom>
          <a:noFill/>
        </p:spPr>
        <p:txBody>
          <a:bodyPr wrap="square" lIns="0" rIns="0" tIns="0" bIns="0" anchor="t">
            <a:spAutoFit/>
          </a:bodyPr>
          <a:lstStyle/>
          <a:p>
            <a:pPr algn="l">
              <a:spcBef>
                <a:spcPts val="0"/>
              </a:spcBef>
              <a:spcAft>
                <a:spcPts val="0"/>
              </a:spcAft>
            </a:pPr>
            <a:r>
              <a:rPr sz="950" b="1" i="0">
                <a:solidFill>
                  <a:srgbClr val="9C978E"/>
                </a:solidFill>
                <a:latin typeface="Calibri"/>
              </a:rPr>
              <a:t>WHAT WE WOULD NOT DO</a:t>
            </a:r>
          </a:p>
        </p:txBody>
      </p:sp>
      <p:sp>
        <p:nvSpPr>
          <p:cNvPr id="29" name="Rounded Rectangle 28"/>
          <p:cNvSpPr/>
          <p:nvPr/>
        </p:nvSpPr>
        <p:spPr>
          <a:xfrm>
            <a:off x="8194852" y="1828800"/>
            <a:ext cx="3265322" cy="1097280"/>
          </a:xfrm>
          <a:prstGeom prst="roundRect">
            <a:avLst>
              <a:gd name="adj" fmla="val 5000"/>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0" name="TextBox 29"/>
          <p:cNvSpPr txBox="1"/>
          <p:nvPr/>
        </p:nvSpPr>
        <p:spPr>
          <a:xfrm>
            <a:off x="8396020" y="1938528"/>
            <a:ext cx="2862986" cy="219456"/>
          </a:xfrm>
          <a:prstGeom prst="rect">
            <a:avLst/>
          </a:prstGeom>
          <a:noFill/>
        </p:spPr>
        <p:txBody>
          <a:bodyPr wrap="square" lIns="0" rIns="0" tIns="0" bIns="0" anchor="t">
            <a:spAutoFit/>
          </a:bodyPr>
          <a:lstStyle/>
          <a:p>
            <a:pPr algn="l">
              <a:spcBef>
                <a:spcPts val="0"/>
              </a:spcBef>
              <a:spcAft>
                <a:spcPts val="0"/>
              </a:spcAft>
            </a:pPr>
            <a:r>
              <a:rPr sz="1050" b="1" i="0">
                <a:solidFill>
                  <a:srgbClr val="FFFFFF"/>
                </a:solidFill>
                <a:latin typeface="Calibri"/>
              </a:rPr>
              <a:t>Adopt the transformer for the 0.31 points</a:t>
            </a:r>
          </a:p>
        </p:txBody>
      </p:sp>
      <p:sp>
        <p:nvSpPr>
          <p:cNvPr id="31" name="TextBox 30"/>
          <p:cNvSpPr txBox="1"/>
          <p:nvPr/>
        </p:nvSpPr>
        <p:spPr>
          <a:xfrm>
            <a:off x="8396020" y="2139696"/>
            <a:ext cx="2862986" cy="731520"/>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9C978E"/>
                </a:solidFill>
                <a:latin typeface="Calibri"/>
              </a:rPr>
              <a:t>p = 0.6061. To make that margin real we would need roughly ten times the test set — and then it still has to win on ECE.</a:t>
            </a:r>
          </a:p>
        </p:txBody>
      </p:sp>
      <p:sp>
        <p:nvSpPr>
          <p:cNvPr id="32" name="Rounded Rectangle 31"/>
          <p:cNvSpPr/>
          <p:nvPr/>
        </p:nvSpPr>
        <p:spPr>
          <a:xfrm>
            <a:off x="8194852" y="2999232"/>
            <a:ext cx="3265322" cy="1097280"/>
          </a:xfrm>
          <a:prstGeom prst="roundRect">
            <a:avLst>
              <a:gd name="adj" fmla="val 5000"/>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3" name="TextBox 32"/>
          <p:cNvSpPr txBox="1"/>
          <p:nvPr/>
        </p:nvSpPr>
        <p:spPr>
          <a:xfrm>
            <a:off x="8396020" y="3108960"/>
            <a:ext cx="2862986" cy="219456"/>
          </a:xfrm>
          <a:prstGeom prst="rect">
            <a:avLst/>
          </a:prstGeom>
          <a:noFill/>
        </p:spPr>
        <p:txBody>
          <a:bodyPr wrap="square" lIns="0" rIns="0" tIns="0" bIns="0" anchor="t">
            <a:spAutoFit/>
          </a:bodyPr>
          <a:lstStyle/>
          <a:p>
            <a:pPr algn="l">
              <a:spcBef>
                <a:spcPts val="0"/>
              </a:spcBef>
              <a:spcAft>
                <a:spcPts val="0"/>
              </a:spcAft>
            </a:pPr>
            <a:r>
              <a:rPr sz="1050" b="1" i="0">
                <a:solidFill>
                  <a:srgbClr val="FFFFFF"/>
                </a:solidFill>
                <a:latin typeface="Calibri"/>
              </a:rPr>
              <a:t>Give the agent decision authority</a:t>
            </a:r>
          </a:p>
        </p:txBody>
      </p:sp>
      <p:sp>
        <p:nvSpPr>
          <p:cNvPr id="34" name="TextBox 33"/>
          <p:cNvSpPr txBox="1"/>
          <p:nvPr/>
        </p:nvSpPr>
        <p:spPr>
          <a:xfrm>
            <a:off x="8396020" y="3310128"/>
            <a:ext cx="2862986" cy="731520"/>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9C978E"/>
                </a:solidFill>
                <a:latin typeface="Calibri"/>
              </a:rPr>
              <a:t>94.70% → 94.40% on the 129 escalated tickets. Drafting is where it adds value.</a:t>
            </a:r>
          </a:p>
        </p:txBody>
      </p:sp>
      <p:sp>
        <p:nvSpPr>
          <p:cNvPr id="35" name="Rounded Rectangle 34"/>
          <p:cNvSpPr/>
          <p:nvPr/>
        </p:nvSpPr>
        <p:spPr>
          <a:xfrm>
            <a:off x="8194852" y="4169664"/>
            <a:ext cx="3265322" cy="1097280"/>
          </a:xfrm>
          <a:prstGeom prst="roundRect">
            <a:avLst>
              <a:gd name="adj" fmla="val 5000"/>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6" name="TextBox 35"/>
          <p:cNvSpPr txBox="1"/>
          <p:nvPr/>
        </p:nvSpPr>
        <p:spPr>
          <a:xfrm>
            <a:off x="8396020" y="4279392"/>
            <a:ext cx="2862986" cy="219456"/>
          </a:xfrm>
          <a:prstGeom prst="rect">
            <a:avLst/>
          </a:prstGeom>
          <a:noFill/>
        </p:spPr>
        <p:txBody>
          <a:bodyPr wrap="square" lIns="0" rIns="0" tIns="0" bIns="0" anchor="t">
            <a:spAutoFit/>
          </a:bodyPr>
          <a:lstStyle/>
          <a:p>
            <a:pPr algn="l">
              <a:spcBef>
                <a:spcPts val="0"/>
              </a:spcBef>
              <a:spcAft>
                <a:spcPts val="0"/>
              </a:spcAft>
            </a:pPr>
            <a:r>
              <a:rPr sz="1050" b="1" i="0">
                <a:solidFill>
                  <a:srgbClr val="FFFFFF"/>
                </a:solidFill>
                <a:latin typeface="Calibri"/>
              </a:rPr>
              <a:t>Auto-answer on confidence alone</a:t>
            </a:r>
          </a:p>
        </p:txBody>
      </p:sp>
      <p:sp>
        <p:nvSpPr>
          <p:cNvPr id="37" name="TextBox 36"/>
          <p:cNvSpPr txBox="1"/>
          <p:nvPr/>
        </p:nvSpPr>
        <p:spPr>
          <a:xfrm>
            <a:off x="8396020" y="4480560"/>
            <a:ext cx="2862986" cy="731520"/>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9C978E"/>
                </a:solidFill>
                <a:latin typeface="Calibri"/>
              </a:rPr>
              <a:t>That is the number 0.80 that means 95% accuracy in one version and 70% in the next. Coverage is the promise; the threshold is an implementation detail.</a:t>
            </a:r>
          </a:p>
        </p:txBody>
      </p:sp>
      <p:sp>
        <p:nvSpPr>
          <p:cNvPr id="38" name="Rounded Rectangle 37"/>
          <p:cNvSpPr/>
          <p:nvPr/>
        </p:nvSpPr>
        <p:spPr>
          <a:xfrm>
            <a:off x="1005840" y="5504688"/>
            <a:ext cx="10454335" cy="621792"/>
          </a:xfrm>
          <a:prstGeom prst="roundRect">
            <a:avLst>
              <a:gd name="adj" fmla="val 5000"/>
            </a:avLst>
          </a:prstGeom>
          <a:solidFill>
            <a:srgbClr val="333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9" name="TextBox 38"/>
          <p:cNvSpPr txBox="1"/>
          <p:nvPr/>
        </p:nvSpPr>
        <p:spPr>
          <a:xfrm>
            <a:off x="1280160" y="5577840"/>
            <a:ext cx="9905695" cy="475488"/>
          </a:xfrm>
          <a:prstGeom prst="rect">
            <a:avLst/>
          </a:prstGeom>
          <a:noFill/>
        </p:spPr>
        <p:txBody>
          <a:bodyPr wrap="square" lIns="0" rIns="0" tIns="0" bIns="0" anchor="t">
            <a:spAutoFit/>
          </a:bodyPr>
          <a:lstStyle/>
          <a:p>
            <a:pPr algn="l">
              <a:lnSpc>
                <a:spcPct val="122000"/>
              </a:lnSpc>
              <a:spcBef>
                <a:spcPts val="0"/>
              </a:spcBef>
              <a:spcAft>
                <a:spcPts val="0"/>
              </a:spcAft>
            </a:pPr>
            <a:r>
              <a:rPr sz="1150" b="1" i="0">
                <a:solidFill>
                  <a:srgbClr val="DDECE9"/>
                </a:solidFill>
                <a:latin typeface="Calibri"/>
              </a:rPr>
              <a:t>The one-line version:  </a:t>
            </a:r>
            <a:r>
              <a:rPr sz="1150" b="0" i="0">
                <a:solidFill>
                  <a:srgbClr val="FFFFFF"/>
                </a:solidFill>
                <a:latin typeface="Georgia"/>
              </a:rPr>
              <a:t>the useful part of this project was not reaching 94.60%. It was building a system that knows the difference between 94.91% and 94.60% — and refusing to act on the difference.</a:t>
            </a:r>
          </a:p>
        </p:txBody>
      </p:sp>
      <p:sp>
        <p:nvSpPr>
          <p:cNvPr id="40" name="TextBox 39"/>
          <p:cNvSpPr txBox="1"/>
          <p:nvPr/>
        </p:nvSpPr>
        <p:spPr>
          <a:xfrm>
            <a:off x="685800" y="6455664"/>
            <a:ext cx="5486400" cy="201168"/>
          </a:xfrm>
          <a:prstGeom prst="rect">
            <a:avLst/>
          </a:prstGeom>
          <a:noFill/>
        </p:spPr>
        <p:txBody>
          <a:bodyPr wrap="square" lIns="0" rIns="0" tIns="0" bIns="0" anchor="t">
            <a:spAutoFit/>
          </a:bodyPr>
          <a:lstStyle/>
          <a:p>
            <a:pPr algn="l">
              <a:spcBef>
                <a:spcPts val="0"/>
              </a:spcBef>
              <a:spcAft>
                <a:spcPts val="0"/>
              </a:spcAft>
            </a:pPr>
            <a:r>
              <a:rPr sz="850" b="0" i="0">
                <a:solidFill>
                  <a:srgbClr val="9C978E"/>
                </a:solidFill>
                <a:latin typeface="Calibri"/>
              </a:rPr>
              <a:t>DRONA · Banking77 ticket triage · all figures from artifacts/reports/</a:t>
            </a:r>
          </a:p>
        </p:txBody>
      </p:sp>
      <p:sp>
        <p:nvSpPr>
          <p:cNvPr id="41" name="TextBox 40"/>
          <p:cNvSpPr txBox="1"/>
          <p:nvPr/>
        </p:nvSpPr>
        <p:spPr>
          <a:xfrm>
            <a:off x="9144000" y="6455664"/>
            <a:ext cx="2361895" cy="201168"/>
          </a:xfrm>
          <a:prstGeom prst="rect">
            <a:avLst/>
          </a:prstGeom>
          <a:noFill/>
        </p:spPr>
        <p:txBody>
          <a:bodyPr wrap="square" lIns="0" rIns="0" tIns="0" bIns="0" anchor="t">
            <a:spAutoFit/>
          </a:bodyPr>
          <a:lstStyle/>
          <a:p>
            <a:pPr algn="r">
              <a:spcBef>
                <a:spcPts val="0"/>
              </a:spcBef>
              <a:spcAft>
                <a:spcPts val="0"/>
              </a:spcAft>
            </a:pPr>
            <a:r>
              <a:rPr sz="850" b="0" i="0">
                <a:solidFill>
                  <a:srgbClr val="9C978E"/>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